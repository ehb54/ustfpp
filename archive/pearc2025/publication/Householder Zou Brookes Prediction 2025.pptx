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413"/>
    <a:srgbClr val="B9975B"/>
    <a:srgbClr val="700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6"/>
    <p:restoredTop sz="84048"/>
  </p:normalViewPr>
  <p:slideViewPr>
    <p:cSldViewPr snapToGrid="0">
      <p:cViewPr varScale="1">
        <p:scale>
          <a:sx n="90" d="100"/>
          <a:sy n="90" d="100"/>
        </p:scale>
        <p:origin x="21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H" userId="ab45bba9fabf8d5c" providerId="LiveId" clId="{1DCEFABB-F114-5944-8F78-D626A23AECFF}"/>
    <pc:docChg chg="modSld">
      <pc:chgData name="Aaron H" userId="ab45bba9fabf8d5c" providerId="LiveId" clId="{1DCEFABB-F114-5944-8F78-D626A23AECFF}" dt="2025-09-10T16:26:14.149" v="20" actId="6549"/>
      <pc:docMkLst>
        <pc:docMk/>
      </pc:docMkLst>
      <pc:sldChg chg="modNotesTx">
        <pc:chgData name="Aaron H" userId="ab45bba9fabf8d5c" providerId="LiveId" clId="{1DCEFABB-F114-5944-8F78-D626A23AECFF}" dt="2025-09-10T16:26:14.149" v="20" actId="6549"/>
        <pc:sldMkLst>
          <pc:docMk/>
          <pc:sldMk cId="0" sldId="257"/>
        </pc:sldMkLst>
      </pc:sldChg>
      <pc:sldChg chg="modNotesTx">
        <pc:chgData name="Aaron H" userId="ab45bba9fabf8d5c" providerId="LiveId" clId="{1DCEFABB-F114-5944-8F78-D626A23AECFF}" dt="2025-09-10T16:26:08.906" v="19" actId="6549"/>
        <pc:sldMkLst>
          <pc:docMk/>
          <pc:sldMk cId="0" sldId="258"/>
        </pc:sldMkLst>
      </pc:sldChg>
      <pc:sldChg chg="modNotesTx">
        <pc:chgData name="Aaron H" userId="ab45bba9fabf8d5c" providerId="LiveId" clId="{1DCEFABB-F114-5944-8F78-D626A23AECFF}" dt="2025-09-10T16:26:01.680" v="18" actId="6549"/>
        <pc:sldMkLst>
          <pc:docMk/>
          <pc:sldMk cId="0" sldId="259"/>
        </pc:sldMkLst>
      </pc:sldChg>
      <pc:sldChg chg="modNotesTx">
        <pc:chgData name="Aaron H" userId="ab45bba9fabf8d5c" providerId="LiveId" clId="{1DCEFABB-F114-5944-8F78-D626A23AECFF}" dt="2025-09-10T16:25:56.322" v="17" actId="6549"/>
        <pc:sldMkLst>
          <pc:docMk/>
          <pc:sldMk cId="0" sldId="263"/>
        </pc:sldMkLst>
      </pc:sldChg>
      <pc:sldChg chg="modNotesTx">
        <pc:chgData name="Aaron H" userId="ab45bba9fabf8d5c" providerId="LiveId" clId="{1DCEFABB-F114-5944-8F78-D626A23AECFF}" dt="2025-09-10T16:25:50.423" v="16" actId="6549"/>
        <pc:sldMkLst>
          <pc:docMk/>
          <pc:sldMk cId="0" sldId="264"/>
        </pc:sldMkLst>
      </pc:sldChg>
      <pc:sldChg chg="modNotesTx">
        <pc:chgData name="Aaron H" userId="ab45bba9fabf8d5c" providerId="LiveId" clId="{1DCEFABB-F114-5944-8F78-D626A23AECFF}" dt="2025-09-10T16:25:46.202" v="15" actId="6549"/>
        <pc:sldMkLst>
          <pc:docMk/>
          <pc:sldMk cId="0" sldId="265"/>
        </pc:sldMkLst>
      </pc:sldChg>
      <pc:sldChg chg="modNotesTx">
        <pc:chgData name="Aaron H" userId="ab45bba9fabf8d5c" providerId="LiveId" clId="{1DCEFABB-F114-5944-8F78-D626A23AECFF}" dt="2025-09-10T16:25:40.474" v="14" actId="6549"/>
        <pc:sldMkLst>
          <pc:docMk/>
          <pc:sldMk cId="0" sldId="266"/>
        </pc:sldMkLst>
      </pc:sldChg>
      <pc:sldChg chg="modNotesTx">
        <pc:chgData name="Aaron H" userId="ab45bba9fabf8d5c" providerId="LiveId" clId="{1DCEFABB-F114-5944-8F78-D626A23AECFF}" dt="2025-09-10T16:25:29.719" v="13" actId="6549"/>
        <pc:sldMkLst>
          <pc:docMk/>
          <pc:sldMk cId="0" sldId="267"/>
        </pc:sldMkLst>
      </pc:sldChg>
      <pc:sldChg chg="modNotesTx">
        <pc:chgData name="Aaron H" userId="ab45bba9fabf8d5c" providerId="LiveId" clId="{1DCEFABB-F114-5944-8F78-D626A23AECFF}" dt="2025-09-10T16:25:23.855" v="12" actId="6549"/>
        <pc:sldMkLst>
          <pc:docMk/>
          <pc:sldMk cId="0" sldId="268"/>
        </pc:sldMkLst>
      </pc:sldChg>
      <pc:sldChg chg="modNotesTx">
        <pc:chgData name="Aaron H" userId="ab45bba9fabf8d5c" providerId="LiveId" clId="{1DCEFABB-F114-5944-8F78-D626A23AECFF}" dt="2025-09-10T16:25:17.299" v="11" actId="6549"/>
        <pc:sldMkLst>
          <pc:docMk/>
          <pc:sldMk cId="0" sldId="269"/>
        </pc:sldMkLst>
      </pc:sldChg>
      <pc:sldChg chg="modNotesTx">
        <pc:chgData name="Aaron H" userId="ab45bba9fabf8d5c" providerId="LiveId" clId="{1DCEFABB-F114-5944-8F78-D626A23AECFF}" dt="2025-09-10T16:25:09.377" v="10" actId="6549"/>
        <pc:sldMkLst>
          <pc:docMk/>
          <pc:sldMk cId="0" sldId="270"/>
        </pc:sldMkLst>
      </pc:sldChg>
      <pc:sldChg chg="modNotesTx">
        <pc:chgData name="Aaron H" userId="ab45bba9fabf8d5c" providerId="LiveId" clId="{1DCEFABB-F114-5944-8F78-D626A23AECFF}" dt="2025-09-10T16:24:59.975" v="9" actId="6549"/>
        <pc:sldMkLst>
          <pc:docMk/>
          <pc:sldMk cId="0" sldId="271"/>
        </pc:sldMkLst>
      </pc:sldChg>
      <pc:sldChg chg="modNotesTx">
        <pc:chgData name="Aaron H" userId="ab45bba9fabf8d5c" providerId="LiveId" clId="{1DCEFABB-F114-5944-8F78-D626A23AECFF}" dt="2025-09-10T16:24:52.484" v="8" actId="6549"/>
        <pc:sldMkLst>
          <pc:docMk/>
          <pc:sldMk cId="0" sldId="272"/>
        </pc:sldMkLst>
      </pc:sldChg>
      <pc:sldChg chg="modNotesTx">
        <pc:chgData name="Aaron H" userId="ab45bba9fabf8d5c" providerId="LiveId" clId="{1DCEFABB-F114-5944-8F78-D626A23AECFF}" dt="2025-09-10T16:24:46.213" v="7" actId="6549"/>
        <pc:sldMkLst>
          <pc:docMk/>
          <pc:sldMk cId="0" sldId="273"/>
        </pc:sldMkLst>
      </pc:sldChg>
      <pc:sldChg chg="modNotesTx">
        <pc:chgData name="Aaron H" userId="ab45bba9fabf8d5c" providerId="LiveId" clId="{1DCEFABB-F114-5944-8F78-D626A23AECFF}" dt="2025-09-10T16:24:37" v="6" actId="6549"/>
        <pc:sldMkLst>
          <pc:docMk/>
          <pc:sldMk cId="0" sldId="274"/>
        </pc:sldMkLst>
      </pc:sldChg>
      <pc:sldChg chg="modNotesTx">
        <pc:chgData name="Aaron H" userId="ab45bba9fabf8d5c" providerId="LiveId" clId="{1DCEFABB-F114-5944-8F78-D626A23AECFF}" dt="2025-09-10T16:24:27.807" v="5" actId="6549"/>
        <pc:sldMkLst>
          <pc:docMk/>
          <pc:sldMk cId="0" sldId="275"/>
        </pc:sldMkLst>
      </pc:sldChg>
      <pc:sldChg chg="modNotesTx">
        <pc:chgData name="Aaron H" userId="ab45bba9fabf8d5c" providerId="LiveId" clId="{1DCEFABB-F114-5944-8F78-D626A23AECFF}" dt="2025-09-10T16:24:20.708" v="4" actId="6549"/>
        <pc:sldMkLst>
          <pc:docMk/>
          <pc:sldMk cId="0" sldId="276"/>
        </pc:sldMkLst>
      </pc:sldChg>
      <pc:sldChg chg="modNotesTx">
        <pc:chgData name="Aaron H" userId="ab45bba9fabf8d5c" providerId="LiveId" clId="{1DCEFABB-F114-5944-8F78-D626A23AECFF}" dt="2025-09-10T16:24:12.682" v="3" actId="6549"/>
        <pc:sldMkLst>
          <pc:docMk/>
          <pc:sldMk cId="0" sldId="277"/>
        </pc:sldMkLst>
      </pc:sldChg>
      <pc:sldChg chg="modNotesTx">
        <pc:chgData name="Aaron H" userId="ab45bba9fabf8d5c" providerId="LiveId" clId="{1DCEFABB-F114-5944-8F78-D626A23AECFF}" dt="2025-09-10T16:24:06.766" v="2" actId="6549"/>
        <pc:sldMkLst>
          <pc:docMk/>
          <pc:sldMk cId="0" sldId="278"/>
        </pc:sldMkLst>
      </pc:sldChg>
      <pc:sldChg chg="modNotesTx">
        <pc:chgData name="Aaron H" userId="ab45bba9fabf8d5c" providerId="LiveId" clId="{1DCEFABB-F114-5944-8F78-D626A23AECFF}" dt="2025-09-10T16:23:59.678" v="1" actId="6549"/>
        <pc:sldMkLst>
          <pc:docMk/>
          <pc:sldMk cId="0" sldId="279"/>
        </pc:sldMkLst>
      </pc:sldChg>
      <pc:sldChg chg="modNotesTx">
        <pc:chgData name="Aaron H" userId="ab45bba9fabf8d5c" providerId="LiveId" clId="{1DCEFABB-F114-5944-8F78-D626A23AECFF}" dt="2025-09-10T16:23:49.353" v="0" actId="6549"/>
        <pc:sldMkLst>
          <pc:docMk/>
          <pc:sldMk cId="0" sldId="28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8FED12-432C-46D6-A00D-1B944BBB103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ECBAD66-B488-4F20-BC98-03DB594CAF3B}">
      <dgm:prSet/>
      <dgm:spPr/>
      <dgm:t>
        <a:bodyPr/>
        <a:lstStyle/>
        <a:p>
          <a:r>
            <a:rPr lang="en-US" dirty="0"/>
            <a:t>analysis tool for AUC experiments</a:t>
          </a:r>
        </a:p>
      </dgm:t>
    </dgm:pt>
    <dgm:pt modelId="{B817D486-774D-44C2-B622-98859569FADD}" type="parTrans" cxnId="{79C3EE97-9294-4F50-9343-D90A3068F534}">
      <dgm:prSet/>
      <dgm:spPr/>
      <dgm:t>
        <a:bodyPr/>
        <a:lstStyle/>
        <a:p>
          <a:endParaRPr lang="en-US"/>
        </a:p>
      </dgm:t>
    </dgm:pt>
    <dgm:pt modelId="{24D21B64-B882-482A-AEC4-25D3E547D875}" type="sibTrans" cxnId="{79C3EE97-9294-4F50-9343-D90A3068F534}">
      <dgm:prSet/>
      <dgm:spPr/>
      <dgm:t>
        <a:bodyPr/>
        <a:lstStyle/>
        <a:p>
          <a:endParaRPr lang="en-US"/>
        </a:p>
      </dgm:t>
    </dgm:pt>
    <dgm:pt modelId="{4B835137-7EA3-40D9-AB12-9F4CD5B40A50}">
      <dgm:prSet/>
      <dgm:spPr/>
      <dgm:t>
        <a:bodyPr/>
        <a:lstStyle/>
        <a:p>
          <a:r>
            <a:rPr lang="en-US" dirty="0"/>
            <a:t>14M+ jobs tracked since 2009</a:t>
          </a:r>
        </a:p>
      </dgm:t>
    </dgm:pt>
    <dgm:pt modelId="{69B69D9D-09CF-4DB5-8E88-DBE42F217E15}" type="parTrans" cxnId="{5FB8D7D7-42C9-42EB-A70B-CE7DB0A15CDA}">
      <dgm:prSet/>
      <dgm:spPr/>
      <dgm:t>
        <a:bodyPr/>
        <a:lstStyle/>
        <a:p>
          <a:endParaRPr lang="en-US"/>
        </a:p>
      </dgm:t>
    </dgm:pt>
    <dgm:pt modelId="{5D79AE08-96B7-46F0-BDBA-FD2F703B9980}" type="sibTrans" cxnId="{5FB8D7D7-42C9-42EB-A70B-CE7DB0A15CDA}">
      <dgm:prSet/>
      <dgm:spPr/>
      <dgm:t>
        <a:bodyPr/>
        <a:lstStyle/>
        <a:p>
          <a:endParaRPr lang="en-US"/>
        </a:p>
      </dgm:t>
    </dgm:pt>
    <dgm:pt modelId="{993B88AF-6F43-4B23-A057-EB59CE5F8C57}">
      <dgm:prSet/>
      <dgm:spPr/>
      <dgm:t>
        <a:bodyPr/>
        <a:lstStyle/>
        <a:p>
          <a:r>
            <a:rPr lang="en-US" dirty="0"/>
            <a:t>structural biology and biophysics</a:t>
          </a:r>
        </a:p>
      </dgm:t>
    </dgm:pt>
    <dgm:pt modelId="{047AFBD2-7390-451D-B9BA-B1902B1115B3}" type="parTrans" cxnId="{94B8A748-C311-4074-A409-3D09665FBFFD}">
      <dgm:prSet/>
      <dgm:spPr/>
      <dgm:t>
        <a:bodyPr/>
        <a:lstStyle/>
        <a:p>
          <a:endParaRPr lang="en-US"/>
        </a:p>
      </dgm:t>
    </dgm:pt>
    <dgm:pt modelId="{C068972D-FFB3-4B48-B7A5-8E93BD1F5CE1}" type="sibTrans" cxnId="{94B8A748-C311-4074-A409-3D09665FBFFD}">
      <dgm:prSet/>
      <dgm:spPr/>
      <dgm:t>
        <a:bodyPr/>
        <a:lstStyle/>
        <a:p>
          <a:endParaRPr lang="en-US"/>
        </a:p>
      </dgm:t>
    </dgm:pt>
    <dgm:pt modelId="{76669239-2C43-44A9-9DC8-7538ACCD0D1D}" type="pres">
      <dgm:prSet presAssocID="{5B8FED12-432C-46D6-A00D-1B944BBB103E}" presName="root" presStyleCnt="0">
        <dgm:presLayoutVars>
          <dgm:dir/>
          <dgm:resizeHandles val="exact"/>
        </dgm:presLayoutVars>
      </dgm:prSet>
      <dgm:spPr/>
    </dgm:pt>
    <dgm:pt modelId="{D75F4478-B316-4992-BE33-271942615F7E}" type="pres">
      <dgm:prSet presAssocID="{6ECBAD66-B488-4F20-BC98-03DB594CAF3B}" presName="compNode" presStyleCnt="0"/>
      <dgm:spPr/>
    </dgm:pt>
    <dgm:pt modelId="{0CAF228C-CAD3-49B4-9C7F-461CBFEE9566}" type="pres">
      <dgm:prSet presAssocID="{6ECBAD66-B488-4F20-BC98-03DB594CAF3B}" presName="bgRect" presStyleLbl="bgShp" presStyleIdx="0" presStyleCnt="3" custLinFactNeighborY="-27764"/>
      <dgm:spPr/>
    </dgm:pt>
    <dgm:pt modelId="{77A9637A-D962-40EA-9939-E658E2C6546B}" type="pres">
      <dgm:prSet presAssocID="{6ECBAD66-B488-4F20-BC98-03DB594CAF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8EDB54E0-FA8F-42B6-9580-864FDFE39235}" type="pres">
      <dgm:prSet presAssocID="{6ECBAD66-B488-4F20-BC98-03DB594CAF3B}" presName="spaceRect" presStyleCnt="0"/>
      <dgm:spPr/>
    </dgm:pt>
    <dgm:pt modelId="{D9A4C3F3-DCE8-48D0-A067-9D357EC33900}" type="pres">
      <dgm:prSet presAssocID="{6ECBAD66-B488-4F20-BC98-03DB594CAF3B}" presName="parTx" presStyleLbl="revTx" presStyleIdx="0" presStyleCnt="3">
        <dgm:presLayoutVars>
          <dgm:chMax val="0"/>
          <dgm:chPref val="0"/>
        </dgm:presLayoutVars>
      </dgm:prSet>
      <dgm:spPr/>
    </dgm:pt>
    <dgm:pt modelId="{0DF1F732-E0DE-41A0-B482-366BAB5FDF12}" type="pres">
      <dgm:prSet presAssocID="{24D21B64-B882-482A-AEC4-25D3E547D875}" presName="sibTrans" presStyleCnt="0"/>
      <dgm:spPr/>
    </dgm:pt>
    <dgm:pt modelId="{3BA18FEB-A8CD-482A-AFA9-7A9CD143B71E}" type="pres">
      <dgm:prSet presAssocID="{4B835137-7EA3-40D9-AB12-9F4CD5B40A50}" presName="compNode" presStyleCnt="0"/>
      <dgm:spPr/>
    </dgm:pt>
    <dgm:pt modelId="{9DA71843-9FE4-40E2-9555-B67F5FF8A677}" type="pres">
      <dgm:prSet presAssocID="{4B835137-7EA3-40D9-AB12-9F4CD5B40A50}" presName="bgRect" presStyleLbl="bgShp" presStyleIdx="1" presStyleCnt="3"/>
      <dgm:spPr/>
    </dgm:pt>
    <dgm:pt modelId="{A6155EA5-2C3B-41DF-B9F5-6BDDB0981CE5}" type="pres">
      <dgm:prSet presAssocID="{4B835137-7EA3-40D9-AB12-9F4CD5B40A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AA259010-0532-487B-9F0B-2F8D1D0C01D0}" type="pres">
      <dgm:prSet presAssocID="{4B835137-7EA3-40D9-AB12-9F4CD5B40A50}" presName="spaceRect" presStyleCnt="0"/>
      <dgm:spPr/>
    </dgm:pt>
    <dgm:pt modelId="{B523CA3B-0AFE-431A-AE15-1C41A4CE5501}" type="pres">
      <dgm:prSet presAssocID="{4B835137-7EA3-40D9-AB12-9F4CD5B40A50}" presName="parTx" presStyleLbl="revTx" presStyleIdx="1" presStyleCnt="3">
        <dgm:presLayoutVars>
          <dgm:chMax val="0"/>
          <dgm:chPref val="0"/>
        </dgm:presLayoutVars>
      </dgm:prSet>
      <dgm:spPr/>
    </dgm:pt>
    <dgm:pt modelId="{F0907F2D-A197-4049-9914-285E0A450CA4}" type="pres">
      <dgm:prSet presAssocID="{5D79AE08-96B7-46F0-BDBA-FD2F703B9980}" presName="sibTrans" presStyleCnt="0"/>
      <dgm:spPr/>
    </dgm:pt>
    <dgm:pt modelId="{E04B701F-379D-415B-BD74-F55F914927F6}" type="pres">
      <dgm:prSet presAssocID="{993B88AF-6F43-4B23-A057-EB59CE5F8C57}" presName="compNode" presStyleCnt="0"/>
      <dgm:spPr/>
    </dgm:pt>
    <dgm:pt modelId="{8FA4D9A9-21E5-447D-A602-0540EA1C8731}" type="pres">
      <dgm:prSet presAssocID="{993B88AF-6F43-4B23-A057-EB59CE5F8C57}" presName="bgRect" presStyleLbl="bgShp" presStyleIdx="2" presStyleCnt="3"/>
      <dgm:spPr/>
    </dgm:pt>
    <dgm:pt modelId="{C1229F32-0EC9-4F4D-AEA0-F1520E2A1B5A}" type="pres">
      <dgm:prSet presAssocID="{993B88AF-6F43-4B23-A057-EB59CE5F8C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E66A861C-E1CA-4D13-8BBB-7071FD23E028}" type="pres">
      <dgm:prSet presAssocID="{993B88AF-6F43-4B23-A057-EB59CE5F8C57}" presName="spaceRect" presStyleCnt="0"/>
      <dgm:spPr/>
    </dgm:pt>
    <dgm:pt modelId="{74388C22-47DC-4514-9F86-F7A509587B1D}" type="pres">
      <dgm:prSet presAssocID="{993B88AF-6F43-4B23-A057-EB59CE5F8C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338EF47-4986-49D8-A99F-2D7B100F76B6}" type="presOf" srcId="{4B835137-7EA3-40D9-AB12-9F4CD5B40A50}" destId="{B523CA3B-0AFE-431A-AE15-1C41A4CE5501}" srcOrd="0" destOrd="0" presId="urn:microsoft.com/office/officeart/2018/2/layout/IconVerticalSolidList"/>
    <dgm:cxn modelId="{94B8A748-C311-4074-A409-3D09665FBFFD}" srcId="{5B8FED12-432C-46D6-A00D-1B944BBB103E}" destId="{993B88AF-6F43-4B23-A057-EB59CE5F8C57}" srcOrd="2" destOrd="0" parTransId="{047AFBD2-7390-451D-B9BA-B1902B1115B3}" sibTransId="{C068972D-FFB3-4B48-B7A5-8E93BD1F5CE1}"/>
    <dgm:cxn modelId="{79C3EE97-9294-4F50-9343-D90A3068F534}" srcId="{5B8FED12-432C-46D6-A00D-1B944BBB103E}" destId="{6ECBAD66-B488-4F20-BC98-03DB594CAF3B}" srcOrd="0" destOrd="0" parTransId="{B817D486-774D-44C2-B622-98859569FADD}" sibTransId="{24D21B64-B882-482A-AEC4-25D3E547D875}"/>
    <dgm:cxn modelId="{FC0505C5-79D7-4538-83BC-32672C7DDA2D}" type="presOf" srcId="{5B8FED12-432C-46D6-A00D-1B944BBB103E}" destId="{76669239-2C43-44A9-9DC8-7538ACCD0D1D}" srcOrd="0" destOrd="0" presId="urn:microsoft.com/office/officeart/2018/2/layout/IconVerticalSolidList"/>
    <dgm:cxn modelId="{3EB6B2D2-A073-4AAF-B4E5-ABF28A5D8978}" type="presOf" srcId="{993B88AF-6F43-4B23-A057-EB59CE5F8C57}" destId="{74388C22-47DC-4514-9F86-F7A509587B1D}" srcOrd="0" destOrd="0" presId="urn:microsoft.com/office/officeart/2018/2/layout/IconVerticalSolidList"/>
    <dgm:cxn modelId="{5FB8D7D7-42C9-42EB-A70B-CE7DB0A15CDA}" srcId="{5B8FED12-432C-46D6-A00D-1B944BBB103E}" destId="{4B835137-7EA3-40D9-AB12-9F4CD5B40A50}" srcOrd="1" destOrd="0" parTransId="{69B69D9D-09CF-4DB5-8E88-DBE42F217E15}" sibTransId="{5D79AE08-96B7-46F0-BDBA-FD2F703B9980}"/>
    <dgm:cxn modelId="{19F0A4E2-EE1D-4F5E-9350-6E2DA5170C9B}" type="presOf" srcId="{6ECBAD66-B488-4F20-BC98-03DB594CAF3B}" destId="{D9A4C3F3-DCE8-48D0-A067-9D357EC33900}" srcOrd="0" destOrd="0" presId="urn:microsoft.com/office/officeart/2018/2/layout/IconVerticalSolidList"/>
    <dgm:cxn modelId="{F3C495B7-4DAC-4F36-A580-E0FCDCD8997D}" type="presParOf" srcId="{76669239-2C43-44A9-9DC8-7538ACCD0D1D}" destId="{D75F4478-B316-4992-BE33-271942615F7E}" srcOrd="0" destOrd="0" presId="urn:microsoft.com/office/officeart/2018/2/layout/IconVerticalSolidList"/>
    <dgm:cxn modelId="{D4464A40-85B0-4238-853F-C6064058C86E}" type="presParOf" srcId="{D75F4478-B316-4992-BE33-271942615F7E}" destId="{0CAF228C-CAD3-49B4-9C7F-461CBFEE9566}" srcOrd="0" destOrd="0" presId="urn:microsoft.com/office/officeart/2018/2/layout/IconVerticalSolidList"/>
    <dgm:cxn modelId="{47371902-AC3E-40DB-B47F-F745017BAF18}" type="presParOf" srcId="{D75F4478-B316-4992-BE33-271942615F7E}" destId="{77A9637A-D962-40EA-9939-E658E2C6546B}" srcOrd="1" destOrd="0" presId="urn:microsoft.com/office/officeart/2018/2/layout/IconVerticalSolidList"/>
    <dgm:cxn modelId="{9F3B8499-29D8-4DA1-9FFE-9B0AEC6DBBBD}" type="presParOf" srcId="{D75F4478-B316-4992-BE33-271942615F7E}" destId="{8EDB54E0-FA8F-42B6-9580-864FDFE39235}" srcOrd="2" destOrd="0" presId="urn:microsoft.com/office/officeart/2018/2/layout/IconVerticalSolidList"/>
    <dgm:cxn modelId="{5343AEBD-2EBC-48CC-9376-BD014C309A27}" type="presParOf" srcId="{D75F4478-B316-4992-BE33-271942615F7E}" destId="{D9A4C3F3-DCE8-48D0-A067-9D357EC33900}" srcOrd="3" destOrd="0" presId="urn:microsoft.com/office/officeart/2018/2/layout/IconVerticalSolidList"/>
    <dgm:cxn modelId="{F2B94D98-DB12-457E-876A-3B3DC6E424A4}" type="presParOf" srcId="{76669239-2C43-44A9-9DC8-7538ACCD0D1D}" destId="{0DF1F732-E0DE-41A0-B482-366BAB5FDF12}" srcOrd="1" destOrd="0" presId="urn:microsoft.com/office/officeart/2018/2/layout/IconVerticalSolidList"/>
    <dgm:cxn modelId="{402B2799-6D65-4092-B9A9-CA4AD54C097E}" type="presParOf" srcId="{76669239-2C43-44A9-9DC8-7538ACCD0D1D}" destId="{3BA18FEB-A8CD-482A-AFA9-7A9CD143B71E}" srcOrd="2" destOrd="0" presId="urn:microsoft.com/office/officeart/2018/2/layout/IconVerticalSolidList"/>
    <dgm:cxn modelId="{E3F0D67C-26F5-45DA-96BD-3B3642C1E800}" type="presParOf" srcId="{3BA18FEB-A8CD-482A-AFA9-7A9CD143B71E}" destId="{9DA71843-9FE4-40E2-9555-B67F5FF8A677}" srcOrd="0" destOrd="0" presId="urn:microsoft.com/office/officeart/2018/2/layout/IconVerticalSolidList"/>
    <dgm:cxn modelId="{89D0D501-926C-45F3-831F-290A7A0BA2E7}" type="presParOf" srcId="{3BA18FEB-A8CD-482A-AFA9-7A9CD143B71E}" destId="{A6155EA5-2C3B-41DF-B9F5-6BDDB0981CE5}" srcOrd="1" destOrd="0" presId="urn:microsoft.com/office/officeart/2018/2/layout/IconVerticalSolidList"/>
    <dgm:cxn modelId="{4ED2A25C-CE95-49A4-8CAC-6EE9CE4F7D8A}" type="presParOf" srcId="{3BA18FEB-A8CD-482A-AFA9-7A9CD143B71E}" destId="{AA259010-0532-487B-9F0B-2F8D1D0C01D0}" srcOrd="2" destOrd="0" presId="urn:microsoft.com/office/officeart/2018/2/layout/IconVerticalSolidList"/>
    <dgm:cxn modelId="{052A584B-6C33-4861-B0EB-68FEF9601359}" type="presParOf" srcId="{3BA18FEB-A8CD-482A-AFA9-7A9CD143B71E}" destId="{B523CA3B-0AFE-431A-AE15-1C41A4CE5501}" srcOrd="3" destOrd="0" presId="urn:microsoft.com/office/officeart/2018/2/layout/IconVerticalSolidList"/>
    <dgm:cxn modelId="{3067ABE1-1EFB-40DB-9D7C-0DC2993DC127}" type="presParOf" srcId="{76669239-2C43-44A9-9DC8-7538ACCD0D1D}" destId="{F0907F2D-A197-4049-9914-285E0A450CA4}" srcOrd="3" destOrd="0" presId="urn:microsoft.com/office/officeart/2018/2/layout/IconVerticalSolidList"/>
    <dgm:cxn modelId="{77A9CBDF-FFA1-48F5-B764-423F8EA42F31}" type="presParOf" srcId="{76669239-2C43-44A9-9DC8-7538ACCD0D1D}" destId="{E04B701F-379D-415B-BD74-F55F914927F6}" srcOrd="4" destOrd="0" presId="urn:microsoft.com/office/officeart/2018/2/layout/IconVerticalSolidList"/>
    <dgm:cxn modelId="{1DC68576-47D4-441B-A513-5BA93D8450A0}" type="presParOf" srcId="{E04B701F-379D-415B-BD74-F55F914927F6}" destId="{8FA4D9A9-21E5-447D-A602-0540EA1C8731}" srcOrd="0" destOrd="0" presId="urn:microsoft.com/office/officeart/2018/2/layout/IconVerticalSolidList"/>
    <dgm:cxn modelId="{497DC30F-A145-4955-BC65-F7202B8F833C}" type="presParOf" srcId="{E04B701F-379D-415B-BD74-F55F914927F6}" destId="{C1229F32-0EC9-4F4D-AEA0-F1520E2A1B5A}" srcOrd="1" destOrd="0" presId="urn:microsoft.com/office/officeart/2018/2/layout/IconVerticalSolidList"/>
    <dgm:cxn modelId="{B8DDAEC0-9437-4AEC-93DD-0A1D768CA25A}" type="presParOf" srcId="{E04B701F-379D-415B-BD74-F55F914927F6}" destId="{E66A861C-E1CA-4D13-8BBB-7071FD23E028}" srcOrd="2" destOrd="0" presId="urn:microsoft.com/office/officeart/2018/2/layout/IconVerticalSolidList"/>
    <dgm:cxn modelId="{88553FB3-38EA-404C-B3BD-ECF8A6CAE28B}" type="presParOf" srcId="{E04B701F-379D-415B-BD74-F55F914927F6}" destId="{74388C22-47DC-4514-9F86-F7A509587B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CD6F96-B2DE-4F86-8ABB-69F778206281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C407765-CB74-4ED0-AE37-83AC549273D0}">
      <dgm:prSet/>
      <dgm:spPr/>
      <dgm:t>
        <a:bodyPr/>
        <a:lstStyle/>
        <a:p>
          <a:r>
            <a:rPr lang="en-US"/>
            <a:t>Heuristic and test-job methods used previously</a:t>
          </a:r>
        </a:p>
      </dgm:t>
    </dgm:pt>
    <dgm:pt modelId="{81F0EF7F-482F-40F3-8E12-ED8824F213AB}" type="parTrans" cxnId="{A5E0C8E0-6345-4EDC-BC52-A0A0B7E8AA9D}">
      <dgm:prSet/>
      <dgm:spPr/>
      <dgm:t>
        <a:bodyPr/>
        <a:lstStyle/>
        <a:p>
          <a:endParaRPr lang="en-US"/>
        </a:p>
      </dgm:t>
    </dgm:pt>
    <dgm:pt modelId="{4AA63BF1-1931-403D-BF90-B03FCF011F71}" type="sibTrans" cxnId="{A5E0C8E0-6345-4EDC-BC52-A0A0B7E8AA9D}">
      <dgm:prSet/>
      <dgm:spPr/>
      <dgm:t>
        <a:bodyPr/>
        <a:lstStyle/>
        <a:p>
          <a:endParaRPr lang="en-US"/>
        </a:p>
      </dgm:t>
    </dgm:pt>
    <dgm:pt modelId="{99936CA1-C5C7-448B-86B9-924E2E670813}">
      <dgm:prSet/>
      <dgm:spPr/>
      <dgm:t>
        <a:bodyPr/>
        <a:lstStyle/>
        <a:p>
          <a:r>
            <a:rPr lang="en-US" dirty="0"/>
            <a:t>Linear models not robust enough</a:t>
          </a:r>
        </a:p>
      </dgm:t>
    </dgm:pt>
    <dgm:pt modelId="{13F13BF6-4A29-4A32-89B2-83AC98E72F1B}" type="parTrans" cxnId="{0A3ED8B8-4940-43DD-9A16-22D358FD3A94}">
      <dgm:prSet/>
      <dgm:spPr/>
      <dgm:t>
        <a:bodyPr/>
        <a:lstStyle/>
        <a:p>
          <a:endParaRPr lang="en-US"/>
        </a:p>
      </dgm:t>
    </dgm:pt>
    <dgm:pt modelId="{50D45709-4679-48DE-B1A3-3E5B0FA4A641}" type="sibTrans" cxnId="{0A3ED8B8-4940-43DD-9A16-22D358FD3A94}">
      <dgm:prSet/>
      <dgm:spPr/>
      <dgm:t>
        <a:bodyPr/>
        <a:lstStyle/>
        <a:p>
          <a:endParaRPr lang="en-US"/>
        </a:p>
      </dgm:t>
    </dgm:pt>
    <dgm:pt modelId="{52414A2C-ABB6-4B5D-B028-635D83EBB110}">
      <dgm:prSet/>
      <dgm:spPr/>
      <dgm:t>
        <a:bodyPr/>
        <a:lstStyle/>
        <a:p>
          <a:r>
            <a:rPr lang="en-US" dirty="0"/>
            <a:t>Lacked accuracy for real production use</a:t>
          </a:r>
        </a:p>
      </dgm:t>
    </dgm:pt>
    <dgm:pt modelId="{DAAC3FEF-6892-4533-99B6-1E1747556746}" type="parTrans" cxnId="{1491317F-CBC5-4948-BDAF-FF4BE90023F2}">
      <dgm:prSet/>
      <dgm:spPr/>
      <dgm:t>
        <a:bodyPr/>
        <a:lstStyle/>
        <a:p>
          <a:endParaRPr lang="en-US"/>
        </a:p>
      </dgm:t>
    </dgm:pt>
    <dgm:pt modelId="{4F57C4DF-6FE0-4468-9154-71DA2F472F4F}" type="sibTrans" cxnId="{1491317F-CBC5-4948-BDAF-FF4BE90023F2}">
      <dgm:prSet/>
      <dgm:spPr/>
      <dgm:t>
        <a:bodyPr/>
        <a:lstStyle/>
        <a:p>
          <a:endParaRPr lang="en-US"/>
        </a:p>
      </dgm:t>
    </dgm:pt>
    <dgm:pt modelId="{78B267A4-FC16-444B-8CD5-E3C44FE3A3D0}" type="pres">
      <dgm:prSet presAssocID="{5ECD6F96-B2DE-4F86-8ABB-69F778206281}" presName="diagram" presStyleCnt="0">
        <dgm:presLayoutVars>
          <dgm:dir/>
          <dgm:resizeHandles val="exact"/>
        </dgm:presLayoutVars>
      </dgm:prSet>
      <dgm:spPr/>
    </dgm:pt>
    <dgm:pt modelId="{21EBA353-0E0D-8544-B013-8472A21A2CBD}" type="pres">
      <dgm:prSet presAssocID="{BC407765-CB74-4ED0-AE37-83AC549273D0}" presName="node" presStyleLbl="node1" presStyleIdx="0" presStyleCnt="3">
        <dgm:presLayoutVars>
          <dgm:bulletEnabled val="1"/>
        </dgm:presLayoutVars>
      </dgm:prSet>
      <dgm:spPr/>
    </dgm:pt>
    <dgm:pt modelId="{941EABC8-3F4B-F84A-97AE-F97ED02A8219}" type="pres">
      <dgm:prSet presAssocID="{4AA63BF1-1931-403D-BF90-B03FCF011F71}" presName="sibTrans" presStyleCnt="0"/>
      <dgm:spPr/>
    </dgm:pt>
    <dgm:pt modelId="{03E19EF8-AAFF-4C42-B21F-0B358E309487}" type="pres">
      <dgm:prSet presAssocID="{99936CA1-C5C7-448B-86B9-924E2E670813}" presName="node" presStyleLbl="node1" presStyleIdx="1" presStyleCnt="3">
        <dgm:presLayoutVars>
          <dgm:bulletEnabled val="1"/>
        </dgm:presLayoutVars>
      </dgm:prSet>
      <dgm:spPr/>
    </dgm:pt>
    <dgm:pt modelId="{C510CDC3-1630-BB4F-B135-B76365557BAC}" type="pres">
      <dgm:prSet presAssocID="{50D45709-4679-48DE-B1A3-3E5B0FA4A641}" presName="sibTrans" presStyleCnt="0"/>
      <dgm:spPr/>
    </dgm:pt>
    <dgm:pt modelId="{9823CCC6-6689-5742-9564-C30BB0E50595}" type="pres">
      <dgm:prSet presAssocID="{52414A2C-ABB6-4B5D-B028-635D83EBB110}" presName="node" presStyleLbl="node1" presStyleIdx="2" presStyleCnt="3">
        <dgm:presLayoutVars>
          <dgm:bulletEnabled val="1"/>
        </dgm:presLayoutVars>
      </dgm:prSet>
      <dgm:spPr/>
    </dgm:pt>
  </dgm:ptLst>
  <dgm:cxnLst>
    <dgm:cxn modelId="{744FBD1B-4C18-7742-8FDA-D38EDEC92D89}" type="presOf" srcId="{BC407765-CB74-4ED0-AE37-83AC549273D0}" destId="{21EBA353-0E0D-8544-B013-8472A21A2CBD}" srcOrd="0" destOrd="0" presId="urn:microsoft.com/office/officeart/2005/8/layout/default"/>
    <dgm:cxn modelId="{3FF10D35-9A58-AC4A-AC0F-1A2AC962F1A2}" type="presOf" srcId="{5ECD6F96-B2DE-4F86-8ABB-69F778206281}" destId="{78B267A4-FC16-444B-8CD5-E3C44FE3A3D0}" srcOrd="0" destOrd="0" presId="urn:microsoft.com/office/officeart/2005/8/layout/default"/>
    <dgm:cxn modelId="{97241A5F-AC58-444D-8B55-5810C406E09E}" type="presOf" srcId="{99936CA1-C5C7-448B-86B9-924E2E670813}" destId="{03E19EF8-AAFF-4C42-B21F-0B358E309487}" srcOrd="0" destOrd="0" presId="urn:microsoft.com/office/officeart/2005/8/layout/default"/>
    <dgm:cxn modelId="{1491317F-CBC5-4948-BDAF-FF4BE90023F2}" srcId="{5ECD6F96-B2DE-4F86-8ABB-69F778206281}" destId="{52414A2C-ABB6-4B5D-B028-635D83EBB110}" srcOrd="2" destOrd="0" parTransId="{DAAC3FEF-6892-4533-99B6-1E1747556746}" sibTransId="{4F57C4DF-6FE0-4468-9154-71DA2F472F4F}"/>
    <dgm:cxn modelId="{0A3ED8B8-4940-43DD-9A16-22D358FD3A94}" srcId="{5ECD6F96-B2DE-4F86-8ABB-69F778206281}" destId="{99936CA1-C5C7-448B-86B9-924E2E670813}" srcOrd="1" destOrd="0" parTransId="{13F13BF6-4A29-4A32-89B2-83AC98E72F1B}" sibTransId="{50D45709-4679-48DE-B1A3-3E5B0FA4A641}"/>
    <dgm:cxn modelId="{A5E0C8E0-6345-4EDC-BC52-A0A0B7E8AA9D}" srcId="{5ECD6F96-B2DE-4F86-8ABB-69F778206281}" destId="{BC407765-CB74-4ED0-AE37-83AC549273D0}" srcOrd="0" destOrd="0" parTransId="{81F0EF7F-482F-40F3-8E12-ED8824F213AB}" sibTransId="{4AA63BF1-1931-403D-BF90-B03FCF011F71}"/>
    <dgm:cxn modelId="{7751AFF4-DCA3-554C-BB11-00E457227EE7}" type="presOf" srcId="{52414A2C-ABB6-4B5D-B028-635D83EBB110}" destId="{9823CCC6-6689-5742-9564-C30BB0E50595}" srcOrd="0" destOrd="0" presId="urn:microsoft.com/office/officeart/2005/8/layout/default"/>
    <dgm:cxn modelId="{F5E46C77-D317-624E-8101-2B033E52A749}" type="presParOf" srcId="{78B267A4-FC16-444B-8CD5-E3C44FE3A3D0}" destId="{21EBA353-0E0D-8544-B013-8472A21A2CBD}" srcOrd="0" destOrd="0" presId="urn:microsoft.com/office/officeart/2005/8/layout/default"/>
    <dgm:cxn modelId="{9C901E1C-F8FF-8B4C-906E-F082CB5EE9B7}" type="presParOf" srcId="{78B267A4-FC16-444B-8CD5-E3C44FE3A3D0}" destId="{941EABC8-3F4B-F84A-97AE-F97ED02A8219}" srcOrd="1" destOrd="0" presId="urn:microsoft.com/office/officeart/2005/8/layout/default"/>
    <dgm:cxn modelId="{1BFA0F95-635A-C44A-8F68-FA66E46E83F2}" type="presParOf" srcId="{78B267A4-FC16-444B-8CD5-E3C44FE3A3D0}" destId="{03E19EF8-AAFF-4C42-B21F-0B358E309487}" srcOrd="2" destOrd="0" presId="urn:microsoft.com/office/officeart/2005/8/layout/default"/>
    <dgm:cxn modelId="{13A45F5F-8146-AD4D-9D90-8A799B602E9B}" type="presParOf" srcId="{78B267A4-FC16-444B-8CD5-E3C44FE3A3D0}" destId="{C510CDC3-1630-BB4F-B135-B76365557BAC}" srcOrd="3" destOrd="0" presId="urn:microsoft.com/office/officeart/2005/8/layout/default"/>
    <dgm:cxn modelId="{97C35003-66F6-E94B-B2DF-2BBF3B7DB5BB}" type="presParOf" srcId="{78B267A4-FC16-444B-8CD5-E3C44FE3A3D0}" destId="{9823CCC6-6689-5742-9564-C30BB0E5059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1D91C7-DEEA-4552-88B0-B4741FEE2515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9129A1F-D827-4470-8EF4-330F639BF21F}">
      <dgm:prSet/>
      <dgm:spPr/>
      <dgm:t>
        <a:bodyPr/>
        <a:lstStyle/>
        <a:p>
          <a:r>
            <a:rPr lang="en-US"/>
            <a:t>Extracted job records from 75+ LIMS databases</a:t>
          </a:r>
        </a:p>
      </dgm:t>
    </dgm:pt>
    <dgm:pt modelId="{A17CC398-21AE-47DD-9E72-F85F1FC6A9F1}" type="parTrans" cxnId="{A0C3C050-65F1-4DD1-96B7-F68DBDA46A39}">
      <dgm:prSet/>
      <dgm:spPr/>
      <dgm:t>
        <a:bodyPr/>
        <a:lstStyle/>
        <a:p>
          <a:endParaRPr lang="en-US"/>
        </a:p>
      </dgm:t>
    </dgm:pt>
    <dgm:pt modelId="{8A5F12BB-7BE5-4928-8752-271DE7D163A9}" type="sibTrans" cxnId="{A0C3C050-65F1-4DD1-96B7-F68DBDA46A39}">
      <dgm:prSet/>
      <dgm:spPr/>
      <dgm:t>
        <a:bodyPr/>
        <a:lstStyle/>
        <a:p>
          <a:endParaRPr lang="en-US"/>
        </a:p>
      </dgm:t>
    </dgm:pt>
    <dgm:pt modelId="{406FE916-BF5C-4DB4-838E-0CCA8C3FC079}">
      <dgm:prSet/>
      <dgm:spPr/>
      <dgm:t>
        <a:bodyPr/>
        <a:lstStyle/>
        <a:p>
          <a:r>
            <a:rPr lang="en-US"/>
            <a:t>Used PHP scripts + JSON config for flexible extraction</a:t>
          </a:r>
        </a:p>
      </dgm:t>
    </dgm:pt>
    <dgm:pt modelId="{FD676A59-00D5-474F-AFE8-8592DA93B510}" type="parTrans" cxnId="{45D44D35-95EC-429C-9498-9CDFE45DDC95}">
      <dgm:prSet/>
      <dgm:spPr/>
      <dgm:t>
        <a:bodyPr/>
        <a:lstStyle/>
        <a:p>
          <a:endParaRPr lang="en-US"/>
        </a:p>
      </dgm:t>
    </dgm:pt>
    <dgm:pt modelId="{DA02CF7C-6314-428C-8CD0-E57B6955A698}" type="sibTrans" cxnId="{45D44D35-95EC-429C-9498-9CDFE45DDC95}">
      <dgm:prSet/>
      <dgm:spPr/>
      <dgm:t>
        <a:bodyPr/>
        <a:lstStyle/>
        <a:p>
          <a:endParaRPr lang="en-US"/>
        </a:p>
      </dgm:t>
    </dgm:pt>
    <dgm:pt modelId="{D049D5EF-88C9-437B-B9D0-B14FABC209DC}">
      <dgm:prSet/>
      <dgm:spPr/>
      <dgm:t>
        <a:bodyPr/>
        <a:lstStyle/>
        <a:p>
          <a:r>
            <a:rPr lang="en-US"/>
            <a:t>327,000+ complete records gathered</a:t>
          </a:r>
        </a:p>
      </dgm:t>
    </dgm:pt>
    <dgm:pt modelId="{5CDE3AA5-694B-42F2-9CFD-2B84D0C9A5DD}" type="parTrans" cxnId="{8E339792-0716-4770-BCE2-448A93EA196E}">
      <dgm:prSet/>
      <dgm:spPr/>
      <dgm:t>
        <a:bodyPr/>
        <a:lstStyle/>
        <a:p>
          <a:endParaRPr lang="en-US"/>
        </a:p>
      </dgm:t>
    </dgm:pt>
    <dgm:pt modelId="{6C775C09-09C5-43D5-8539-85D653B0F0A5}" type="sibTrans" cxnId="{8E339792-0716-4770-BCE2-448A93EA196E}">
      <dgm:prSet/>
      <dgm:spPr/>
      <dgm:t>
        <a:bodyPr/>
        <a:lstStyle/>
        <a:p>
          <a:endParaRPr lang="en-US"/>
        </a:p>
      </dgm:t>
    </dgm:pt>
    <dgm:pt modelId="{DB37D2EF-CD4A-438B-92A5-9ABDE84CCF25}">
      <dgm:prSet/>
      <dgm:spPr/>
      <dgm:t>
        <a:bodyPr/>
        <a:lstStyle/>
        <a:p>
          <a:r>
            <a:rPr lang="en-US"/>
            <a:t>Combined job request, results, and XML config fields</a:t>
          </a:r>
        </a:p>
      </dgm:t>
    </dgm:pt>
    <dgm:pt modelId="{7CC62AD3-AC64-452E-8B4C-6A9E7F19EE72}" type="parTrans" cxnId="{5A32045F-9C2F-407D-982F-7DD6F8AB37F6}">
      <dgm:prSet/>
      <dgm:spPr/>
      <dgm:t>
        <a:bodyPr/>
        <a:lstStyle/>
        <a:p>
          <a:endParaRPr lang="en-US"/>
        </a:p>
      </dgm:t>
    </dgm:pt>
    <dgm:pt modelId="{1134A8F2-115E-4439-A921-E4F36FFF177B}" type="sibTrans" cxnId="{5A32045F-9C2F-407D-982F-7DD6F8AB37F6}">
      <dgm:prSet/>
      <dgm:spPr/>
      <dgm:t>
        <a:bodyPr/>
        <a:lstStyle/>
        <a:p>
          <a:endParaRPr lang="en-US"/>
        </a:p>
      </dgm:t>
    </dgm:pt>
    <dgm:pt modelId="{43C9EED2-7E5E-4257-9E3E-95E5CB752E2F}" type="pres">
      <dgm:prSet presAssocID="{581D91C7-DEEA-4552-88B0-B4741FEE2515}" presName="root" presStyleCnt="0">
        <dgm:presLayoutVars>
          <dgm:dir/>
          <dgm:resizeHandles val="exact"/>
        </dgm:presLayoutVars>
      </dgm:prSet>
      <dgm:spPr/>
    </dgm:pt>
    <dgm:pt modelId="{DF63879E-3310-41F3-B374-DF380AF97FE0}" type="pres">
      <dgm:prSet presAssocID="{79129A1F-D827-4470-8EF4-330F639BF21F}" presName="compNode" presStyleCnt="0"/>
      <dgm:spPr/>
    </dgm:pt>
    <dgm:pt modelId="{D5BD7618-2BF3-4B4D-A956-383E18D9A2DD}" type="pres">
      <dgm:prSet presAssocID="{79129A1F-D827-4470-8EF4-330F639BF21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0B0969-315B-405B-A761-65AA3458A49C}" type="pres">
      <dgm:prSet presAssocID="{79129A1F-D827-4470-8EF4-330F639BF21F}" presName="spaceRect" presStyleCnt="0"/>
      <dgm:spPr/>
    </dgm:pt>
    <dgm:pt modelId="{930AFBC6-BC14-46FD-8FB8-FC536837758D}" type="pres">
      <dgm:prSet presAssocID="{79129A1F-D827-4470-8EF4-330F639BF21F}" presName="textRect" presStyleLbl="revTx" presStyleIdx="0" presStyleCnt="4">
        <dgm:presLayoutVars>
          <dgm:chMax val="1"/>
          <dgm:chPref val="1"/>
        </dgm:presLayoutVars>
      </dgm:prSet>
      <dgm:spPr/>
    </dgm:pt>
    <dgm:pt modelId="{6A0B73D0-91E5-4C78-BCB6-C84706B6B85E}" type="pres">
      <dgm:prSet presAssocID="{8A5F12BB-7BE5-4928-8752-271DE7D163A9}" presName="sibTrans" presStyleCnt="0"/>
      <dgm:spPr/>
    </dgm:pt>
    <dgm:pt modelId="{423D9ED2-C81D-4EE9-AB8F-54ED4F42E4FE}" type="pres">
      <dgm:prSet presAssocID="{406FE916-BF5C-4DB4-838E-0CCA8C3FC079}" presName="compNode" presStyleCnt="0"/>
      <dgm:spPr/>
    </dgm:pt>
    <dgm:pt modelId="{2AC5F2E0-4ACE-43B0-A16B-A3FD16BE109D}" type="pres">
      <dgm:prSet presAssocID="{406FE916-BF5C-4DB4-838E-0CCA8C3FC0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A49F250-76C7-4CE7-AB26-BB9B7C82B693}" type="pres">
      <dgm:prSet presAssocID="{406FE916-BF5C-4DB4-838E-0CCA8C3FC079}" presName="spaceRect" presStyleCnt="0"/>
      <dgm:spPr/>
    </dgm:pt>
    <dgm:pt modelId="{BC6CAC0A-3E6C-4A23-A46C-4CB3DE148452}" type="pres">
      <dgm:prSet presAssocID="{406FE916-BF5C-4DB4-838E-0CCA8C3FC079}" presName="textRect" presStyleLbl="revTx" presStyleIdx="1" presStyleCnt="4">
        <dgm:presLayoutVars>
          <dgm:chMax val="1"/>
          <dgm:chPref val="1"/>
        </dgm:presLayoutVars>
      </dgm:prSet>
      <dgm:spPr/>
    </dgm:pt>
    <dgm:pt modelId="{1B149304-8EEF-453E-8DF7-D9A8E6A69BC0}" type="pres">
      <dgm:prSet presAssocID="{DA02CF7C-6314-428C-8CD0-E57B6955A698}" presName="sibTrans" presStyleCnt="0"/>
      <dgm:spPr/>
    </dgm:pt>
    <dgm:pt modelId="{1BA48B42-237C-4B26-AD94-13258532F99D}" type="pres">
      <dgm:prSet presAssocID="{D049D5EF-88C9-437B-B9D0-B14FABC209DC}" presName="compNode" presStyleCnt="0"/>
      <dgm:spPr/>
    </dgm:pt>
    <dgm:pt modelId="{9DCFABDC-1E0A-44DA-A4C2-D25CB955E94E}" type="pres">
      <dgm:prSet presAssocID="{D049D5EF-88C9-437B-B9D0-B14FABC209D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22AABA-A40D-4578-BD83-C9D3B34927D3}" type="pres">
      <dgm:prSet presAssocID="{D049D5EF-88C9-437B-B9D0-B14FABC209DC}" presName="spaceRect" presStyleCnt="0"/>
      <dgm:spPr/>
    </dgm:pt>
    <dgm:pt modelId="{6E2B3341-BFE4-4864-A19A-BC85136BABFC}" type="pres">
      <dgm:prSet presAssocID="{D049D5EF-88C9-437B-B9D0-B14FABC209DC}" presName="textRect" presStyleLbl="revTx" presStyleIdx="2" presStyleCnt="4">
        <dgm:presLayoutVars>
          <dgm:chMax val="1"/>
          <dgm:chPref val="1"/>
        </dgm:presLayoutVars>
      </dgm:prSet>
      <dgm:spPr/>
    </dgm:pt>
    <dgm:pt modelId="{64F47E3D-DB4B-44F8-95EF-92E6DC2852A0}" type="pres">
      <dgm:prSet presAssocID="{6C775C09-09C5-43D5-8539-85D653B0F0A5}" presName="sibTrans" presStyleCnt="0"/>
      <dgm:spPr/>
    </dgm:pt>
    <dgm:pt modelId="{9CE8F8F3-1537-4303-BC25-0952FAB9B5BF}" type="pres">
      <dgm:prSet presAssocID="{DB37D2EF-CD4A-438B-92A5-9ABDE84CCF25}" presName="compNode" presStyleCnt="0"/>
      <dgm:spPr/>
    </dgm:pt>
    <dgm:pt modelId="{2808EAF6-7F03-4B7F-9565-C99B071A38A3}" type="pres">
      <dgm:prSet presAssocID="{DB37D2EF-CD4A-438B-92A5-9ABDE84CCF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C796D4B-A37A-4749-801A-7CE28279B84C}" type="pres">
      <dgm:prSet presAssocID="{DB37D2EF-CD4A-438B-92A5-9ABDE84CCF25}" presName="spaceRect" presStyleCnt="0"/>
      <dgm:spPr/>
    </dgm:pt>
    <dgm:pt modelId="{BAA4AB04-081F-40B8-9518-C5C1652AE649}" type="pres">
      <dgm:prSet presAssocID="{DB37D2EF-CD4A-438B-92A5-9ABDE84CCF2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EA8B2E-A1F7-43A2-AB4B-D5B9B5588815}" type="presOf" srcId="{DB37D2EF-CD4A-438B-92A5-9ABDE84CCF25}" destId="{BAA4AB04-081F-40B8-9518-C5C1652AE649}" srcOrd="0" destOrd="0" presId="urn:microsoft.com/office/officeart/2018/2/layout/IconLabelList"/>
    <dgm:cxn modelId="{F7755932-4FD6-4198-BFBA-809646BC98A8}" type="presOf" srcId="{406FE916-BF5C-4DB4-838E-0CCA8C3FC079}" destId="{BC6CAC0A-3E6C-4A23-A46C-4CB3DE148452}" srcOrd="0" destOrd="0" presId="urn:microsoft.com/office/officeart/2018/2/layout/IconLabelList"/>
    <dgm:cxn modelId="{45D44D35-95EC-429C-9498-9CDFE45DDC95}" srcId="{581D91C7-DEEA-4552-88B0-B4741FEE2515}" destId="{406FE916-BF5C-4DB4-838E-0CCA8C3FC079}" srcOrd="1" destOrd="0" parTransId="{FD676A59-00D5-474F-AFE8-8592DA93B510}" sibTransId="{DA02CF7C-6314-428C-8CD0-E57B6955A698}"/>
    <dgm:cxn modelId="{A0C3C050-65F1-4DD1-96B7-F68DBDA46A39}" srcId="{581D91C7-DEEA-4552-88B0-B4741FEE2515}" destId="{79129A1F-D827-4470-8EF4-330F639BF21F}" srcOrd="0" destOrd="0" parTransId="{A17CC398-21AE-47DD-9E72-F85F1FC6A9F1}" sibTransId="{8A5F12BB-7BE5-4928-8752-271DE7D163A9}"/>
    <dgm:cxn modelId="{5A32045F-9C2F-407D-982F-7DD6F8AB37F6}" srcId="{581D91C7-DEEA-4552-88B0-B4741FEE2515}" destId="{DB37D2EF-CD4A-438B-92A5-9ABDE84CCF25}" srcOrd="3" destOrd="0" parTransId="{7CC62AD3-AC64-452E-8B4C-6A9E7F19EE72}" sibTransId="{1134A8F2-115E-4439-A921-E4F36FFF177B}"/>
    <dgm:cxn modelId="{6ABD5B7B-36FF-43D6-BAD4-AE4B1CAF5CB0}" type="presOf" srcId="{D049D5EF-88C9-437B-B9D0-B14FABC209DC}" destId="{6E2B3341-BFE4-4864-A19A-BC85136BABFC}" srcOrd="0" destOrd="0" presId="urn:microsoft.com/office/officeart/2018/2/layout/IconLabelList"/>
    <dgm:cxn modelId="{8E339792-0716-4770-BCE2-448A93EA196E}" srcId="{581D91C7-DEEA-4552-88B0-B4741FEE2515}" destId="{D049D5EF-88C9-437B-B9D0-B14FABC209DC}" srcOrd="2" destOrd="0" parTransId="{5CDE3AA5-694B-42F2-9CFD-2B84D0C9A5DD}" sibTransId="{6C775C09-09C5-43D5-8539-85D653B0F0A5}"/>
    <dgm:cxn modelId="{D526359D-DCEE-40F4-9E0B-C53398C608ED}" type="presOf" srcId="{581D91C7-DEEA-4552-88B0-B4741FEE2515}" destId="{43C9EED2-7E5E-4257-9E3E-95E5CB752E2F}" srcOrd="0" destOrd="0" presId="urn:microsoft.com/office/officeart/2018/2/layout/IconLabelList"/>
    <dgm:cxn modelId="{4E26ECE6-AB73-42E4-B114-B2689A3BF5ED}" type="presOf" srcId="{79129A1F-D827-4470-8EF4-330F639BF21F}" destId="{930AFBC6-BC14-46FD-8FB8-FC536837758D}" srcOrd="0" destOrd="0" presId="urn:microsoft.com/office/officeart/2018/2/layout/IconLabelList"/>
    <dgm:cxn modelId="{BA54D5F8-2027-42F9-A2D0-D8CF91DDDE60}" type="presParOf" srcId="{43C9EED2-7E5E-4257-9E3E-95E5CB752E2F}" destId="{DF63879E-3310-41F3-B374-DF380AF97FE0}" srcOrd="0" destOrd="0" presId="urn:microsoft.com/office/officeart/2018/2/layout/IconLabelList"/>
    <dgm:cxn modelId="{CF5FBD46-1330-4552-BE3B-C4EEC3ADCA19}" type="presParOf" srcId="{DF63879E-3310-41F3-B374-DF380AF97FE0}" destId="{D5BD7618-2BF3-4B4D-A956-383E18D9A2DD}" srcOrd="0" destOrd="0" presId="urn:microsoft.com/office/officeart/2018/2/layout/IconLabelList"/>
    <dgm:cxn modelId="{D6DCA5AC-F53F-4B5A-AB66-C87F795DCFF8}" type="presParOf" srcId="{DF63879E-3310-41F3-B374-DF380AF97FE0}" destId="{280B0969-315B-405B-A761-65AA3458A49C}" srcOrd="1" destOrd="0" presId="urn:microsoft.com/office/officeart/2018/2/layout/IconLabelList"/>
    <dgm:cxn modelId="{7B80D0ED-4A68-4BE1-95E9-DAA4F7C1A67D}" type="presParOf" srcId="{DF63879E-3310-41F3-B374-DF380AF97FE0}" destId="{930AFBC6-BC14-46FD-8FB8-FC536837758D}" srcOrd="2" destOrd="0" presId="urn:microsoft.com/office/officeart/2018/2/layout/IconLabelList"/>
    <dgm:cxn modelId="{D00D3531-3208-4731-95C0-6F537D779F99}" type="presParOf" srcId="{43C9EED2-7E5E-4257-9E3E-95E5CB752E2F}" destId="{6A0B73D0-91E5-4C78-BCB6-C84706B6B85E}" srcOrd="1" destOrd="0" presId="urn:microsoft.com/office/officeart/2018/2/layout/IconLabelList"/>
    <dgm:cxn modelId="{82CAF471-3C48-4DDC-A9EE-B4AF1202FC44}" type="presParOf" srcId="{43C9EED2-7E5E-4257-9E3E-95E5CB752E2F}" destId="{423D9ED2-C81D-4EE9-AB8F-54ED4F42E4FE}" srcOrd="2" destOrd="0" presId="urn:microsoft.com/office/officeart/2018/2/layout/IconLabelList"/>
    <dgm:cxn modelId="{97DC6505-9107-4429-A6A5-E31E4BD5F22E}" type="presParOf" srcId="{423D9ED2-C81D-4EE9-AB8F-54ED4F42E4FE}" destId="{2AC5F2E0-4ACE-43B0-A16B-A3FD16BE109D}" srcOrd="0" destOrd="0" presId="urn:microsoft.com/office/officeart/2018/2/layout/IconLabelList"/>
    <dgm:cxn modelId="{0DBE4362-056D-45E4-BE48-31C3D55D2973}" type="presParOf" srcId="{423D9ED2-C81D-4EE9-AB8F-54ED4F42E4FE}" destId="{BA49F250-76C7-4CE7-AB26-BB9B7C82B693}" srcOrd="1" destOrd="0" presId="urn:microsoft.com/office/officeart/2018/2/layout/IconLabelList"/>
    <dgm:cxn modelId="{0B701D0D-CBBE-4EBE-A715-B6B1E60A7259}" type="presParOf" srcId="{423D9ED2-C81D-4EE9-AB8F-54ED4F42E4FE}" destId="{BC6CAC0A-3E6C-4A23-A46C-4CB3DE148452}" srcOrd="2" destOrd="0" presId="urn:microsoft.com/office/officeart/2018/2/layout/IconLabelList"/>
    <dgm:cxn modelId="{B025DD02-3681-4B28-96EC-1C9BF01801B4}" type="presParOf" srcId="{43C9EED2-7E5E-4257-9E3E-95E5CB752E2F}" destId="{1B149304-8EEF-453E-8DF7-D9A8E6A69BC0}" srcOrd="3" destOrd="0" presId="urn:microsoft.com/office/officeart/2018/2/layout/IconLabelList"/>
    <dgm:cxn modelId="{D011756A-C1B7-4A7A-A5AF-FD198615E83C}" type="presParOf" srcId="{43C9EED2-7E5E-4257-9E3E-95E5CB752E2F}" destId="{1BA48B42-237C-4B26-AD94-13258532F99D}" srcOrd="4" destOrd="0" presId="urn:microsoft.com/office/officeart/2018/2/layout/IconLabelList"/>
    <dgm:cxn modelId="{45D4CAFA-ABC8-4948-88D0-8D9864635258}" type="presParOf" srcId="{1BA48B42-237C-4B26-AD94-13258532F99D}" destId="{9DCFABDC-1E0A-44DA-A4C2-D25CB955E94E}" srcOrd="0" destOrd="0" presId="urn:microsoft.com/office/officeart/2018/2/layout/IconLabelList"/>
    <dgm:cxn modelId="{D1AB2116-ED4F-4416-B684-5413AB15BD62}" type="presParOf" srcId="{1BA48B42-237C-4B26-AD94-13258532F99D}" destId="{5722AABA-A40D-4578-BD83-C9D3B34927D3}" srcOrd="1" destOrd="0" presId="urn:microsoft.com/office/officeart/2018/2/layout/IconLabelList"/>
    <dgm:cxn modelId="{92B3BFA6-22BE-4100-814D-6CEEC71A5171}" type="presParOf" srcId="{1BA48B42-237C-4B26-AD94-13258532F99D}" destId="{6E2B3341-BFE4-4864-A19A-BC85136BABFC}" srcOrd="2" destOrd="0" presId="urn:microsoft.com/office/officeart/2018/2/layout/IconLabelList"/>
    <dgm:cxn modelId="{38C9D1C3-F019-497D-957D-13ED5013047F}" type="presParOf" srcId="{43C9EED2-7E5E-4257-9E3E-95E5CB752E2F}" destId="{64F47E3D-DB4B-44F8-95EF-92E6DC2852A0}" srcOrd="5" destOrd="0" presId="urn:microsoft.com/office/officeart/2018/2/layout/IconLabelList"/>
    <dgm:cxn modelId="{62B1705C-E010-4AE8-A7E0-6C0FE3503D35}" type="presParOf" srcId="{43C9EED2-7E5E-4257-9E3E-95E5CB752E2F}" destId="{9CE8F8F3-1537-4303-BC25-0952FAB9B5BF}" srcOrd="6" destOrd="0" presId="urn:microsoft.com/office/officeart/2018/2/layout/IconLabelList"/>
    <dgm:cxn modelId="{47768658-53BA-4391-8CB1-2E08660C3712}" type="presParOf" srcId="{9CE8F8F3-1537-4303-BC25-0952FAB9B5BF}" destId="{2808EAF6-7F03-4B7F-9565-C99B071A38A3}" srcOrd="0" destOrd="0" presId="urn:microsoft.com/office/officeart/2018/2/layout/IconLabelList"/>
    <dgm:cxn modelId="{3A43AEA3-F9BA-421B-A42B-2BB038E2B99E}" type="presParOf" srcId="{9CE8F8F3-1537-4303-BC25-0952FAB9B5BF}" destId="{AC796D4B-A37A-4749-801A-7CE28279B84C}" srcOrd="1" destOrd="0" presId="urn:microsoft.com/office/officeart/2018/2/layout/IconLabelList"/>
    <dgm:cxn modelId="{A247826F-AAB9-4ED8-AD39-6E19E58BB01C}" type="presParOf" srcId="{9CE8F8F3-1537-4303-BC25-0952FAB9B5BF}" destId="{BAA4AB04-081F-40B8-9518-C5C1652AE64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F228C-CAD3-49B4-9C7F-461CBFEE9566}">
      <dsp:nvSpPr>
        <dsp:cNvPr id="0" name=""/>
        <dsp:cNvSpPr/>
      </dsp:nvSpPr>
      <dsp:spPr>
        <a:xfrm>
          <a:off x="0" y="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9637A-D962-40EA-9939-E658E2C6546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4C3F3-DCE8-48D0-A067-9D357EC33900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analysis tool for AUC experiments</a:t>
          </a:r>
        </a:p>
      </dsp:txBody>
      <dsp:txXfrm>
        <a:off x="1435590" y="531"/>
        <a:ext cx="9080009" cy="1242935"/>
      </dsp:txXfrm>
    </dsp:sp>
    <dsp:sp modelId="{9DA71843-9FE4-40E2-9555-B67F5FF8A677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55EA5-2C3B-41DF-B9F5-6BDDB0981CE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3CA3B-0AFE-431A-AE15-1C41A4CE5501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14M+ jobs tracked since 2009</a:t>
          </a:r>
        </a:p>
      </dsp:txBody>
      <dsp:txXfrm>
        <a:off x="1435590" y="1554201"/>
        <a:ext cx="9080009" cy="1242935"/>
      </dsp:txXfrm>
    </dsp:sp>
    <dsp:sp modelId="{8FA4D9A9-21E5-447D-A602-0540EA1C8731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229F32-0EC9-4F4D-AEA0-F1520E2A1B5A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88C22-47DC-4514-9F86-F7A509587B1D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structural biology and biophysics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BA353-0E0D-8544-B013-8472A21A2CBD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Heuristic and test-job methods used previously</a:t>
          </a:r>
        </a:p>
      </dsp:txBody>
      <dsp:txXfrm>
        <a:off x="1748064" y="2975"/>
        <a:ext cx="3342605" cy="2005563"/>
      </dsp:txXfrm>
    </dsp:sp>
    <dsp:sp modelId="{03E19EF8-AAFF-4C42-B21F-0B358E309487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Linear models not robust enough</a:t>
          </a:r>
        </a:p>
      </dsp:txBody>
      <dsp:txXfrm>
        <a:off x="5424930" y="2975"/>
        <a:ext cx="3342605" cy="2005563"/>
      </dsp:txXfrm>
    </dsp:sp>
    <dsp:sp modelId="{9823CCC6-6689-5742-9564-C30BB0E50595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Lacked accuracy for real production use</a:t>
          </a:r>
        </a:p>
      </dsp:txBody>
      <dsp:txXfrm>
        <a:off x="3586497" y="2342799"/>
        <a:ext cx="3342605" cy="2005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D7618-2BF3-4B4D-A956-383E18D9A2DD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AFBC6-BC14-46FD-8FB8-FC536837758D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Extracted job records from 75+ LIMS databases</a:t>
          </a:r>
        </a:p>
      </dsp:txBody>
      <dsp:txXfrm>
        <a:off x="569079" y="2427788"/>
        <a:ext cx="2072362" cy="720000"/>
      </dsp:txXfrm>
    </dsp:sp>
    <dsp:sp modelId="{2AC5F2E0-4ACE-43B0-A16B-A3FD16BE109D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CAC0A-3E6C-4A23-A46C-4CB3DE148452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PHP scripts + JSON config for flexible extraction</a:t>
          </a:r>
        </a:p>
      </dsp:txBody>
      <dsp:txXfrm>
        <a:off x="3004105" y="2427788"/>
        <a:ext cx="2072362" cy="720000"/>
      </dsp:txXfrm>
    </dsp:sp>
    <dsp:sp modelId="{9DCFABDC-1E0A-44DA-A4C2-D25CB955E94E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B3341-BFE4-4864-A19A-BC85136BABFC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327,000+ complete records gathered</a:t>
          </a:r>
        </a:p>
      </dsp:txBody>
      <dsp:txXfrm>
        <a:off x="5439131" y="2427788"/>
        <a:ext cx="2072362" cy="720000"/>
      </dsp:txXfrm>
    </dsp:sp>
    <dsp:sp modelId="{2808EAF6-7F03-4B7F-9565-C99B071A38A3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4AB04-081F-40B8-9518-C5C1652AE649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Combined job request, results, and XML config fields</a:t>
          </a:r>
        </a:p>
      </dsp:txBody>
      <dsp:txXfrm>
        <a:off x="7874157" y="2427788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B0B91-5CF1-6E44-8509-9011AE01B1E7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11DAF-23FE-664E-9969-7DA3D66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93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3299-902B-5392-2621-00AAB9F9E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69F7F-0394-F666-10AF-43548D7B8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764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7EC76-63BC-D1D9-44CF-A106011D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1AE27-27DE-3931-E71D-274C7A9ED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96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1DF5-DC03-1008-B9AE-C0ADF931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D4A41-7592-9AB4-746D-AF8F2CD6E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786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87E3-E414-59CF-79B2-4E9EE7FB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D20CA-E491-D76C-42B3-7ECBB1958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B8995-4487-DE38-A008-2ED9D892D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818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4FB2-F450-9A0F-5BAC-DADE46FB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F264A-C5B2-093F-FA73-5CEA97875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447CD-B19E-FF9F-3D6E-188E1DA23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5A8DD-4CB2-E134-1841-793D4A5E8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3CE3A-D0A0-331C-FF5A-96D461785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051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BE3F-FFDD-6A1E-17CA-6F7A66ED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706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008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FC38-57CA-58EE-AA6A-459A07DD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0C7F3-BFB9-4707-A292-6F5DAC1CC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E6E43-0E20-6290-AB84-5E2C5D885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464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A52C0-C239-2623-D613-B8F68E02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98698-6BE5-8C0E-6638-493EB7FD4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05731-175F-884D-F540-0E553FAE9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5627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204E-5E54-E898-D797-5DC79623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0CAD8-001E-EFAA-C60B-BECCA9649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141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BE1AEF-F412-9322-571A-5B79AD9E6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881B4-B925-E595-1164-2EEB7D83C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137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D5EA6-A5FF-E79A-3224-99487F8D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F3E21-8702-2C40-FCA2-91C82EC72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952AA-99DD-2468-2D75-E3E91164EF9E}"/>
              </a:ext>
            </a:extLst>
          </p:cNvPr>
          <p:cNvSpPr/>
          <p:nvPr userDrawn="1"/>
        </p:nvSpPr>
        <p:spPr>
          <a:xfrm>
            <a:off x="-3" y="0"/>
            <a:ext cx="176466" cy="6858000"/>
          </a:xfrm>
          <a:prstGeom prst="rect">
            <a:avLst/>
          </a:prstGeom>
          <a:solidFill>
            <a:srgbClr val="700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6796A9-E990-A876-A32D-C2313032867E}"/>
              </a:ext>
            </a:extLst>
          </p:cNvPr>
          <p:cNvSpPr/>
          <p:nvPr userDrawn="1"/>
        </p:nvSpPr>
        <p:spPr>
          <a:xfrm rot="5400000">
            <a:off x="5902290" y="431932"/>
            <a:ext cx="483665" cy="12095753"/>
          </a:xfrm>
          <a:prstGeom prst="rect">
            <a:avLst/>
          </a:prstGeom>
          <a:solidFill>
            <a:srgbClr val="B997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5AE3133F-74E0-DEEE-D69E-CF2BAE1DBB6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566484" y="6279370"/>
            <a:ext cx="1938956" cy="395705"/>
          </a:xfrm>
          <a:prstGeom prst="rect">
            <a:avLst/>
          </a:prstGeom>
        </p:spPr>
      </p:pic>
      <p:pic>
        <p:nvPicPr>
          <p:cNvPr id="9" name="Picture 8" descr="A yellow horse with a star and a white text&#10;&#10;AI-generated content may be incorrect.">
            <a:extLst>
              <a:ext uri="{FF2B5EF4-FFF2-40B4-BE49-F238E27FC236}">
                <a16:creationId xmlns:a16="http://schemas.microsoft.com/office/drawing/2014/main" id="{E0A4BC50-6527-AA31-F275-2475D004558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184960" y="6187176"/>
            <a:ext cx="423769" cy="5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87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rgbClr val="700C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87C5-14DC-224A-ABC6-882A12D25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77129"/>
            <a:ext cx="9144000" cy="1270001"/>
          </a:xfrm>
        </p:spPr>
        <p:txBody>
          <a:bodyPr>
            <a:normAutofit/>
          </a:bodyPr>
          <a:lstStyle/>
          <a:p>
            <a:r>
              <a:rPr lang="en-US" sz="3600" dirty="0"/>
              <a:t>Optimizing UltraScan Job Scheduling with Deep Learning-Based Performance Prediction</a:t>
            </a:r>
          </a:p>
        </p:txBody>
      </p:sp>
      <p:pic>
        <p:nvPicPr>
          <p:cNvPr id="5" name="Picture 4" descr="A yellow horse with a star and a white text&#10;&#10;AI-generated content may be incorrect.">
            <a:extLst>
              <a:ext uri="{FF2B5EF4-FFF2-40B4-BE49-F238E27FC236}">
                <a16:creationId xmlns:a16="http://schemas.microsoft.com/office/drawing/2014/main" id="{0F75AE8A-2EAC-A1F3-32BB-385B6B35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297" y="3944071"/>
            <a:ext cx="1943100" cy="1905000"/>
          </a:xfrm>
          <a:prstGeom prst="rect">
            <a:avLst/>
          </a:prstGeom>
        </p:spPr>
      </p:pic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18C2F683-572B-5454-E9B7-9B220AAE1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887" y="4478873"/>
            <a:ext cx="4093436" cy="83539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0CC573-DB15-2762-90A7-BF2000A99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44209"/>
              </p:ext>
            </p:extLst>
          </p:nvPr>
        </p:nvGraphicFramePr>
        <p:xfrm>
          <a:off x="691485" y="2282444"/>
          <a:ext cx="10809027" cy="1480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3009">
                  <a:extLst>
                    <a:ext uri="{9D8B030D-6E8A-4147-A177-3AD203B41FA5}">
                      <a16:colId xmlns:a16="http://schemas.microsoft.com/office/drawing/2014/main" val="2022496262"/>
                    </a:ext>
                  </a:extLst>
                </a:gridCol>
                <a:gridCol w="3603009">
                  <a:extLst>
                    <a:ext uri="{9D8B030D-6E8A-4147-A177-3AD203B41FA5}">
                      <a16:colId xmlns:a16="http://schemas.microsoft.com/office/drawing/2014/main" val="3109094518"/>
                    </a:ext>
                  </a:extLst>
                </a:gridCol>
                <a:gridCol w="3603009">
                  <a:extLst>
                    <a:ext uri="{9D8B030D-6E8A-4147-A177-3AD203B41FA5}">
                      <a16:colId xmlns:a16="http://schemas.microsoft.com/office/drawing/2014/main" val="1944423509"/>
                    </a:ext>
                  </a:extLst>
                </a:gridCol>
              </a:tblGrid>
              <a:tr h="1439239"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AARON L. HOUSEHOLDER</a:t>
                      </a:r>
                    </a:p>
                    <a:p>
                      <a:pPr marL="0" indent="0" algn="ctr" rtl="0" eaLnBrk="1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University of Central Florida 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aaroncs@ucf.edu</a:t>
                      </a:r>
                    </a:p>
                    <a:p>
                      <a:endParaRPr lang="en-US" sz="1800" kern="12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CLIFF C. ZOU</a:t>
                      </a:r>
                    </a:p>
                    <a:p>
                      <a:pPr marL="0" indent="0" algn="ctr" rtl="0" eaLnBrk="1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University of Central Florida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changchun.zou@ucf.edu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EMRE H. BROOKES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University of Montana emre.brookes@umontana.edu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09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Runtime Prediction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Inaccurate estimates lead to resource waste</a:t>
            </a:r>
          </a:p>
          <a:p>
            <a:pPr lvl="1"/>
            <a:r>
              <a:rPr dirty="0"/>
              <a:t>Overestimation blocks queues</a:t>
            </a:r>
            <a:endParaRPr lang="en-US" dirty="0"/>
          </a:p>
          <a:p>
            <a:pPr lvl="1"/>
            <a:r>
              <a:rPr dirty="0"/>
              <a:t>underestimation causes failures</a:t>
            </a:r>
          </a:p>
          <a:p>
            <a:r>
              <a:rPr dirty="0"/>
              <a:t>Better predictions improve HPC throughput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t>UltraScan in Scientific HPC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D12B8C-235A-835F-0AAC-D519769FF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695805"/>
              </p:ext>
            </p:extLst>
          </p:nvPr>
        </p:nvGraphicFramePr>
        <p:xfrm>
          <a:off x="838200" y="160558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Why </a:t>
            </a:r>
            <a:r>
              <a:rPr lang="en-US" dirty="0"/>
              <a:t>Two-Dimensional Spectrum Analysis (</a:t>
            </a:r>
            <a:r>
              <a:rPr dirty="0"/>
              <a:t>2DSA</a:t>
            </a:r>
            <a:r>
              <a:rPr lang="en-US" dirty="0"/>
              <a:t>)</a:t>
            </a:r>
            <a:r>
              <a:rPr dirty="0"/>
              <a:t> Is Hard to Predict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Nonlinear interactions between parameters</a:t>
            </a:r>
          </a:p>
          <a:p>
            <a:pPr lvl="1"/>
            <a:r>
              <a:rPr dirty="0"/>
              <a:t>Monte Carlo iterations</a:t>
            </a:r>
            <a:endParaRPr lang="en-US" dirty="0"/>
          </a:p>
          <a:p>
            <a:pPr lvl="1"/>
            <a:r>
              <a:rPr dirty="0"/>
              <a:t>grid resolution</a:t>
            </a:r>
            <a:endParaRPr lang="en-US" dirty="0"/>
          </a:p>
          <a:p>
            <a:pPr lvl="1"/>
            <a:r>
              <a:rPr dirty="0"/>
              <a:t>noise fitting</a:t>
            </a:r>
          </a:p>
          <a:p>
            <a:r>
              <a:rPr dirty="0"/>
              <a:t>Wide variability in runtime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dirty="0"/>
              <a:t>Existing Solutions and Their Limits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D497EA-E23A-739A-93B4-0F2A4DC62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694797"/>
              </p:ext>
            </p:extLst>
          </p:nvPr>
        </p:nvGraphicFramePr>
        <p:xfrm>
          <a:off x="838200" y="163039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Build data-driven CPU time prediction models</a:t>
            </a:r>
          </a:p>
          <a:p>
            <a:r>
              <a:rPr dirty="0"/>
              <a:t>Handle high-dimensional input parameters</a:t>
            </a:r>
          </a:p>
          <a:p>
            <a:r>
              <a:rPr dirty="0"/>
              <a:t>Support future integration into LIMS and HPC schedulers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t>Our Data Collection Pipeline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FA02A0-2644-A44F-E27D-331729820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689641"/>
              </p:ext>
            </p:extLst>
          </p:nvPr>
        </p:nvGraphicFramePr>
        <p:xfrm>
          <a:off x="838200" y="12533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and Outlier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Removed constant and invalid fields from dataset</a:t>
            </a:r>
          </a:p>
          <a:p>
            <a:r>
              <a:rPr dirty="0"/>
              <a:t>Encoded categorical values (e.g., cluster names)</a:t>
            </a:r>
          </a:p>
          <a:p>
            <a:r>
              <a:rPr dirty="0"/>
              <a:t>Removed negative values and unreliable records</a:t>
            </a:r>
          </a:p>
          <a:p>
            <a:r>
              <a:rPr dirty="0"/>
              <a:t>Z-score calculation used for outlier detection</a:t>
            </a:r>
          </a:p>
          <a:p>
            <a:r>
              <a:rPr lang="en-US" dirty="0"/>
              <a:t>For 2DSA re</a:t>
            </a:r>
            <a:r>
              <a:rPr dirty="0"/>
              <a:t>duced </a:t>
            </a:r>
            <a:r>
              <a:rPr lang="en-US" dirty="0"/>
              <a:t>parameters </a:t>
            </a:r>
            <a:r>
              <a:rPr dirty="0"/>
              <a:t>from 86 to 22 columns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Model Training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Pipeline: extract → preprocess → train → evaluate</a:t>
            </a:r>
          </a:p>
          <a:p>
            <a:r>
              <a:rPr dirty="0"/>
              <a:t>Multiple methods trained separately (2DSA, GA, PCSA)</a:t>
            </a:r>
          </a:p>
          <a:p>
            <a:r>
              <a:rPr dirty="0"/>
              <a:t>Each model tagged with error stats for selection</a:t>
            </a:r>
          </a:p>
          <a:p>
            <a:r>
              <a:rPr dirty="0"/>
              <a:t>Process designed to support future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Grid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Evaluated 432 configurations per method</a:t>
            </a:r>
          </a:p>
          <a:p>
            <a:r>
              <a:rPr dirty="0"/>
              <a:t>Tuned layers, optimizers, batch size, activations, dropout</a:t>
            </a:r>
          </a:p>
          <a:p>
            <a:r>
              <a:rPr dirty="0"/>
              <a:t>Used ELU and Adam for best performance in 2DSA</a:t>
            </a:r>
          </a:p>
          <a:p>
            <a:r>
              <a:rPr dirty="0"/>
              <a:t>Used 70% training, 15% validation, 15% test split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Tested LASSO, Random Forest, and </a:t>
            </a:r>
            <a:r>
              <a:rPr dirty="0" err="1"/>
              <a:t>XGBoost</a:t>
            </a:r>
            <a:endParaRPr dirty="0"/>
          </a:p>
          <a:p>
            <a:r>
              <a:rPr dirty="0"/>
              <a:t>Top features: MC iterations, grid points, noise options</a:t>
            </a:r>
          </a:p>
          <a:p>
            <a:r>
              <a:rPr dirty="0"/>
              <a:t>Monte Carlo settings most predictive of runtime</a:t>
            </a:r>
          </a:p>
          <a:p>
            <a:r>
              <a:rPr dirty="0"/>
              <a:t>Feature selection alone didn’t improve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Performance: Accuracy and Error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93% of 2DSA jobs predicted within 5-minute error</a:t>
            </a:r>
          </a:p>
          <a:p>
            <a:r>
              <a:rPr dirty="0"/>
              <a:t>Some jobs had extreme deviations (long-tail errors)</a:t>
            </a:r>
          </a:p>
          <a:p>
            <a:r>
              <a:rPr dirty="0"/>
              <a:t>GA predictions less reliable due to job behavior</a:t>
            </a:r>
          </a:p>
          <a:p>
            <a:r>
              <a:rPr dirty="0"/>
              <a:t>Model generalization good across most job types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Z-Score Buffering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Z-score to estimate parameter extremity</a:t>
            </a:r>
          </a:p>
          <a:p>
            <a:r>
              <a:rPr dirty="0"/>
              <a:t>Added buffer based on max error by Z-score</a:t>
            </a:r>
          </a:p>
          <a:p>
            <a:r>
              <a:rPr lang="en-US" dirty="0"/>
              <a:t>A</a:t>
            </a:r>
            <a:r>
              <a:rPr dirty="0"/>
              <a:t>daptively increases safety margin for runtime</a:t>
            </a:r>
          </a:p>
          <a:p>
            <a:r>
              <a:rPr dirty="0"/>
              <a:t>Prevents underestimated job failures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dirty="0"/>
              <a:t>Visualizing the Long Tail</a:t>
            </a:r>
          </a:p>
        </p:txBody>
      </p:sp>
      <p:pic>
        <p:nvPicPr>
          <p:cNvPr id="5" name="image1.png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28864FD8-726F-EEF2-48CF-14E6FD5664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0703" y="1690688"/>
            <a:ext cx="6833286" cy="3543921"/>
          </a:xfrm>
          <a:prstGeom prst="rect">
            <a:avLst/>
          </a:prstGeom>
          <a:noFill/>
          <a:ln/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7823886" y="2255113"/>
            <a:ext cx="4290391" cy="2415071"/>
          </a:xfrm>
        </p:spPr>
        <p:txBody>
          <a:bodyPr>
            <a:normAutofit/>
          </a:bodyPr>
          <a:lstStyle/>
          <a:p>
            <a:r>
              <a:rPr sz="2000" dirty="0"/>
              <a:t>Shows log–log distribution of job prediction error</a:t>
            </a:r>
          </a:p>
          <a:p>
            <a:r>
              <a:rPr lang="en-US" sz="2000" dirty="0"/>
              <a:t>M</a:t>
            </a:r>
            <a:r>
              <a:rPr sz="2000" dirty="0"/>
              <a:t>ost jobs have small errors; few extreme outliers</a:t>
            </a:r>
          </a:p>
          <a:p>
            <a:r>
              <a:rPr sz="2000" dirty="0"/>
              <a:t>Reinforces need for adaptive error margins</a:t>
            </a:r>
          </a:p>
          <a:p>
            <a:r>
              <a:rPr sz="2000" dirty="0"/>
              <a:t>Helps diagnose model weaknesses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dirty="0"/>
              <a:t>Z-Score vs Error Tradeoff (Figure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9661" y="2161830"/>
            <a:ext cx="4263887" cy="2534340"/>
          </a:xfrm>
        </p:spPr>
        <p:txBody>
          <a:bodyPr>
            <a:normAutofit lnSpcReduction="10000"/>
          </a:bodyPr>
          <a:lstStyle/>
          <a:p>
            <a:r>
              <a:rPr sz="2000" dirty="0"/>
              <a:t>Lower Z-score: lower error, fewer jobs accepted</a:t>
            </a:r>
          </a:p>
          <a:p>
            <a:r>
              <a:rPr sz="2000" dirty="0"/>
              <a:t>Higher Z-score: higher error, more jobs accepted</a:t>
            </a:r>
          </a:p>
          <a:p>
            <a:r>
              <a:rPr sz="2000" dirty="0"/>
              <a:t>Tradeoff curve supports runtime buffering strategy</a:t>
            </a:r>
            <a:r>
              <a:rPr lang="en-US" sz="2000" dirty="0"/>
              <a:t> in production</a:t>
            </a:r>
            <a:endParaRPr sz="2000" dirty="0"/>
          </a:p>
          <a:p>
            <a:r>
              <a:rPr sz="2000" dirty="0"/>
              <a:t>Used to select optimal Z for each job</a:t>
            </a:r>
          </a:p>
        </p:txBody>
      </p:sp>
      <p:pic>
        <p:nvPicPr>
          <p:cNvPr id="4" name="image2.png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36DB7DF-BF9D-4000-57B6-315171B559C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128591" y="1605585"/>
            <a:ext cx="6751983" cy="3512500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t>Best Model Selections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942453"/>
            <a:ext cx="10037323" cy="886847"/>
          </a:xfrm>
        </p:spPr>
        <p:txBody>
          <a:bodyPr>
            <a:normAutofit/>
          </a:bodyPr>
          <a:lstStyle/>
          <a:p>
            <a:r>
              <a:rPr sz="1800" dirty="0"/>
              <a:t>Used minimum max error across all data as criterion</a:t>
            </a:r>
          </a:p>
          <a:p>
            <a:r>
              <a:rPr sz="1800" dirty="0"/>
              <a:t>Based on validation and full-dataset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E09CBF-23F9-DDD7-0C76-0EF8E3688E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812351"/>
              </p:ext>
            </p:extLst>
          </p:nvPr>
        </p:nvGraphicFramePr>
        <p:xfrm>
          <a:off x="838200" y="1589940"/>
          <a:ext cx="10515600" cy="2864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561">
                  <a:extLst>
                    <a:ext uri="{9D8B030D-6E8A-4147-A177-3AD203B41FA5}">
                      <a16:colId xmlns:a16="http://schemas.microsoft.com/office/drawing/2014/main" val="925988113"/>
                    </a:ext>
                  </a:extLst>
                </a:gridCol>
                <a:gridCol w="1881872">
                  <a:extLst>
                    <a:ext uri="{9D8B030D-6E8A-4147-A177-3AD203B41FA5}">
                      <a16:colId xmlns:a16="http://schemas.microsoft.com/office/drawing/2014/main" val="3778146207"/>
                    </a:ext>
                  </a:extLst>
                </a:gridCol>
                <a:gridCol w="1941389">
                  <a:extLst>
                    <a:ext uri="{9D8B030D-6E8A-4147-A177-3AD203B41FA5}">
                      <a16:colId xmlns:a16="http://schemas.microsoft.com/office/drawing/2014/main" val="2798202031"/>
                    </a:ext>
                  </a:extLst>
                </a:gridCol>
                <a:gridCol w="1241397">
                  <a:extLst>
                    <a:ext uri="{9D8B030D-6E8A-4147-A177-3AD203B41FA5}">
                      <a16:colId xmlns:a16="http://schemas.microsoft.com/office/drawing/2014/main" val="2871341282"/>
                    </a:ext>
                  </a:extLst>
                </a:gridCol>
                <a:gridCol w="1651486">
                  <a:extLst>
                    <a:ext uri="{9D8B030D-6E8A-4147-A177-3AD203B41FA5}">
                      <a16:colId xmlns:a16="http://schemas.microsoft.com/office/drawing/2014/main" val="1677968206"/>
                    </a:ext>
                  </a:extLst>
                </a:gridCol>
                <a:gridCol w="1359664">
                  <a:extLst>
                    <a:ext uri="{9D8B030D-6E8A-4147-A177-3AD203B41FA5}">
                      <a16:colId xmlns:a16="http://schemas.microsoft.com/office/drawing/2014/main" val="3438013490"/>
                    </a:ext>
                  </a:extLst>
                </a:gridCol>
                <a:gridCol w="1341231">
                  <a:extLst>
                    <a:ext uri="{9D8B030D-6E8A-4147-A177-3AD203B41FA5}">
                      <a16:colId xmlns:a16="http://schemas.microsoft.com/office/drawing/2014/main" val="4127240915"/>
                    </a:ext>
                  </a:extLst>
                </a:gridCol>
              </a:tblGrid>
              <a:tr h="13713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Method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68" marR="7568" marT="7568" marB="37841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Z-score 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Max. Absolute Error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(Acceptance)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68" marR="7568" marT="7568" marB="37841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Z-score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Max. Absolute Error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(Acceptance)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68" marR="7568" marT="7568" marB="37841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Job Count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68" marR="7568" marT="7568" marB="37841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Model Architecture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68" marR="7568" marT="7568" marB="37841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Optimizer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68" marR="7568" marT="7568" marB="37841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Scaler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68" marR="7568" marT="7568" marB="37841" anchor="b"/>
                </a:tc>
                <a:extLst>
                  <a:ext uri="{0D108BD9-81ED-4DB2-BD59-A6C34878D82A}">
                    <a16:rowId xmlns:a16="http://schemas.microsoft.com/office/drawing/2014/main" val="155314490"/>
                  </a:ext>
                </a:extLst>
              </a:tr>
              <a:tr h="58658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2DSA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2h 13m (56%)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11h 32m (89%)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265,346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21-128-64-1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Adam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Standard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extLst>
                  <a:ext uri="{0D108BD9-81ED-4DB2-BD59-A6C34878D82A}">
                    <a16:rowId xmlns:a16="http://schemas.microsoft.com/office/drawing/2014/main" val="1345120676"/>
                  </a:ext>
                </a:extLst>
              </a:tr>
              <a:tr h="33663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GA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6d 7h (70%)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6d 7h (71%)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14,006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25-128-64-1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SGD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Robust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extLst>
                  <a:ext uri="{0D108BD9-81ED-4DB2-BD59-A6C34878D82A}">
                    <a16:rowId xmlns:a16="http://schemas.microsoft.com/office/drawing/2014/main" val="4210554583"/>
                  </a:ext>
                </a:extLst>
              </a:tr>
              <a:tr h="57036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PCSA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1h 57m (64%)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5h 17m (90%)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45,340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840" marR="23840" marT="23840" marB="2384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25-512-256-128-1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Adam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Standard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164" marR="18164" marT="18164" marB="18164" anchor="b"/>
                </a:tc>
                <a:extLst>
                  <a:ext uri="{0D108BD9-81ED-4DB2-BD59-A6C34878D82A}">
                    <a16:rowId xmlns:a16="http://schemas.microsoft.com/office/drawing/2014/main" val="16883186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runtime estimates → better queue utilization</a:t>
            </a:r>
          </a:p>
          <a:p>
            <a:r>
              <a:rPr dirty="0"/>
              <a:t>Reduced overestimation and job failures</a:t>
            </a:r>
          </a:p>
          <a:p>
            <a:r>
              <a:rPr dirty="0"/>
              <a:t>Supports fairer, more efficient HPC resource use</a:t>
            </a:r>
          </a:p>
          <a:p>
            <a:r>
              <a:rPr lang="en-US" dirty="0"/>
              <a:t>B</a:t>
            </a:r>
            <a:r>
              <a:rPr dirty="0"/>
              <a:t>uilds trust in automated runtime prediction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Toward Production: Microservice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Designed prediction model for API integration</a:t>
            </a:r>
          </a:p>
          <a:p>
            <a:r>
              <a:rPr dirty="0"/>
              <a:t>Planned microservice for UltraScan LIMS</a:t>
            </a:r>
          </a:p>
          <a:p>
            <a:r>
              <a:rPr dirty="0"/>
              <a:t>Real-time prediction support for job submission</a:t>
            </a:r>
          </a:p>
          <a:p>
            <a:r>
              <a:rPr dirty="0"/>
              <a:t>Memory (RSS) prediction is next target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Other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Framework applies to other workloads with historical data</a:t>
            </a:r>
          </a:p>
          <a:p>
            <a:r>
              <a:rPr dirty="0"/>
              <a:t>Parameter-based modeling works across HPC domains</a:t>
            </a:r>
          </a:p>
          <a:p>
            <a:r>
              <a:rPr dirty="0"/>
              <a:t>Seeking to identify and test in other scientific software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smaller parameter counts, </a:t>
            </a:r>
            <a:r>
              <a:rPr dirty="0"/>
              <a:t>feature selection methods</a:t>
            </a:r>
          </a:p>
          <a:p>
            <a:r>
              <a:rPr dirty="0"/>
              <a:t>Z-score buffering helps mitigate prediction risk</a:t>
            </a:r>
          </a:p>
          <a:p>
            <a:r>
              <a:rPr dirty="0"/>
              <a:t>GA prediction needs further refinement</a:t>
            </a:r>
          </a:p>
          <a:p>
            <a:r>
              <a:rPr lang="en-US" dirty="0"/>
              <a:t>P</a:t>
            </a:r>
            <a:r>
              <a:rPr dirty="0"/>
              <a:t>roduction-ready prediction requires robust pipelines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NIH (R01GM120600), NSF (DGE-2325452)</a:t>
            </a:r>
          </a:p>
          <a:p>
            <a:r>
              <a:rPr dirty="0"/>
              <a:t>Jetstream2 (ACCESS MCB070038)</a:t>
            </a:r>
          </a:p>
          <a:p>
            <a:r>
              <a:rPr dirty="0"/>
              <a:t>Canadian Center for Hydrodynamics</a:t>
            </a:r>
          </a:p>
          <a:p>
            <a:r>
              <a:rPr dirty="0"/>
              <a:t>Thanks to collaborators and advisors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Deep learning improves HPC job runtime prediction accuracy</a:t>
            </a:r>
          </a:p>
          <a:p>
            <a:r>
              <a:rPr dirty="0"/>
              <a:t>Z-score buffering enhances </a:t>
            </a:r>
            <a:r>
              <a:rPr lang="en-US" dirty="0"/>
              <a:t>utility</a:t>
            </a:r>
            <a:r>
              <a:rPr dirty="0"/>
              <a:t> in production</a:t>
            </a:r>
          </a:p>
          <a:p>
            <a:r>
              <a:rPr dirty="0"/>
              <a:t>Framework is generalizable — exploring new domains</a:t>
            </a:r>
            <a:endParaRPr lang="en-US" dirty="0"/>
          </a:p>
          <a:p>
            <a:pPr lvl="1"/>
            <a:r>
              <a:rPr lang="en-US" dirty="0"/>
              <a:t>Seeking applications with datasets to build models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700C2F"/>
      </a:accent1>
      <a:accent2>
        <a:srgbClr val="B9965B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4753</TotalTime>
  <Words>747</Words>
  <Application>Microsoft Macintosh PowerPoint</Application>
  <PresentationFormat>Widescreen</PresentationFormat>
  <Paragraphs>140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Optimizing UltraScan Job Scheduling with Deep Learning-Based Performance Prediction</vt:lpstr>
      <vt:lpstr>Why Runtime Prediction Matters</vt:lpstr>
      <vt:lpstr>UltraScan in Scientific HPC</vt:lpstr>
      <vt:lpstr>Why Two-Dimensional Spectrum Analysis (2DSA) Is Hard to Predict</vt:lpstr>
      <vt:lpstr>Existing Solutions and Their Limits</vt:lpstr>
      <vt:lpstr>Project Goals</vt:lpstr>
      <vt:lpstr>Our Data Collection Pipeline</vt:lpstr>
      <vt:lpstr>Preprocessing and Outlier Handling</vt:lpstr>
      <vt:lpstr>Full Model Training Workflow</vt:lpstr>
      <vt:lpstr>Hyperparameter Grid Search</vt:lpstr>
      <vt:lpstr>Feature Analysis</vt:lpstr>
      <vt:lpstr>Model Performance: Accuracy and Error Distributions</vt:lpstr>
      <vt:lpstr>Z-Score Buffering Strategy</vt:lpstr>
      <vt:lpstr>Visualizing the Long Tail</vt:lpstr>
      <vt:lpstr>Z-Score vs Error Tradeoff (Figure 3)</vt:lpstr>
      <vt:lpstr>Best Model Selections</vt:lpstr>
      <vt:lpstr>Real-World Impact</vt:lpstr>
      <vt:lpstr>Toward Production: Microservice Deployment</vt:lpstr>
      <vt:lpstr>Other Domains</vt:lpstr>
      <vt:lpstr>Lessons Learned</vt:lpstr>
      <vt:lpstr>Acknowledgments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Householder</dc:creator>
  <cp:lastModifiedBy>Aaron Householder</cp:lastModifiedBy>
  <cp:revision>5</cp:revision>
  <dcterms:created xsi:type="dcterms:W3CDTF">2025-04-27T22:33:49Z</dcterms:created>
  <dcterms:modified xsi:type="dcterms:W3CDTF">2025-09-10T16:26:20Z</dcterms:modified>
</cp:coreProperties>
</file>