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0.svg" ContentType="image/svg+xml"/>
  <Override PartName="/ppt/media/image11.svg" ContentType="image/svg+xml"/>
  <Override PartName="/ppt/media/image12.svg" ContentType="image/svg+xml"/>
  <Override PartName="/ppt/media/image14.svg" ContentType="image/svg+xml"/>
  <Override PartName="/ppt/media/image15.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304" r:id="rId2"/>
    <p:sldId id="257" r:id="rId3"/>
    <p:sldId id="258" r:id="rId4"/>
    <p:sldId id="322" r:id="rId5"/>
    <p:sldId id="283" r:id="rId6"/>
    <p:sldId id="264" r:id="rId7"/>
    <p:sldId id="265" r:id="rId8"/>
    <p:sldId id="301" r:id="rId9"/>
    <p:sldId id="284" r:id="rId10"/>
    <p:sldId id="285" r:id="rId11"/>
    <p:sldId id="269" r:id="rId12"/>
    <p:sldId id="310" r:id="rId13"/>
    <p:sldId id="309" r:id="rId14"/>
    <p:sldId id="271" r:id="rId15"/>
    <p:sldId id="287" r:id="rId16"/>
    <p:sldId id="326" r:id="rId17"/>
    <p:sldId id="333" r:id="rId18"/>
    <p:sldId id="314"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C413"/>
    <a:srgbClr val="B9975B"/>
    <a:srgbClr val="700C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036"/>
    <p:restoredTop sz="83973"/>
  </p:normalViewPr>
  <p:slideViewPr>
    <p:cSldViewPr snapToGrid="0">
      <p:cViewPr varScale="1">
        <p:scale>
          <a:sx n="106" d="100"/>
          <a:sy n="106" d="100"/>
        </p:scale>
        <p:origin x="840" y="168"/>
      </p:cViewPr>
      <p:guideLst/>
    </p:cSldViewPr>
  </p:slideViewPr>
  <p:notesTextViewPr>
    <p:cViewPr>
      <p:scale>
        <a:sx n="1" d="1"/>
        <a:sy n="1" d="1"/>
      </p:scale>
      <p:origin x="0" y="-648"/>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4.svg"/><Relationship Id="rId2" Type="http://schemas.openxmlformats.org/officeDocument/2006/relationships/image" Target="../media/image5.svg"/></Relationships>
</file>

<file path=ppt/diagrams/_rels/data2.xml.rels><?xml version='1.0' encoding='UTF-8' standalone='yes'?>
<Relationships xmlns="http://schemas.openxmlformats.org/package/2006/relationships"><Relationship Id="rId1" Type="http://schemas.openxmlformats.org/officeDocument/2006/relationships/image" Target="../media/image6.svg"/><Relationship Id="rId2" Type="http://schemas.openxmlformats.org/officeDocument/2006/relationships/image" Target="../media/image7.svg"/><Relationship Id="rId3" Type="http://schemas.openxmlformats.org/officeDocument/2006/relationships/image" Target="../media/image5.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1" Type="http://schemas.openxmlformats.org/officeDocument/2006/relationships/image" Target="../media/image4.svg"/><Relationship Id="rId2" Type="http://schemas.openxmlformats.org/officeDocument/2006/relationships/image" Target="../media/image5.svg"/></Relationships>
</file>

<file path=ppt/diagrams/_rels/drawing2.xml.rels><?xml version='1.0' encoding='UTF-8' standalone='yes'?>
<Relationships xmlns="http://schemas.openxmlformats.org/package/2006/relationships"><Relationship Id="rId1" Type="http://schemas.openxmlformats.org/officeDocument/2006/relationships/image" Target="../media/image6.svg"/><Relationship Id="rId2" Type="http://schemas.openxmlformats.org/officeDocument/2006/relationships/image" Target="../media/image7.svg"/><Relationship Id="rId3"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CBDDA7-9336-43E5-A0CE-8B83870592E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4D29C20-CEA5-4387-8542-A31255D86AB7}">
      <dgm:prSet custT="1"/>
      <dgm:spPr/>
      <dgm:t>
        <a:bodyPr/>
        <a:lstStyle/>
        <a:p>
          <a:r>
            <a:rPr lang="en-US" sz="2000" dirty="0"/>
            <a:t>analytical ultracentrifugation (AUC) analysis software</a:t>
          </a:r>
        </a:p>
      </dgm:t>
    </dgm:pt>
    <dgm:pt modelId="{40E13299-93A6-4271-8A2B-F0874880609A}" type="parTrans" cxnId="{B30F16A2-40E5-4840-9B84-840D9298B78A}">
      <dgm:prSet/>
      <dgm:spPr/>
      <dgm:t>
        <a:bodyPr/>
        <a:lstStyle/>
        <a:p>
          <a:endParaRPr lang="en-US"/>
        </a:p>
      </dgm:t>
    </dgm:pt>
    <dgm:pt modelId="{266A6DEA-77CA-4FE9-9C61-7E41C3BC8D80}" type="sibTrans" cxnId="{B30F16A2-40E5-4840-9B84-840D9298B78A}">
      <dgm:prSet/>
      <dgm:spPr/>
      <dgm:t>
        <a:bodyPr/>
        <a:lstStyle/>
        <a:p>
          <a:endParaRPr lang="en-US"/>
        </a:p>
      </dgm:t>
    </dgm:pt>
    <dgm:pt modelId="{D8A43CD6-D893-4FCA-A8DA-853523038D9C}">
      <dgm:prSet custT="1"/>
      <dgm:spPr/>
      <dgm:t>
        <a:bodyPr/>
        <a:lstStyle/>
        <a:p>
          <a:r>
            <a:rPr lang="en-US" sz="1800" dirty="0"/>
            <a:t>Runs on national HPC clusters; computationally intensive; heavily parameterized</a:t>
          </a:r>
          <a:br>
            <a:rPr lang="en-US" sz="1800" dirty="0"/>
          </a:br>
          <a:br>
            <a:rPr lang="en-US" sz="1800" dirty="0"/>
          </a:br>
          <a:r>
            <a:rPr lang="en-US" sz="1800" dirty="0"/>
            <a:t>- 2DSA — two-dimensional spectrum analysis (83% of jobs)</a:t>
          </a:r>
          <a:br>
            <a:rPr lang="en-US" sz="1800" dirty="0"/>
          </a:br>
          <a:r>
            <a:rPr lang="en-US" sz="1800" dirty="0"/>
            <a:t>- GA — genetic algorithm methods</a:t>
          </a:r>
          <a:br>
            <a:rPr lang="en-US" sz="1800" dirty="0"/>
          </a:br>
          <a:r>
            <a:rPr lang="en-US" sz="1800" dirty="0"/>
            <a:t>- PCSA — parametrically constrained spectrum analysis</a:t>
          </a:r>
        </a:p>
      </dgm:t>
    </dgm:pt>
    <dgm:pt modelId="{D5ECB216-AA00-4ADF-B09F-B72304A2B884}" type="parTrans" cxnId="{07100735-026F-4546-A4A6-7B4D443307E8}">
      <dgm:prSet/>
      <dgm:spPr/>
      <dgm:t>
        <a:bodyPr/>
        <a:lstStyle/>
        <a:p>
          <a:endParaRPr lang="en-US"/>
        </a:p>
      </dgm:t>
    </dgm:pt>
    <dgm:pt modelId="{8F9AFCAB-A491-4401-9131-B894845B9772}" type="sibTrans" cxnId="{07100735-026F-4546-A4A6-7B4D443307E8}">
      <dgm:prSet/>
      <dgm:spPr/>
      <dgm:t>
        <a:bodyPr/>
        <a:lstStyle/>
        <a:p>
          <a:endParaRPr lang="en-US"/>
        </a:p>
      </dgm:t>
    </dgm:pt>
    <dgm:pt modelId="{C79D9EC1-FEC9-4543-9889-897CC0F5A849}" type="pres">
      <dgm:prSet presAssocID="{31CBDDA7-9336-43E5-A0CE-8B83870592E5}" presName="root" presStyleCnt="0">
        <dgm:presLayoutVars>
          <dgm:dir/>
          <dgm:resizeHandles val="exact"/>
        </dgm:presLayoutVars>
      </dgm:prSet>
      <dgm:spPr/>
    </dgm:pt>
    <dgm:pt modelId="{DF12E04E-2D28-4B00-90E2-1C4247FCDAF9}" type="pres">
      <dgm:prSet presAssocID="{44D29C20-CEA5-4387-8542-A31255D86AB7}" presName="compNode" presStyleCnt="0"/>
      <dgm:spPr/>
    </dgm:pt>
    <dgm:pt modelId="{4B9D6A19-F047-4D43-8ECE-1C5A897AABFD}" type="pres">
      <dgm:prSet presAssocID="{44D29C20-CEA5-4387-8542-A31255D86AB7}" presName="bgRect" presStyleLbl="bgShp" presStyleIdx="0" presStyleCnt="2"/>
      <dgm:spPr/>
    </dgm:pt>
    <dgm:pt modelId="{459496EB-3670-4D05-A4E0-E2ACA43F8506}" type="pres">
      <dgm:prSet presAssocID="{44D29C20-CEA5-4387-8542-A31255D86AB7}"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erver"/>
        </a:ext>
      </dgm:extLst>
    </dgm:pt>
    <dgm:pt modelId="{F9F856B7-59B5-430C-8EE7-0A09E8060B63}" type="pres">
      <dgm:prSet presAssocID="{44D29C20-CEA5-4387-8542-A31255D86AB7}" presName="spaceRect" presStyleCnt="0"/>
      <dgm:spPr/>
    </dgm:pt>
    <dgm:pt modelId="{986455B2-FC41-4AC4-82F0-E2F3E8F8A0ED}" type="pres">
      <dgm:prSet presAssocID="{44D29C20-CEA5-4387-8542-A31255D86AB7}" presName="parTx" presStyleLbl="revTx" presStyleIdx="0" presStyleCnt="2">
        <dgm:presLayoutVars>
          <dgm:chMax val="0"/>
          <dgm:chPref val="0"/>
        </dgm:presLayoutVars>
      </dgm:prSet>
      <dgm:spPr/>
    </dgm:pt>
    <dgm:pt modelId="{0A27B6EF-CF48-4BBF-953A-7EE4A566370F}" type="pres">
      <dgm:prSet presAssocID="{266A6DEA-77CA-4FE9-9C61-7E41C3BC8D80}" presName="sibTrans" presStyleCnt="0"/>
      <dgm:spPr/>
    </dgm:pt>
    <dgm:pt modelId="{05996793-D6DC-4A28-BA68-443CC22A3770}" type="pres">
      <dgm:prSet presAssocID="{D8A43CD6-D893-4FCA-A8DA-853523038D9C}" presName="compNode" presStyleCnt="0"/>
      <dgm:spPr/>
    </dgm:pt>
    <dgm:pt modelId="{E5F62A62-386E-45C9-8CB7-76CEF6119FF2}" type="pres">
      <dgm:prSet presAssocID="{D8A43CD6-D893-4FCA-A8DA-853523038D9C}" presName="bgRect" presStyleLbl="bgShp" presStyleIdx="1" presStyleCnt="2"/>
      <dgm:spPr/>
    </dgm:pt>
    <dgm:pt modelId="{08B36DF7-7E23-4C06-9007-EEDFF7499413}" type="pres">
      <dgm:prSet presAssocID="{D8A43CD6-D893-4FCA-A8DA-853523038D9C}"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C27FD3AB-1897-4A47-B9DA-98D86CD461CD}" type="pres">
      <dgm:prSet presAssocID="{D8A43CD6-D893-4FCA-A8DA-853523038D9C}" presName="spaceRect" presStyleCnt="0"/>
      <dgm:spPr/>
    </dgm:pt>
    <dgm:pt modelId="{0EEB1F4B-907E-4C03-BB0A-DB6CC81730DB}" type="pres">
      <dgm:prSet presAssocID="{D8A43CD6-D893-4FCA-A8DA-853523038D9C}" presName="parTx" presStyleLbl="revTx" presStyleIdx="1" presStyleCnt="2">
        <dgm:presLayoutVars>
          <dgm:chMax val="0"/>
          <dgm:chPref val="0"/>
        </dgm:presLayoutVars>
      </dgm:prSet>
      <dgm:spPr/>
    </dgm:pt>
  </dgm:ptLst>
  <dgm:cxnLst>
    <dgm:cxn modelId="{2403EF0C-1B44-4760-AEEE-593A1650E1A8}" type="presOf" srcId="{D8A43CD6-D893-4FCA-A8DA-853523038D9C}" destId="{0EEB1F4B-907E-4C03-BB0A-DB6CC81730DB}" srcOrd="0" destOrd="0" presId="urn:microsoft.com/office/officeart/2018/2/layout/IconVerticalSolidList"/>
    <dgm:cxn modelId="{07100735-026F-4546-A4A6-7B4D443307E8}" srcId="{31CBDDA7-9336-43E5-A0CE-8B83870592E5}" destId="{D8A43CD6-D893-4FCA-A8DA-853523038D9C}" srcOrd="1" destOrd="0" parTransId="{D5ECB216-AA00-4ADF-B09F-B72304A2B884}" sibTransId="{8F9AFCAB-A491-4401-9131-B894845B9772}"/>
    <dgm:cxn modelId="{C026EB3F-2DFF-42BD-901E-7FBB24850C0E}" type="presOf" srcId="{31CBDDA7-9336-43E5-A0CE-8B83870592E5}" destId="{C79D9EC1-FEC9-4543-9889-897CC0F5A849}" srcOrd="0" destOrd="0" presId="urn:microsoft.com/office/officeart/2018/2/layout/IconVerticalSolidList"/>
    <dgm:cxn modelId="{B30F16A2-40E5-4840-9B84-840D9298B78A}" srcId="{31CBDDA7-9336-43E5-A0CE-8B83870592E5}" destId="{44D29C20-CEA5-4387-8542-A31255D86AB7}" srcOrd="0" destOrd="0" parTransId="{40E13299-93A6-4271-8A2B-F0874880609A}" sibTransId="{266A6DEA-77CA-4FE9-9C61-7E41C3BC8D80}"/>
    <dgm:cxn modelId="{513A25F8-2B04-4878-9C60-FF970C3D891A}" type="presOf" srcId="{44D29C20-CEA5-4387-8542-A31255D86AB7}" destId="{986455B2-FC41-4AC4-82F0-E2F3E8F8A0ED}" srcOrd="0" destOrd="0" presId="urn:microsoft.com/office/officeart/2018/2/layout/IconVerticalSolidList"/>
    <dgm:cxn modelId="{2C02DBA0-7962-4634-8F32-A2791A45B181}" type="presParOf" srcId="{C79D9EC1-FEC9-4543-9889-897CC0F5A849}" destId="{DF12E04E-2D28-4B00-90E2-1C4247FCDAF9}" srcOrd="0" destOrd="0" presId="urn:microsoft.com/office/officeart/2018/2/layout/IconVerticalSolidList"/>
    <dgm:cxn modelId="{9A142681-FD81-432D-89CF-2697C85A14E2}" type="presParOf" srcId="{DF12E04E-2D28-4B00-90E2-1C4247FCDAF9}" destId="{4B9D6A19-F047-4D43-8ECE-1C5A897AABFD}" srcOrd="0" destOrd="0" presId="urn:microsoft.com/office/officeart/2018/2/layout/IconVerticalSolidList"/>
    <dgm:cxn modelId="{04B332D3-63DA-4AE1-92D8-18CE646E5B67}" type="presParOf" srcId="{DF12E04E-2D28-4B00-90E2-1C4247FCDAF9}" destId="{459496EB-3670-4D05-A4E0-E2ACA43F8506}" srcOrd="1" destOrd="0" presId="urn:microsoft.com/office/officeart/2018/2/layout/IconVerticalSolidList"/>
    <dgm:cxn modelId="{80AFF763-BE3D-4874-A9CD-5C84C0B9A569}" type="presParOf" srcId="{DF12E04E-2D28-4B00-90E2-1C4247FCDAF9}" destId="{F9F856B7-59B5-430C-8EE7-0A09E8060B63}" srcOrd="2" destOrd="0" presId="urn:microsoft.com/office/officeart/2018/2/layout/IconVerticalSolidList"/>
    <dgm:cxn modelId="{7376B90A-581E-456C-8E8F-AF557DB1DCED}" type="presParOf" srcId="{DF12E04E-2D28-4B00-90E2-1C4247FCDAF9}" destId="{986455B2-FC41-4AC4-82F0-E2F3E8F8A0ED}" srcOrd="3" destOrd="0" presId="urn:microsoft.com/office/officeart/2018/2/layout/IconVerticalSolidList"/>
    <dgm:cxn modelId="{ED14A357-87DB-48AB-A846-E19652267BD1}" type="presParOf" srcId="{C79D9EC1-FEC9-4543-9889-897CC0F5A849}" destId="{0A27B6EF-CF48-4BBF-953A-7EE4A566370F}" srcOrd="1" destOrd="0" presId="urn:microsoft.com/office/officeart/2018/2/layout/IconVerticalSolidList"/>
    <dgm:cxn modelId="{11B75102-9361-4AE7-B064-4C7D1493CF5C}" type="presParOf" srcId="{C79D9EC1-FEC9-4543-9889-897CC0F5A849}" destId="{05996793-D6DC-4A28-BA68-443CC22A3770}" srcOrd="2" destOrd="0" presId="urn:microsoft.com/office/officeart/2018/2/layout/IconVerticalSolidList"/>
    <dgm:cxn modelId="{AFB37DD8-DE1C-43EE-9096-B863CECE6A7F}" type="presParOf" srcId="{05996793-D6DC-4A28-BA68-443CC22A3770}" destId="{E5F62A62-386E-45C9-8CB7-76CEF6119FF2}" srcOrd="0" destOrd="0" presId="urn:microsoft.com/office/officeart/2018/2/layout/IconVerticalSolidList"/>
    <dgm:cxn modelId="{9848F20B-E816-4A3F-B62E-43F118D6D091}" type="presParOf" srcId="{05996793-D6DC-4A28-BA68-443CC22A3770}" destId="{08B36DF7-7E23-4C06-9007-EEDFF7499413}" srcOrd="1" destOrd="0" presId="urn:microsoft.com/office/officeart/2018/2/layout/IconVerticalSolidList"/>
    <dgm:cxn modelId="{EDBDFB4A-24DC-4417-9935-68749C68AC91}" type="presParOf" srcId="{05996793-D6DC-4A28-BA68-443CC22A3770}" destId="{C27FD3AB-1897-4A47-B9DA-98D86CD461CD}" srcOrd="2" destOrd="0" presId="urn:microsoft.com/office/officeart/2018/2/layout/IconVerticalSolidList"/>
    <dgm:cxn modelId="{80E2FA88-898E-4572-A7CA-7BF19497905E}" type="presParOf" srcId="{05996793-D6DC-4A28-BA68-443CC22A3770}" destId="{0EEB1F4B-907E-4C03-BB0A-DB6CC81730D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0D55BE-6A38-40C8-A029-42B1AE6BEC1B}"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FC9E0FBA-2E0B-4173-882E-94DC7B3576E9}">
      <dgm:prSet/>
      <dgm:spPr/>
      <dgm:t>
        <a:bodyPr/>
        <a:lstStyle/>
        <a:p>
          <a:pPr>
            <a:lnSpc>
              <a:spcPct val="100000"/>
            </a:lnSpc>
          </a:pPr>
          <a:r>
            <a:rPr lang="en-US" b="1" dirty="0"/>
            <a:t>Production Data: </a:t>
          </a:r>
          <a:r>
            <a:rPr lang="en-US" dirty="0"/>
            <a:t>341,529 jobs · 11 years · 34 clusters</a:t>
          </a:r>
        </a:p>
      </dgm:t>
    </dgm:pt>
    <dgm:pt modelId="{99C43A55-EE9C-401B-A153-0B8443D51170}" type="parTrans" cxnId="{AFB85376-4001-43E6-B586-243B0C828437}">
      <dgm:prSet/>
      <dgm:spPr/>
      <dgm:t>
        <a:bodyPr/>
        <a:lstStyle/>
        <a:p>
          <a:endParaRPr lang="en-US"/>
        </a:p>
      </dgm:t>
    </dgm:pt>
    <dgm:pt modelId="{3A002357-7119-4227-996A-7177A299B80D}" type="sibTrans" cxnId="{AFB85376-4001-43E6-B586-243B0C828437}">
      <dgm:prSet/>
      <dgm:spPr/>
      <dgm:t>
        <a:bodyPr/>
        <a:lstStyle/>
        <a:p>
          <a:pPr>
            <a:lnSpc>
              <a:spcPct val="100000"/>
            </a:lnSpc>
          </a:pPr>
          <a:endParaRPr lang="en-US"/>
        </a:p>
      </dgm:t>
    </dgm:pt>
    <dgm:pt modelId="{1725FCE6-B656-4933-A6DC-8F29601AB133}">
      <dgm:prSet/>
      <dgm:spPr/>
      <dgm:t>
        <a:bodyPr/>
        <a:lstStyle/>
        <a:p>
          <a:pPr>
            <a:lnSpc>
              <a:spcPct val="100000"/>
            </a:lnSpc>
          </a:pPr>
          <a:r>
            <a:rPr lang="en-US" b="1" dirty="0"/>
            <a:t>Features: </a:t>
          </a:r>
          <a:r>
            <a:rPr lang="en-US" dirty="0"/>
            <a:t>grid dimensions, radial/angular resolution, scan counts, iteration limits, cluster identifier</a:t>
          </a:r>
        </a:p>
      </dgm:t>
    </dgm:pt>
    <dgm:pt modelId="{F156441A-5A1A-45C0-AB62-5361784F6FE3}" type="parTrans" cxnId="{2D7C7CC7-37D0-4DE3-99C5-C93D167C1BB2}">
      <dgm:prSet/>
      <dgm:spPr/>
      <dgm:t>
        <a:bodyPr/>
        <a:lstStyle/>
        <a:p>
          <a:endParaRPr lang="en-US"/>
        </a:p>
      </dgm:t>
    </dgm:pt>
    <dgm:pt modelId="{A34112F5-2E22-48DB-AA5A-90B6F2E08525}" type="sibTrans" cxnId="{2D7C7CC7-37D0-4DE3-99C5-C93D167C1BB2}">
      <dgm:prSet/>
      <dgm:spPr/>
      <dgm:t>
        <a:bodyPr/>
        <a:lstStyle/>
        <a:p>
          <a:endParaRPr lang="en-US"/>
        </a:p>
      </dgm:t>
    </dgm:pt>
    <dgm:pt modelId="{69769AA5-6C0D-DE4B-8A72-AF3D4633DC57}">
      <dgm:prSet phldrT="[Text]"/>
      <dgm:spPr/>
      <dgm:t>
        <a:bodyPr/>
        <a:lstStyle/>
        <a:p>
          <a:pPr>
            <a:lnSpc>
              <a:spcPct val="100000"/>
            </a:lnSpc>
          </a:pPr>
          <a:r>
            <a:rPr lang="en-US" b="1" dirty="0"/>
            <a:t>Targets: </a:t>
          </a:r>
          <a:r>
            <a:rPr lang="en-US" b="0" dirty="0" err="1"/>
            <a:t>CPUTime</a:t>
          </a:r>
          <a:r>
            <a:rPr lang="en-US" b="0" dirty="0"/>
            <a:t> (CPU-seconds summed over cores) and </a:t>
          </a:r>
          <a:r>
            <a:rPr lang="en-US" b="0" dirty="0" err="1"/>
            <a:t>maxRSS</a:t>
          </a:r>
          <a:r>
            <a:rPr lang="en-US" b="0" dirty="0"/>
            <a:t> (peak resident memory), modeled separately</a:t>
          </a:r>
          <a:endParaRPr lang="en-US" dirty="0"/>
        </a:p>
      </dgm:t>
    </dgm:pt>
    <dgm:pt modelId="{8BDA98C3-3647-544E-A33D-2D295CC4C7F0}" type="parTrans" cxnId="{2DD6229F-A780-A344-9F1D-D3D4FED7313A}">
      <dgm:prSet/>
      <dgm:spPr/>
      <dgm:t>
        <a:bodyPr/>
        <a:lstStyle/>
        <a:p>
          <a:endParaRPr lang="en-US"/>
        </a:p>
      </dgm:t>
    </dgm:pt>
    <dgm:pt modelId="{55752DDC-1B12-AB4E-84CD-3E7EE57E6217}" type="sibTrans" cxnId="{2DD6229F-A780-A344-9F1D-D3D4FED7313A}">
      <dgm:prSet/>
      <dgm:spPr/>
      <dgm:t>
        <a:bodyPr/>
        <a:lstStyle/>
        <a:p>
          <a:pPr>
            <a:lnSpc>
              <a:spcPct val="100000"/>
            </a:lnSpc>
          </a:pPr>
          <a:endParaRPr lang="en-US"/>
        </a:p>
      </dgm:t>
    </dgm:pt>
    <dgm:pt modelId="{8A9458EA-67C5-804A-984F-5F4C4F31D370}">
      <dgm:prSet phldrT="[Text]"/>
      <dgm:spPr/>
      <dgm:t>
        <a:bodyPr/>
        <a:lstStyle/>
        <a:p>
          <a:pPr>
            <a:lnSpc>
              <a:spcPct val="100000"/>
            </a:lnSpc>
          </a:pPr>
          <a:r>
            <a:rPr lang="en-US" b="1" dirty="0"/>
            <a:t>Models: </a:t>
          </a:r>
          <a:r>
            <a:rPr lang="en-US" b="0" dirty="0"/>
            <a:t>small feed-forward multilayer </a:t>
          </a:r>
          <a:r>
            <a:rPr lang="en-US" b="0" dirty="0" err="1"/>
            <a:t>perceptrons</a:t>
          </a:r>
          <a:r>
            <a:rPr lang="en-US" b="0" dirty="0"/>
            <a:t>, 64×32 to 128×64. Architecture is not the variable under study.</a:t>
          </a:r>
          <a:endParaRPr lang="en-US" dirty="0"/>
        </a:p>
      </dgm:t>
    </dgm:pt>
    <dgm:pt modelId="{D93DAD63-4866-0046-B613-584C85BC83CA}" type="parTrans" cxnId="{BB32E5FF-B13A-584E-AA1F-585687362747}">
      <dgm:prSet/>
      <dgm:spPr/>
      <dgm:t>
        <a:bodyPr/>
        <a:lstStyle/>
        <a:p>
          <a:endParaRPr lang="en-US"/>
        </a:p>
      </dgm:t>
    </dgm:pt>
    <dgm:pt modelId="{521E3834-9695-4E4B-B6BB-D58AE962D9D4}" type="sibTrans" cxnId="{BB32E5FF-B13A-584E-AA1F-585687362747}">
      <dgm:prSet/>
      <dgm:spPr/>
      <dgm:t>
        <a:bodyPr/>
        <a:lstStyle/>
        <a:p>
          <a:pPr>
            <a:lnSpc>
              <a:spcPct val="100000"/>
            </a:lnSpc>
          </a:pPr>
          <a:endParaRPr lang="en-US"/>
        </a:p>
      </dgm:t>
    </dgm:pt>
    <dgm:pt modelId="{A30E881F-9587-4ED7-ABF5-2391F5C802B3}" type="pres">
      <dgm:prSet presAssocID="{6E0D55BE-6A38-40C8-A029-42B1AE6BEC1B}" presName="root" presStyleCnt="0">
        <dgm:presLayoutVars>
          <dgm:dir/>
          <dgm:resizeHandles val="exact"/>
        </dgm:presLayoutVars>
      </dgm:prSet>
      <dgm:spPr/>
    </dgm:pt>
    <dgm:pt modelId="{E22F1844-B220-486D-8185-36F95E17B23A}" type="pres">
      <dgm:prSet presAssocID="{6E0D55BE-6A38-40C8-A029-42B1AE6BEC1B}" presName="container" presStyleCnt="0">
        <dgm:presLayoutVars>
          <dgm:dir/>
          <dgm:resizeHandles val="exact"/>
        </dgm:presLayoutVars>
      </dgm:prSet>
      <dgm:spPr/>
    </dgm:pt>
    <dgm:pt modelId="{664BB182-08F0-4210-9FDC-960D5DBACA79}" type="pres">
      <dgm:prSet presAssocID="{FC9E0FBA-2E0B-4173-882E-94DC7B3576E9}" presName="compNode" presStyleCnt="0"/>
      <dgm:spPr/>
    </dgm:pt>
    <dgm:pt modelId="{4DB38127-EBED-4AD9-934A-B1D0C307DEE1}" type="pres">
      <dgm:prSet presAssocID="{FC9E0FBA-2E0B-4173-882E-94DC7B3576E9}" presName="iconBgRect" presStyleLbl="bgShp" presStyleIdx="0" presStyleCnt="4"/>
      <dgm:spPr/>
    </dgm:pt>
    <dgm:pt modelId="{A1D42FE9-BDF3-4B06-BDA1-E4490E3296DD}" type="pres">
      <dgm:prSet presAssocID="{FC9E0FBA-2E0B-4173-882E-94DC7B3576E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hooting star"/>
        </a:ext>
      </dgm:extLst>
    </dgm:pt>
    <dgm:pt modelId="{49332EF6-C00D-49A9-BD97-2F87564D1CDE}" type="pres">
      <dgm:prSet presAssocID="{FC9E0FBA-2E0B-4173-882E-94DC7B3576E9}" presName="spaceRect" presStyleCnt="0"/>
      <dgm:spPr/>
    </dgm:pt>
    <dgm:pt modelId="{C1133662-8FD1-40EE-9D4A-A322A18D65B6}" type="pres">
      <dgm:prSet presAssocID="{FC9E0FBA-2E0B-4173-882E-94DC7B3576E9}" presName="textRect" presStyleLbl="revTx" presStyleIdx="0" presStyleCnt="4">
        <dgm:presLayoutVars>
          <dgm:chMax val="1"/>
          <dgm:chPref val="1"/>
        </dgm:presLayoutVars>
      </dgm:prSet>
      <dgm:spPr/>
    </dgm:pt>
    <dgm:pt modelId="{70416455-2033-440E-ACB1-8C9DEBD2B08F}" type="pres">
      <dgm:prSet presAssocID="{3A002357-7119-4227-996A-7177A299B80D}" presName="sibTrans" presStyleLbl="sibTrans2D1" presStyleIdx="0" presStyleCnt="0"/>
      <dgm:spPr/>
    </dgm:pt>
    <dgm:pt modelId="{687897F9-4479-47B9-B517-F24689D8D93C}" type="pres">
      <dgm:prSet presAssocID="{69769AA5-6C0D-DE4B-8A72-AF3D4633DC57}" presName="compNode" presStyleCnt="0"/>
      <dgm:spPr/>
    </dgm:pt>
    <dgm:pt modelId="{01B3CD0F-1617-45D2-8BAA-46CF5E587027}" type="pres">
      <dgm:prSet presAssocID="{69769AA5-6C0D-DE4B-8A72-AF3D4633DC57}" presName="iconBgRect" presStyleLbl="bgShp" presStyleIdx="1" presStyleCnt="4"/>
      <dgm:spPr/>
    </dgm:pt>
    <dgm:pt modelId="{E1EDCD02-E03F-4033-9CF7-8FCBF35A8A41}" type="pres">
      <dgm:prSet presAssocID="{69769AA5-6C0D-DE4B-8A72-AF3D4633DC5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rawing Compass"/>
        </a:ext>
      </dgm:extLst>
    </dgm:pt>
    <dgm:pt modelId="{39F4DB3C-0298-4F53-AC54-E26750F17DAF}" type="pres">
      <dgm:prSet presAssocID="{69769AA5-6C0D-DE4B-8A72-AF3D4633DC57}" presName="spaceRect" presStyleCnt="0"/>
      <dgm:spPr/>
    </dgm:pt>
    <dgm:pt modelId="{924866A6-D1ED-4D9D-A880-3C6B4B6B0A53}" type="pres">
      <dgm:prSet presAssocID="{69769AA5-6C0D-DE4B-8A72-AF3D4633DC57}" presName="textRect" presStyleLbl="revTx" presStyleIdx="1" presStyleCnt="4">
        <dgm:presLayoutVars>
          <dgm:chMax val="1"/>
          <dgm:chPref val="1"/>
        </dgm:presLayoutVars>
      </dgm:prSet>
      <dgm:spPr/>
    </dgm:pt>
    <dgm:pt modelId="{AD9AA7A1-404C-4BF6-83BF-4C095CAEEED5}" type="pres">
      <dgm:prSet presAssocID="{55752DDC-1B12-AB4E-84CD-3E7EE57E6217}" presName="sibTrans" presStyleLbl="sibTrans2D1" presStyleIdx="0" presStyleCnt="0"/>
      <dgm:spPr/>
    </dgm:pt>
    <dgm:pt modelId="{8014CDD3-5C0D-4D37-8076-D730E8C1FE3B}" type="pres">
      <dgm:prSet presAssocID="{8A9458EA-67C5-804A-984F-5F4C4F31D370}" presName="compNode" presStyleCnt="0"/>
      <dgm:spPr/>
    </dgm:pt>
    <dgm:pt modelId="{EDEEDAE5-1EA6-469A-B58D-034A81E2C328}" type="pres">
      <dgm:prSet presAssocID="{8A9458EA-67C5-804A-984F-5F4C4F31D370}" presName="iconBgRect" presStyleLbl="bgShp" presStyleIdx="2" presStyleCnt="4"/>
      <dgm:spPr/>
    </dgm:pt>
    <dgm:pt modelId="{3E29D9DB-8DA3-4049-BED2-7EAFE9826621}" type="pres">
      <dgm:prSet presAssocID="{8A9458EA-67C5-804A-984F-5F4C4F31D37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DE91A9BD-FE89-4E67-A1D3-7A77DA72974C}" type="pres">
      <dgm:prSet presAssocID="{8A9458EA-67C5-804A-984F-5F4C4F31D370}" presName="spaceRect" presStyleCnt="0"/>
      <dgm:spPr/>
    </dgm:pt>
    <dgm:pt modelId="{33779A04-AB00-4516-AB64-6ECE0FD571A3}" type="pres">
      <dgm:prSet presAssocID="{8A9458EA-67C5-804A-984F-5F4C4F31D370}" presName="textRect" presStyleLbl="revTx" presStyleIdx="2" presStyleCnt="4">
        <dgm:presLayoutVars>
          <dgm:chMax val="1"/>
          <dgm:chPref val="1"/>
        </dgm:presLayoutVars>
      </dgm:prSet>
      <dgm:spPr/>
    </dgm:pt>
    <dgm:pt modelId="{45D0B0D3-E19A-42BC-9A3E-BF667A9B7EAC}" type="pres">
      <dgm:prSet presAssocID="{521E3834-9695-4E4B-B6BB-D58AE962D9D4}" presName="sibTrans" presStyleLbl="sibTrans2D1" presStyleIdx="0" presStyleCnt="0"/>
      <dgm:spPr/>
    </dgm:pt>
    <dgm:pt modelId="{5C49DDE1-DD28-4DD3-88E3-7A081341AB71}" type="pres">
      <dgm:prSet presAssocID="{1725FCE6-B656-4933-A6DC-8F29601AB133}" presName="compNode" presStyleCnt="0"/>
      <dgm:spPr/>
    </dgm:pt>
    <dgm:pt modelId="{A5625E7A-89F1-4297-B24F-559C5A44EA1B}" type="pres">
      <dgm:prSet presAssocID="{1725FCE6-B656-4933-A6DC-8F29601AB133}" presName="iconBgRect" presStyleLbl="bgShp" presStyleIdx="3" presStyleCnt="4"/>
      <dgm:spPr/>
    </dgm:pt>
    <dgm:pt modelId="{E307806A-1BB7-4CE9-AB4B-E628E12D66F3}" type="pres">
      <dgm:prSet presAssocID="{1725FCE6-B656-4933-A6DC-8F29601AB13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305AB5FE-CBB2-481C-A403-987BA4393F54}" type="pres">
      <dgm:prSet presAssocID="{1725FCE6-B656-4933-A6DC-8F29601AB133}" presName="spaceRect" presStyleCnt="0"/>
      <dgm:spPr/>
    </dgm:pt>
    <dgm:pt modelId="{39819B48-FB2A-42E7-963D-259AE1080A06}" type="pres">
      <dgm:prSet presAssocID="{1725FCE6-B656-4933-A6DC-8F29601AB133}" presName="textRect" presStyleLbl="revTx" presStyleIdx="3" presStyleCnt="4">
        <dgm:presLayoutVars>
          <dgm:chMax val="1"/>
          <dgm:chPref val="1"/>
        </dgm:presLayoutVars>
      </dgm:prSet>
      <dgm:spPr/>
    </dgm:pt>
  </dgm:ptLst>
  <dgm:cxnLst>
    <dgm:cxn modelId="{10473521-C0D0-1446-A584-192F14DD83C5}" type="presOf" srcId="{8A9458EA-67C5-804A-984F-5F4C4F31D370}" destId="{33779A04-AB00-4516-AB64-6ECE0FD571A3}" srcOrd="0" destOrd="0" presId="urn:microsoft.com/office/officeart/2018/2/layout/IconCircleList"/>
    <dgm:cxn modelId="{D5344240-AA5B-0143-B126-856C65FBBBAA}" type="presOf" srcId="{1725FCE6-B656-4933-A6DC-8F29601AB133}" destId="{39819B48-FB2A-42E7-963D-259AE1080A06}" srcOrd="0" destOrd="0" presId="urn:microsoft.com/office/officeart/2018/2/layout/IconCircleList"/>
    <dgm:cxn modelId="{B6EB2057-CC63-9345-9238-E1D63CF9C6C2}" type="presOf" srcId="{55752DDC-1B12-AB4E-84CD-3E7EE57E6217}" destId="{AD9AA7A1-404C-4BF6-83BF-4C095CAEEED5}" srcOrd="0" destOrd="0" presId="urn:microsoft.com/office/officeart/2018/2/layout/IconCircleList"/>
    <dgm:cxn modelId="{2013156F-2397-FF4D-8326-1A694289DEDB}" type="presOf" srcId="{6E0D55BE-6A38-40C8-A029-42B1AE6BEC1B}" destId="{A30E881F-9587-4ED7-ABF5-2391F5C802B3}" srcOrd="0" destOrd="0" presId="urn:microsoft.com/office/officeart/2018/2/layout/IconCircleList"/>
    <dgm:cxn modelId="{AFB85376-4001-43E6-B586-243B0C828437}" srcId="{6E0D55BE-6A38-40C8-A029-42B1AE6BEC1B}" destId="{FC9E0FBA-2E0B-4173-882E-94DC7B3576E9}" srcOrd="0" destOrd="0" parTransId="{99C43A55-EE9C-401B-A153-0B8443D51170}" sibTransId="{3A002357-7119-4227-996A-7177A299B80D}"/>
    <dgm:cxn modelId="{83FB1F8B-50B6-E040-9CFA-EA31040A314B}" type="presOf" srcId="{69769AA5-6C0D-DE4B-8A72-AF3D4633DC57}" destId="{924866A6-D1ED-4D9D-A880-3C6B4B6B0A53}" srcOrd="0" destOrd="0" presId="urn:microsoft.com/office/officeart/2018/2/layout/IconCircleList"/>
    <dgm:cxn modelId="{B999F28E-7DBF-B248-88BA-9CF330545C7A}" type="presOf" srcId="{521E3834-9695-4E4B-B6BB-D58AE962D9D4}" destId="{45D0B0D3-E19A-42BC-9A3E-BF667A9B7EAC}" srcOrd="0" destOrd="0" presId="urn:microsoft.com/office/officeart/2018/2/layout/IconCircleList"/>
    <dgm:cxn modelId="{788C259B-1F45-3243-ADD2-28572555FEC1}" type="presOf" srcId="{FC9E0FBA-2E0B-4173-882E-94DC7B3576E9}" destId="{C1133662-8FD1-40EE-9D4A-A322A18D65B6}" srcOrd="0" destOrd="0" presId="urn:microsoft.com/office/officeart/2018/2/layout/IconCircleList"/>
    <dgm:cxn modelId="{2DD6229F-A780-A344-9F1D-D3D4FED7313A}" srcId="{6E0D55BE-6A38-40C8-A029-42B1AE6BEC1B}" destId="{69769AA5-6C0D-DE4B-8A72-AF3D4633DC57}" srcOrd="1" destOrd="0" parTransId="{8BDA98C3-3647-544E-A33D-2D295CC4C7F0}" sibTransId="{55752DDC-1B12-AB4E-84CD-3E7EE57E6217}"/>
    <dgm:cxn modelId="{8F6BA2C3-F554-F648-847A-F3A526FC7421}" type="presOf" srcId="{3A002357-7119-4227-996A-7177A299B80D}" destId="{70416455-2033-440E-ACB1-8C9DEBD2B08F}" srcOrd="0" destOrd="0" presId="urn:microsoft.com/office/officeart/2018/2/layout/IconCircleList"/>
    <dgm:cxn modelId="{2D7C7CC7-37D0-4DE3-99C5-C93D167C1BB2}" srcId="{6E0D55BE-6A38-40C8-A029-42B1AE6BEC1B}" destId="{1725FCE6-B656-4933-A6DC-8F29601AB133}" srcOrd="3" destOrd="0" parTransId="{F156441A-5A1A-45C0-AB62-5361784F6FE3}" sibTransId="{A34112F5-2E22-48DB-AA5A-90B6F2E08525}"/>
    <dgm:cxn modelId="{BB32E5FF-B13A-584E-AA1F-585687362747}" srcId="{6E0D55BE-6A38-40C8-A029-42B1AE6BEC1B}" destId="{8A9458EA-67C5-804A-984F-5F4C4F31D370}" srcOrd="2" destOrd="0" parTransId="{D93DAD63-4866-0046-B613-584C85BC83CA}" sibTransId="{521E3834-9695-4E4B-B6BB-D58AE962D9D4}"/>
    <dgm:cxn modelId="{406526F2-74D5-A84A-84C7-C061CA46288D}" type="presParOf" srcId="{A30E881F-9587-4ED7-ABF5-2391F5C802B3}" destId="{E22F1844-B220-486D-8185-36F95E17B23A}" srcOrd="0" destOrd="0" presId="urn:microsoft.com/office/officeart/2018/2/layout/IconCircleList"/>
    <dgm:cxn modelId="{E7AC9F77-C94E-6C40-A4FF-5EB4BC808276}" type="presParOf" srcId="{E22F1844-B220-486D-8185-36F95E17B23A}" destId="{664BB182-08F0-4210-9FDC-960D5DBACA79}" srcOrd="0" destOrd="0" presId="urn:microsoft.com/office/officeart/2018/2/layout/IconCircleList"/>
    <dgm:cxn modelId="{BB90CEF3-093E-D246-BAA3-36F5504A0D91}" type="presParOf" srcId="{664BB182-08F0-4210-9FDC-960D5DBACA79}" destId="{4DB38127-EBED-4AD9-934A-B1D0C307DEE1}" srcOrd="0" destOrd="0" presId="urn:microsoft.com/office/officeart/2018/2/layout/IconCircleList"/>
    <dgm:cxn modelId="{D11B1E36-66D5-9546-9A60-412D341660C0}" type="presParOf" srcId="{664BB182-08F0-4210-9FDC-960D5DBACA79}" destId="{A1D42FE9-BDF3-4B06-BDA1-E4490E3296DD}" srcOrd="1" destOrd="0" presId="urn:microsoft.com/office/officeart/2018/2/layout/IconCircleList"/>
    <dgm:cxn modelId="{F201D2C2-02BA-4348-9F35-2DDB33CBDA9E}" type="presParOf" srcId="{664BB182-08F0-4210-9FDC-960D5DBACA79}" destId="{49332EF6-C00D-49A9-BD97-2F87564D1CDE}" srcOrd="2" destOrd="0" presId="urn:microsoft.com/office/officeart/2018/2/layout/IconCircleList"/>
    <dgm:cxn modelId="{272D8FD1-46F0-1F4B-AA67-6AE3426BEC13}" type="presParOf" srcId="{664BB182-08F0-4210-9FDC-960D5DBACA79}" destId="{C1133662-8FD1-40EE-9D4A-A322A18D65B6}" srcOrd="3" destOrd="0" presId="urn:microsoft.com/office/officeart/2018/2/layout/IconCircleList"/>
    <dgm:cxn modelId="{5DF3307F-6790-7143-8F2A-F3830B34AB90}" type="presParOf" srcId="{E22F1844-B220-486D-8185-36F95E17B23A}" destId="{70416455-2033-440E-ACB1-8C9DEBD2B08F}" srcOrd="1" destOrd="0" presId="urn:microsoft.com/office/officeart/2018/2/layout/IconCircleList"/>
    <dgm:cxn modelId="{81CF0297-164D-5646-88CC-CA694CFC4E6A}" type="presParOf" srcId="{E22F1844-B220-486D-8185-36F95E17B23A}" destId="{687897F9-4479-47B9-B517-F24689D8D93C}" srcOrd="2" destOrd="0" presId="urn:microsoft.com/office/officeart/2018/2/layout/IconCircleList"/>
    <dgm:cxn modelId="{04697B8E-D913-7B48-9AE6-C102FC1C2D72}" type="presParOf" srcId="{687897F9-4479-47B9-B517-F24689D8D93C}" destId="{01B3CD0F-1617-45D2-8BAA-46CF5E587027}" srcOrd="0" destOrd="0" presId="urn:microsoft.com/office/officeart/2018/2/layout/IconCircleList"/>
    <dgm:cxn modelId="{A29E6C87-F235-E945-9069-6ED61C027FD9}" type="presParOf" srcId="{687897F9-4479-47B9-B517-F24689D8D93C}" destId="{E1EDCD02-E03F-4033-9CF7-8FCBF35A8A41}" srcOrd="1" destOrd="0" presId="urn:microsoft.com/office/officeart/2018/2/layout/IconCircleList"/>
    <dgm:cxn modelId="{BC5955A0-12A1-5348-ACE8-91CF4A053468}" type="presParOf" srcId="{687897F9-4479-47B9-B517-F24689D8D93C}" destId="{39F4DB3C-0298-4F53-AC54-E26750F17DAF}" srcOrd="2" destOrd="0" presId="urn:microsoft.com/office/officeart/2018/2/layout/IconCircleList"/>
    <dgm:cxn modelId="{DAD4EF49-C433-E048-92E4-7F97C876B5A9}" type="presParOf" srcId="{687897F9-4479-47B9-B517-F24689D8D93C}" destId="{924866A6-D1ED-4D9D-A880-3C6B4B6B0A53}" srcOrd="3" destOrd="0" presId="urn:microsoft.com/office/officeart/2018/2/layout/IconCircleList"/>
    <dgm:cxn modelId="{26844AF9-6092-ED4D-86F5-B4B4F5C9179F}" type="presParOf" srcId="{E22F1844-B220-486D-8185-36F95E17B23A}" destId="{AD9AA7A1-404C-4BF6-83BF-4C095CAEEED5}" srcOrd="3" destOrd="0" presId="urn:microsoft.com/office/officeart/2018/2/layout/IconCircleList"/>
    <dgm:cxn modelId="{C47405CA-6C28-4645-B3D3-B707766B19F8}" type="presParOf" srcId="{E22F1844-B220-486D-8185-36F95E17B23A}" destId="{8014CDD3-5C0D-4D37-8076-D730E8C1FE3B}" srcOrd="4" destOrd="0" presId="urn:microsoft.com/office/officeart/2018/2/layout/IconCircleList"/>
    <dgm:cxn modelId="{3E074236-008E-AB49-A04A-5B81B5BD73C6}" type="presParOf" srcId="{8014CDD3-5C0D-4D37-8076-D730E8C1FE3B}" destId="{EDEEDAE5-1EA6-469A-B58D-034A81E2C328}" srcOrd="0" destOrd="0" presId="urn:microsoft.com/office/officeart/2018/2/layout/IconCircleList"/>
    <dgm:cxn modelId="{CE1401C9-3608-1743-B4D8-9267F5C4CEB3}" type="presParOf" srcId="{8014CDD3-5C0D-4D37-8076-D730E8C1FE3B}" destId="{3E29D9DB-8DA3-4049-BED2-7EAFE9826621}" srcOrd="1" destOrd="0" presId="urn:microsoft.com/office/officeart/2018/2/layout/IconCircleList"/>
    <dgm:cxn modelId="{5E6E59A7-E408-814B-9687-06E94AF98166}" type="presParOf" srcId="{8014CDD3-5C0D-4D37-8076-D730E8C1FE3B}" destId="{DE91A9BD-FE89-4E67-A1D3-7A77DA72974C}" srcOrd="2" destOrd="0" presId="urn:microsoft.com/office/officeart/2018/2/layout/IconCircleList"/>
    <dgm:cxn modelId="{BEF8422D-ACA0-E249-95D4-75F94055FA13}" type="presParOf" srcId="{8014CDD3-5C0D-4D37-8076-D730E8C1FE3B}" destId="{33779A04-AB00-4516-AB64-6ECE0FD571A3}" srcOrd="3" destOrd="0" presId="urn:microsoft.com/office/officeart/2018/2/layout/IconCircleList"/>
    <dgm:cxn modelId="{83439AA4-D280-B84F-86C0-1352AB41F341}" type="presParOf" srcId="{E22F1844-B220-486D-8185-36F95E17B23A}" destId="{45D0B0D3-E19A-42BC-9A3E-BF667A9B7EAC}" srcOrd="5" destOrd="0" presId="urn:microsoft.com/office/officeart/2018/2/layout/IconCircleList"/>
    <dgm:cxn modelId="{5AFAEE3C-7FF5-6744-9890-3F4CEBC65A64}" type="presParOf" srcId="{E22F1844-B220-486D-8185-36F95E17B23A}" destId="{5C49DDE1-DD28-4DD3-88E3-7A081341AB71}" srcOrd="6" destOrd="0" presId="urn:microsoft.com/office/officeart/2018/2/layout/IconCircleList"/>
    <dgm:cxn modelId="{3CA15C83-63DE-B746-990C-D87E922D9807}" type="presParOf" srcId="{5C49DDE1-DD28-4DD3-88E3-7A081341AB71}" destId="{A5625E7A-89F1-4297-B24F-559C5A44EA1B}" srcOrd="0" destOrd="0" presId="urn:microsoft.com/office/officeart/2018/2/layout/IconCircleList"/>
    <dgm:cxn modelId="{7A24F221-8AEB-5745-811A-F32D293D6F64}" type="presParOf" srcId="{5C49DDE1-DD28-4DD3-88E3-7A081341AB71}" destId="{E307806A-1BB7-4CE9-AB4B-E628E12D66F3}" srcOrd="1" destOrd="0" presId="urn:microsoft.com/office/officeart/2018/2/layout/IconCircleList"/>
    <dgm:cxn modelId="{C35B47E0-74B7-954C-A823-E4E4A24F1AC7}" type="presParOf" srcId="{5C49DDE1-DD28-4DD3-88E3-7A081341AB71}" destId="{305AB5FE-CBB2-481C-A403-987BA4393F54}" srcOrd="2" destOrd="0" presId="urn:microsoft.com/office/officeart/2018/2/layout/IconCircleList"/>
    <dgm:cxn modelId="{25B36EE7-2923-E843-BF70-4F78D94BF62D}" type="presParOf" srcId="{5C49DDE1-DD28-4DD3-88E3-7A081341AB71}" destId="{39819B48-FB2A-42E7-963D-259AE1080A0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9D6A19-F047-4D43-8ECE-1C5A897AABFD}">
      <dsp:nvSpPr>
        <dsp:cNvPr id="0" name=""/>
        <dsp:cNvSpPr/>
      </dsp:nvSpPr>
      <dsp:spPr>
        <a:xfrm>
          <a:off x="0" y="380742"/>
          <a:ext cx="10515600" cy="16317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9496EB-3670-4D05-A4E0-E2ACA43F8506}">
      <dsp:nvSpPr>
        <dsp:cNvPr id="0" name=""/>
        <dsp:cNvSpPr/>
      </dsp:nvSpPr>
      <dsp:spPr>
        <a:xfrm>
          <a:off x="493604" y="747886"/>
          <a:ext cx="897463" cy="8974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6455B2-FC41-4AC4-82F0-E2F3E8F8A0ED}">
      <dsp:nvSpPr>
        <dsp:cNvPr id="0" name=""/>
        <dsp:cNvSpPr/>
      </dsp:nvSpPr>
      <dsp:spPr>
        <a:xfrm>
          <a:off x="1884673" y="380742"/>
          <a:ext cx="8630926" cy="16317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694" tIns="172694" rIns="172694" bIns="172694" numCol="1" spcCol="1270" anchor="ctr" anchorCtr="0">
          <a:noAutofit/>
        </a:bodyPr>
        <a:lstStyle/>
        <a:p>
          <a:pPr marL="0" lvl="0" indent="0" algn="l" defTabSz="889000">
            <a:lnSpc>
              <a:spcPct val="90000"/>
            </a:lnSpc>
            <a:spcBef>
              <a:spcPct val="0"/>
            </a:spcBef>
            <a:spcAft>
              <a:spcPct val="35000"/>
            </a:spcAft>
            <a:buNone/>
          </a:pPr>
          <a:r>
            <a:rPr lang="en-US" sz="2000" kern="1200" dirty="0"/>
            <a:t>analytical ultracentrifugation (AUC) analysis software</a:t>
          </a:r>
        </a:p>
      </dsp:txBody>
      <dsp:txXfrm>
        <a:off x="1884673" y="380742"/>
        <a:ext cx="8630926" cy="1631751"/>
      </dsp:txXfrm>
    </dsp:sp>
    <dsp:sp modelId="{E5F62A62-386E-45C9-8CB7-76CEF6119FF2}">
      <dsp:nvSpPr>
        <dsp:cNvPr id="0" name=""/>
        <dsp:cNvSpPr/>
      </dsp:nvSpPr>
      <dsp:spPr>
        <a:xfrm>
          <a:off x="0" y="2338844"/>
          <a:ext cx="10515600" cy="16317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B36DF7-7E23-4C06-9007-EEDFF7499413}">
      <dsp:nvSpPr>
        <dsp:cNvPr id="0" name=""/>
        <dsp:cNvSpPr/>
      </dsp:nvSpPr>
      <dsp:spPr>
        <a:xfrm>
          <a:off x="493604" y="2705988"/>
          <a:ext cx="897463" cy="8974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EB1F4B-907E-4C03-BB0A-DB6CC81730DB}">
      <dsp:nvSpPr>
        <dsp:cNvPr id="0" name=""/>
        <dsp:cNvSpPr/>
      </dsp:nvSpPr>
      <dsp:spPr>
        <a:xfrm>
          <a:off x="1884673" y="2338844"/>
          <a:ext cx="8630926" cy="16317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694" tIns="172694" rIns="172694" bIns="172694" numCol="1" spcCol="1270" anchor="ctr" anchorCtr="0">
          <a:noAutofit/>
        </a:bodyPr>
        <a:lstStyle/>
        <a:p>
          <a:pPr marL="0" lvl="0" indent="0" algn="l" defTabSz="800100">
            <a:lnSpc>
              <a:spcPct val="90000"/>
            </a:lnSpc>
            <a:spcBef>
              <a:spcPct val="0"/>
            </a:spcBef>
            <a:spcAft>
              <a:spcPct val="35000"/>
            </a:spcAft>
            <a:buNone/>
          </a:pPr>
          <a:r>
            <a:rPr lang="en-US" sz="1800" kern="1200" dirty="0"/>
            <a:t>Runs on national HPC clusters; computationally intensive; heavily parameterized</a:t>
          </a:r>
          <a:br>
            <a:rPr lang="en-US" sz="1800" kern="1200" dirty="0"/>
          </a:br>
          <a:br>
            <a:rPr lang="en-US" sz="1800" kern="1200" dirty="0"/>
          </a:br>
          <a:r>
            <a:rPr lang="en-US" sz="1800" kern="1200" dirty="0"/>
            <a:t>- 2DSA — two-dimensional spectrum analysis (83% of jobs)</a:t>
          </a:r>
          <a:br>
            <a:rPr lang="en-US" sz="1800" kern="1200" dirty="0"/>
          </a:br>
          <a:r>
            <a:rPr lang="en-US" sz="1800" kern="1200" dirty="0"/>
            <a:t>- GA — genetic algorithm methods</a:t>
          </a:r>
          <a:br>
            <a:rPr lang="en-US" sz="1800" kern="1200" dirty="0"/>
          </a:br>
          <a:r>
            <a:rPr lang="en-US" sz="1800" kern="1200" dirty="0"/>
            <a:t>- PCSA — parametrically constrained spectrum analysis</a:t>
          </a:r>
        </a:p>
      </dsp:txBody>
      <dsp:txXfrm>
        <a:off x="1884673" y="2338844"/>
        <a:ext cx="8630926" cy="16317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B38127-EBED-4AD9-934A-B1D0C307DEE1}">
      <dsp:nvSpPr>
        <dsp:cNvPr id="0" name=""/>
        <dsp:cNvSpPr/>
      </dsp:nvSpPr>
      <dsp:spPr>
        <a:xfrm>
          <a:off x="212335" y="469890"/>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D42FE9-BDF3-4B06-BDA1-E4490E3296DD}">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133662-8FD1-40EE-9D4A-A322A18D65B6}">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dirty="0"/>
            <a:t>Production Data: </a:t>
          </a:r>
          <a:r>
            <a:rPr lang="en-US" sz="1900" kern="1200" dirty="0"/>
            <a:t>341,529 jobs · 11 years · 34 clusters</a:t>
          </a:r>
        </a:p>
      </dsp:txBody>
      <dsp:txXfrm>
        <a:off x="1834517" y="469890"/>
        <a:ext cx="3148942" cy="1335915"/>
      </dsp:txXfrm>
    </dsp:sp>
    <dsp:sp modelId="{01B3CD0F-1617-45D2-8BAA-46CF5E587027}">
      <dsp:nvSpPr>
        <dsp:cNvPr id="0" name=""/>
        <dsp:cNvSpPr/>
      </dsp:nvSpPr>
      <dsp:spPr>
        <a:xfrm>
          <a:off x="5532139" y="469890"/>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EDCD02-E03F-4033-9CF7-8FCBF35A8A41}">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4866A6-D1ED-4D9D-A880-3C6B4B6B0A53}">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dirty="0"/>
            <a:t>Targets: </a:t>
          </a:r>
          <a:r>
            <a:rPr lang="en-US" sz="1900" b="0" kern="1200" dirty="0" err="1"/>
            <a:t>CPUTime</a:t>
          </a:r>
          <a:r>
            <a:rPr lang="en-US" sz="1900" b="0" kern="1200" dirty="0"/>
            <a:t> (CPU-seconds summed over cores) and </a:t>
          </a:r>
          <a:r>
            <a:rPr lang="en-US" sz="1900" b="0" kern="1200" dirty="0" err="1"/>
            <a:t>maxRSS</a:t>
          </a:r>
          <a:r>
            <a:rPr lang="en-US" sz="1900" b="0" kern="1200" dirty="0"/>
            <a:t> (peak resident memory), modeled separately</a:t>
          </a:r>
          <a:endParaRPr lang="en-US" sz="1900" kern="1200" dirty="0"/>
        </a:p>
      </dsp:txBody>
      <dsp:txXfrm>
        <a:off x="7154322" y="469890"/>
        <a:ext cx="3148942" cy="1335915"/>
      </dsp:txXfrm>
    </dsp:sp>
    <dsp:sp modelId="{EDEEDAE5-1EA6-469A-B58D-034A81E2C328}">
      <dsp:nvSpPr>
        <dsp:cNvPr id="0" name=""/>
        <dsp:cNvSpPr/>
      </dsp:nvSpPr>
      <dsp:spPr>
        <a:xfrm>
          <a:off x="212335" y="2545532"/>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29D9DB-8DA3-4049-BED2-7EAFE9826621}">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779A04-AB00-4516-AB64-6ECE0FD571A3}">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dirty="0"/>
            <a:t>Models: </a:t>
          </a:r>
          <a:r>
            <a:rPr lang="en-US" sz="1900" b="0" kern="1200" dirty="0"/>
            <a:t>small feed-forward multilayer </a:t>
          </a:r>
          <a:r>
            <a:rPr lang="en-US" sz="1900" b="0" kern="1200" dirty="0" err="1"/>
            <a:t>perceptrons</a:t>
          </a:r>
          <a:r>
            <a:rPr lang="en-US" sz="1900" b="0" kern="1200" dirty="0"/>
            <a:t>, 64×32 to 128×64. Architecture is not the variable under study.</a:t>
          </a:r>
          <a:endParaRPr lang="en-US" sz="1900" kern="1200" dirty="0"/>
        </a:p>
      </dsp:txBody>
      <dsp:txXfrm>
        <a:off x="1834517" y="2545532"/>
        <a:ext cx="3148942" cy="1335915"/>
      </dsp:txXfrm>
    </dsp:sp>
    <dsp:sp modelId="{A5625E7A-89F1-4297-B24F-559C5A44EA1B}">
      <dsp:nvSpPr>
        <dsp:cNvPr id="0" name=""/>
        <dsp:cNvSpPr/>
      </dsp:nvSpPr>
      <dsp:spPr>
        <a:xfrm>
          <a:off x="5532139" y="2545532"/>
          <a:ext cx="1335915" cy="13359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07806A-1BB7-4CE9-AB4B-E628E12D66F3}">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819B48-FB2A-42E7-963D-259AE1080A06}">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dirty="0"/>
            <a:t>Features: </a:t>
          </a:r>
          <a:r>
            <a:rPr lang="en-US" sz="1900" kern="1200" dirty="0"/>
            <a:t>grid dimensions, radial/angular resolution, scan counts, iteration limits, cluster identifier</a:t>
          </a:r>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5B0B91-5CF1-6E44-8509-9011AE01B1E7}" type="datetimeFigureOut">
              <a:rPr lang="en-US" smtClean="0"/>
              <a:t>7/26/26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E11DAF-23FE-664E-9969-7DA3D66B9DCD}" type="slidenum">
              <a:rPr lang="en-US" smtClean="0"/>
              <a:t>‹#›</a:t>
            </a:fld>
            <a:endParaRPr lang="en-US"/>
          </a:p>
        </p:txBody>
      </p:sp>
    </p:spTree>
    <p:extLst>
      <p:ext uri="{BB962C8B-B14F-4D97-AF65-F5344CB8AC3E}">
        <p14:creationId xmlns:p14="http://schemas.microsoft.com/office/powerpoint/2010/main" val="3243193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yourselves and your affiliations (UCF, UCF, University of Montana). State the one-sentence goal: you're testing whether deep learning can predict how long an UltraScan analytical ultracentrifugation job will run, using only submission-time information, and whether that prediction still holds up when you evaluate it the way it would actually be used in production - over time.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motivating problem. Keep it short - audience already knows this pain. Land on the constraint: we only have what the user typed when they submitted.</a:t>
            </a:r>
          </a:p>
          <a:p>
            <a:endParaRPr dirty="0"/>
          </a:p>
          <a:p>
            <a:r>
              <a:rPr dirty="0"/>
              <a:t>Say the target line out loud, do not skip it: we predict </a:t>
            </a:r>
            <a:r>
              <a:rPr dirty="0" err="1"/>
              <a:t>CPUTime</a:t>
            </a:r>
            <a:r>
              <a:rPr dirty="0"/>
              <a:t>, cumulative CPU-seconds across all cores, plus peak memory. </a:t>
            </a:r>
            <a:r>
              <a:rPr dirty="0" err="1"/>
              <a:t>CPUTime</a:t>
            </a:r>
            <a:r>
              <a:rPr dirty="0"/>
              <a:t> is the input to a </a:t>
            </a:r>
            <a:r>
              <a:rPr dirty="0" err="1"/>
              <a:t>walltime</a:t>
            </a:r>
            <a:r>
              <a:rPr dirty="0"/>
              <a:t> request, not </a:t>
            </a:r>
            <a:r>
              <a:rPr dirty="0" err="1"/>
              <a:t>walltime</a:t>
            </a:r>
            <a:r>
              <a:rPr dirty="0"/>
              <a:t> itself - converting one to the other needs core count and parallel efficiency, which we do not model. Being upfront here costs ten seconds and prevents the obvious challenge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Brief: </a:t>
            </a:r>
            <a:r>
              <a:rPr dirty="0" err="1"/>
              <a:t>UltraScan</a:t>
            </a:r>
            <a:r>
              <a:rPr dirty="0"/>
              <a:t> is biophysics software for studying macromolecular behavior. The three families are important because they have fundamentally different computational characteristics. This isn't arbitrary grouping — the algorithms differ in how predictable they are, and that's a key finding.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this is real production data over 11 years. The diversity of clusters and the volume is what makes claims about generalization credible. The feature list is deliberately minimal - no post-submission information.</a:t>
            </a:r>
          </a:p>
          <a:p>
            <a:endParaRPr/>
          </a:p>
          <a:p>
            <a:r>
              <a:t>The models line is there to close off the 'what network did you use?' question early. Say it plainly: these are small MLPs, we are not claiming architectural novelty, and that is the point - if the story were about capacity we would have tried harder.</a:t>
            </a:r>
          </a:p>
          <a:p>
            <a:endParaRPr/>
          </a:p>
          <a:p>
            <a:r>
              <a:t>If asked: 70/15/15 train/validation/test split per family; production data only, no synthetic workloads or replayed executions. Full per-family counts (2DSA 198,388/42,511/42,513; GA 10,906/2,337/2,338; PCSA 29,775/6,380/6,381) are in the paper's Table 1 - have them ready if asked about class balance.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Reference [6] in the paper. Quick — the audience doesn't need the backstory. The three gaps set up the three contributions cleanly.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methodological contribution. Record-order is the standard in ML benchmarks but it's not how deployment works. Temporal ordering is stricter and more honest.</a:t>
            </a:r>
          </a:p>
          <a:p>
            <a:endParaRPr/>
          </a:p>
          <a:p>
            <a:r>
              <a:t>The second line is the trap we want people to avoid: every MAE and error standard deviation went DOWN when we switched to temporal splits. That looks like an improvement and it is not one. Temporal splitting hands you a test set covering one specific future window and cluster mix; record-order splitting hands you a different mix. Lower aggregate error under a different test population tells you nothing about model quality. Everything that follows in this talk is about what those aggregate numbers hide.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oversell this as a shock - it's an intuitive result and the paper treats it that way. Present it as a clean, expected asymmetry.</a:t>
            </a:r>
          </a:p>
          <a:p>
            <a:endParaRPr/>
          </a:p>
          <a:p>
            <a:r>
              <a:t>Do flag GA honestly while it is on screen: R-squared of -0.02 means GA runtime prediction is worse than predicting the training mean. It has no predictive skill. Remember that - it comes back on the trust-gate slide, where GA looks like a success story.</a:t>
            </a:r>
          </a:p>
          <a:p>
            <a:endParaRPr/>
          </a:p>
          <a:p>
            <a:r>
              <a:t>Its job is to set up the real question: given that runtime is the harder target, what happens when we stratify runtime error by how far a job sits from the training distribution? That's where the actual surprise shows up,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introduced here as a tool, not a definition to memorize — we built it to test whether runtime error scales smoothly with configuration distance. The distinction between "diagnostic" and "protective" is the paper's key conceptual claim; the audience should hold onto it through the next two slides. Mechanics, if asked: Z-scores are computed per numeric parameter using the training-set mean and standard deviation; the reported value is the max absolute Z across all non-default parameters for that job. When a prediction passes the gate, a conservative buffer — the 95th-percentile residual observed on the validation set — is added on top of it. None of this needs to be on the slide; keep it in your back pocket for Q&amp;A.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actual hook — slow down here, and let the audience look at the figure rather than read the slide. This crop shows </a:t>
            </a:r>
            <a:r>
              <a:rPr dirty="0" err="1"/>
              <a:t>CPUTime</a:t>
            </a:r>
            <a:r>
              <a:rPr dirty="0"/>
              <a:t> error only (log scale); the paper's Figure 1 also has a </a:t>
            </a:r>
            <a:r>
              <a:rPr dirty="0" err="1"/>
              <a:t>maxRSS</a:t>
            </a:r>
            <a:r>
              <a:rPr dirty="0"/>
              <a:t> row, not shown here. Point to 2DSA, the leftmost panel: the non-monotonic dip. Detail if needed: PCSA error increases monotonically with Z. GA dispersion rises at high Z with a less consistent median. 2DSA's Z &gt; 3 bin (30,691 jobs) has lower median error than the Z in (2,3] bin — the opposite of the expected pattern. The fact that error is low doesn't mean the model works — it means the test jobs all look alike in a way the model happens to handle.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second surprise, and the most important explanatory slide. Signal to the audience that this wasn't the expected finding either — we expected diffuse drift across many clusters, not one cluster driving 71% of the test set. The 5.75σ number is striking on its own. The key claim: the 2DSA model didn't fail — the workflow evolved, concentrated in one place. Trust gating correctly flags the problem. But flagging 72% of your test set as out-of-distribution is itself a problem for operational use.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pivot slide - the 'aha' moment. Say it plainly: we started this investigation expecting to explain a modeling weakness, and instead found a statement about workflow evolution.</a:t>
            </a:r>
          </a:p>
          <a:p>
            <a:endParaRPr/>
          </a:p>
          <a:p>
            <a:r>
              <a:t>Be precise with the number. 71.3% is Cluster 29's share of the TEST SET (previous slide). The number on this slide is different and stronger: 97.9% of Cluster 29's jobs land outside the training distribution on the |Z| &gt; 3 criterion from the Z-score slide, and Cluster 29 accounts for roughly 97% of every out-of-distribution 2DSA job. The drift is not diffuse. It has one address.</a:t>
            </a:r>
          </a:p>
          <a:p>
            <a:endParaRPr/>
          </a:p>
          <a:p>
            <a:r>
              <a:t>Deliberately phrased as 'outside the training distribution,' not 'rejected' - the trust gate is not introduced until the next slide. Do not say 'rejected by the gate' here.</a:t>
            </a:r>
          </a:p>
          <a:p>
            <a:endParaRPr/>
          </a:p>
          <a:p>
            <a:r>
              <a:t>Land on the reframed question before moving into the three-regime evidence on the next two slides.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Callback: the 97.9% of Cluster 29 jobs you just called out-of-distribution are exactly what this rule withholds. Now that the gate has a name, you can use 'reject' freely for the rest of the talk.</a:t>
            </a:r>
          </a:p>
          <a:p>
            <a:endParaRPr/>
          </a:p>
          <a:p>
            <a:r>
              <a:t>Introduce the gate as the rule we apply, and be explicit that we applied it retrospectively to held-out traces - we did not deploy it. The paper is emphatic on this point and someone will ask.</a:t>
            </a:r>
          </a:p>
          <a:p>
            <a:endParaRPr/>
          </a:p>
          <a:p>
            <a:r>
              <a:t>Mechanics, if asked: Z-scores are computed per numeric parameter using the training-set mean and standard deviation; the reported value is the max absolute Z across all non-default parameters for that job. When a prediction passes the gate, a conservative buffer - the 95th-percentile residual observed on the validation set - is added on top of it.</a:t>
            </a:r>
          </a:p>
          <a:p>
            <a:endParaRPr/>
          </a:p>
          <a:p>
            <a:r>
              <a:t>The distinction between 'diagnostic' and 'protective' is the paper's key conceptual claim; the audience should hold onto it through the next three slides.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GA with the necessary-but-not-sufficient line on the slide: stability is the precondition, skill is what makes it useful, and GA has the first without the second. Let the table do the work - the pivot slide already landed 'this is about workflow stability,' so don't restate it in bullets here too. Walk the rows verbally instead:</a:t>
            </a:r>
          </a:p>
          <a:p>
            <a:r>
              <a:t>  PCSA - buffer transfers cleanly, no drift, prediction is straightforwardly valid.</a:t>
            </a:r>
          </a:p>
          <a:p>
            <a:r>
              <a:t>  GA - sufficient, but bought with an enormous margin; see the caveat line below the table.</a:t>
            </a:r>
          </a:p>
          <a:p>
            <a:r>
              <a:t>  2DSA - the accepted subset still needed 4x the calibrated buffer; trust gating limited exposure but didn't restore validity.</a:t>
            </a:r>
          </a:p>
          <a:p>
            <a:endParaRPr/>
          </a:p>
          <a:p>
            <a:r>
              <a:t>Own the GA caveat rather than waiting to be caught by it. GA's model has negative R-squared: it has no skill. It clears the sufficiency bar because its calibrated buffer is about 31,600 CPU-seconds, roughly 8.8 CPU-hours, and the median accepted GA job ends up buffered at 18.5 times its actual CPUTime. That is a very expensive mean predictor. The honest reading is that sufficiency analysis measures whether you are safe, not whether you are informative - and that is itself a finding about the limits of this kind of evaluation. For scale: 2DSA's accepted subset runs 8.5x overhead, PCSA a reasonable 2.4x.</a:t>
            </a:r>
          </a:p>
          <a:p>
            <a:endParaRPr/>
          </a:p>
          <a:p>
            <a:r>
              <a:t>Land the pattern verbally only after all three rows are on the table: 'workflow stability, not model quality, determines whether prediction is deployable.' The 4.0x inflation for 2DSA is the number to pause on.</a:t>
            </a:r>
          </a:p>
          <a:p>
            <a:endParaRPr/>
          </a:p>
          <a:p>
            <a:r>
              <a:t>IF SOMEONE HAS THE PAPER OPEN: the slide says 83.9 / 97.0 / 95.0; Section 4.2's prose says '80%' and '100%'. The slide values are the exact ones. Table 4 in the paper reports sufficiency to one decimal - 0.8, 1.0, 1.0 - which are correct roundings of 0.839, 0.970 and 0.950. The prose sentence read those rounded table entries as literal 80% and 100%. Table 4 itself is right; only that narration overstates it.</a:t>
            </a:r>
          </a:p>
          <a:p>
            <a:r>
              <a:t>Short answer to give: 'Table 4 rounds to one decimal - the exact values are 83.9, 97.0 and 95.0, which is what's on the slide. Neither GA nor PCSA is literally 100%.' Do not volunteer this unprompted; it changes none of the three regimes or any conclusion.</a:t>
            </a:r>
          </a:p>
          <a:p>
            <a:endParaRPr/>
          </a:p>
          <a:p>
            <a:r>
              <a:t>KEEP TWO RATIOS STRAIGHT - this trips people up, including in Q&amp;A:</a:t>
            </a:r>
          </a:p>
          <a:p>
            <a:r>
              <a:t>  Buffer inflation (the table column) = test-required margin / calibrated margin. It asks whether the margin still held. 2DSA 1594/398 = 4.0x, GA 19184/31629 = 0.6x, PCSA 547/549 = 1.0x.</a:t>
            </a:r>
          </a:p>
          <a:p>
            <a:r>
              <a:t>  Overhead ratio (NOT on the slide) = buffered request / actual CPUTime. It asks how wasteful the request is. Medians: 2DSA 8.5x, GA 18.5x, PCSA 2.4x.</a:t>
            </a:r>
          </a:p>
          <a:p>
            <a:r>
              <a:t>They can point opposite ways. GA has the best inflation number in the table (0.6x, margin held with room to spare) and the worst overhead (18.5x, the margin is enormous). Valid but wasteful. PCSA is the only family that is both - 1.0x transfer and a reasonable 2.4x overhead.</a:t>
            </a:r>
          </a:p>
          <a:p>
            <a:endParaRPr/>
          </a:p>
          <a:p>
            <a:r>
              <a:t>On the overhead column: it is NOT in the paper. Table 4 has no overhead column, and the prose only says 'substantial allocative cost' and 'conservative overhead' without a number. This quantifies a claim the paper already makes; it is computed by analysis/08_simulation/cpu_sufficiency_simulation.py and recorded as overhead_ratio_median in cpu_sufficiency_summary.csv, so it is reproducible from the repo on the closing slide. If asked 'is that in the paper?', say plainly: no, it is the magnitude behind the paper's 'substantial allocative cost,' and it is in the released artifacts.</a:t>
            </a:r>
          </a:p>
          <a:p>
            <a:r>
              <a:t>Say MEDIAN out loud. GA's distribution is brutally skewed - p90 overhead is 184x. For reference: 2DSA p90 52.8x, PCSA p90 5.0x.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the control case. Same gate, same jobs, same 27.8% acceptance for 2DSA - but the memory side behaves.</a:t>
            </a:r>
          </a:p>
          <a:p>
            <a:endParaRPr dirty="0"/>
          </a:p>
          <a:p>
            <a:r>
              <a:rPr dirty="0"/>
              <a:t>Be careful how you phrase the contrast. Do NOT say 'memory succeeds where runtime fails' based on the sufficiency column alone - for GA and PCSA, runtime sufficiency (97.0%, 95.0%) is actually HIGHER than memory sufficiency (90.0%, 97.3%), and for 2DSA the gap is only 83.9 vs 90.0. The real contrast is buffer behavior: memory buffers transfer to the test period intact, while 2DSA's runtime buffer needs 4x what was calibrated. That is the asymmetry that matters.</a:t>
            </a:r>
          </a:p>
          <a:p>
            <a:endParaRPr dirty="0"/>
          </a:p>
          <a:p>
            <a:r>
              <a:rPr dirty="0"/>
              <a:t>The inference: if the gate were simply too aggressive, memory would degrade on the same rejected population too. It doesn't. So 2DSA runtime drift is real and the gate is correctly identifying it. This is the answer to anyone who wants to argue 'just tune the threshold.'</a:t>
            </a:r>
          </a:p>
          <a:p>
            <a:endParaRPr dirty="0"/>
          </a:p>
          <a:p>
            <a:r>
              <a:rPr dirty="0"/>
              <a:t>The two 90.0 entries are NOT the same number and neither is exactly 90. 2DSA is 90.044% (10,645/11,822) and GA is 89.963% (1,694/1,883) - they straddle 90 and both round to 90.0 at one decimal. Do not say 'both exactly 90', and do not say memory sufficiency 'exceeds 90% for all methods' - GA is just under. (The paper's Section 4.4 does say 'exceed 90%'; that is the second item in </a:t>
            </a:r>
            <a:r>
              <a:rPr dirty="0" err="1"/>
              <a:t>ERRATUM.md</a:t>
            </a:r>
            <a:r>
              <a:rPr dirty="0"/>
              <a:t>.) Safe phrasing: 'roughly 90% for 2DSA and GA, 97% for PCSA.'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on "advisory not prescriptive." This is the practical takeaway for anyone thinking about deploying something like this. Future work hook, if time or asked: adaptive retraining strategies, workflow-aware drift detection — sets up PEARC27 work without committing to specifics.</a:t>
            </a:r>
          </a:p>
          <a:p>
            <a:endParaRPr/>
          </a:p>
          <a:p>
            <a:r>
              <a:t>The retrain line at the bottom carries over from the old three-regime slide, which is now cut. Say it as the actionable close: a 27.8% acceptance rate is a signal to retrain, not a reason to deploy. The gate tells you it is in trouble; you still have to listen to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Do not rush this and do not apologize through it. This is now a roadmap slide, not a confession - two limits and the two questions they open.</a:t>
            </a:r>
          </a:p>
          <a:p>
            <a:endParaRPr dirty="0"/>
          </a:p>
          <a:p>
            <a:r>
              <a:rPr dirty="0"/>
              <a:t>The one to emphasize is the frozen model. A fair objection to the whole 2DSA story is 'you would have retrained by then.' Correct - and that is exactly the point. We deliberately froze the model to measure how fast validity decays and whether anything cheap can tell you it is decaying.</a:t>
            </a:r>
          </a:p>
          <a:p>
            <a:endParaRPr dirty="0"/>
          </a:p>
          <a:p>
            <a:r>
              <a:rPr dirty="0"/>
              <a:t>Land the Next line as the next paper, not as a gap: does periodic retraining repair 2DSA, and what is a gated prediction actually worth against what users request today. Naming them here means every question about them reads as 'we know, it's running' rather than 'we missed it.'</a:t>
            </a:r>
          </a:p>
          <a:p>
            <a:endParaRPr dirty="0"/>
          </a:p>
          <a:p>
            <a:r>
              <a:rPr dirty="0"/>
              <a:t>Cut from the slide, keep in your pocket: the Z threshold was a single a priori value applied uniformly across all families and both targets - we did not sweep it, precisely so nobody could accuse us of tuning the gate to produce the three-regime result. And cross-workflow generalization is untested; this is three families from one LIMS.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synthesis close — the one idea you want people to leave with. Say it slowly. Pause after the blockquote line before moving to acknowledgments.</a:t>
            </a:r>
            <a:endParaRPr lang="en-US" dirty="0"/>
          </a:p>
          <a:p>
            <a:endParaRPr lang="en-US" dirty="0"/>
          </a:p>
          <a:p>
            <a:r>
              <a:rPr lang="en-US" dirty="0"/>
              <a:t>What was supposed to survive wasn't the filtering, it was the guarantee attached to acceptance — pass z ≤ 3 and your calibrated buffer covers the real runtime.</a:t>
            </a:r>
          </a:p>
          <a:p>
            <a:r>
              <a:rPr lang="en-US" dirty="0"/>
              <a:t>What broke is that guarantee. 2DSA still passed 27.8% of jobs, but only 83.9% of those were actually covered, and the margin needed 4× its calibration. PCSA held at exactly 1.0×. So acceptance stopped predicting trustworthiness for the drifted family — that's a broken promise, not just thinner coverage.</a:t>
            </a:r>
          </a:p>
          <a:p>
            <a:r>
              <a:rPr lang="en-US" dirty="0"/>
              <a:t>Why it still "works" — as you said. The same statistic has two jobs. As a gate it failed. As an alarm it succeeded: 27.8% against a healthy 80–90% told you the guarantee had broken, with no ground truth required. </a:t>
            </a:r>
            <a:r>
              <a:rPr lang="en-US"/>
              <a:t>That's why the takeaway says watch the acceptance rate rather than filter on it.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the GitHub URL up during questions — people will photograph it (github.com/ehb54/ustfpp). Be ready for: "What would adaptive retraining look like?" and "Why not retrain on Cluster 29 data?" (answer: the stationarity violation would need to be detected first, which is future work).</a:t>
            </a:r>
          </a:p>
          <a:p>
            <a:endParaRPr/>
          </a:p>
          <a:p>
            <a:r>
              <a:t>REHEARSED ANSWERS - have these cold:</a:t>
            </a:r>
          </a:p>
          <a:p>
            <a:endParaRPr/>
          </a:p>
          <a:p>
            <a:r>
              <a:t>1. 'Why a neural network at all?' Our PEARC25 paper [6] is the baseline study; it established that networks outperform baseline predictors on this data across families. This paper is not re-litigating model choice - it is asking whether the mapping stays valid over time. Do not improvise a defense of the architecture; point at the prior work.</a:t>
            </a:r>
          </a:p>
          <a:p>
            <a:endParaRPr/>
          </a:p>
          <a:p>
            <a:r>
              <a:t>2. 'Isn't the 2DSA dip just smaller jobs?' Concede it immediately - partly yes, error is in absolute seconds and Cluster 29 jobs are smaller (fewer scans, smaller CPU allocations). Then move to the result that does not depend on scale: buffer inflation is a ratio. 4.0x for 2DSA runtime versus 1.0x for memory on the identical accepted jobs is scale-free, and that is what the conclusion rests on. The dip is the hook; the ratio is the evidence.</a:t>
            </a:r>
          </a:p>
          <a:p>
            <a:endParaRPr/>
          </a:p>
          <a:p>
            <a:r>
              <a:t>3. 'Why not just retrain on Cluster 29?' Retraining would confirm attribution but would not change the finding. The point is that a frozen model's validity decayed and the acceptance rate said so before any ground truth arrived. Whether retraining repairs it is exactly the adaptive-retraining work on the previous slide. Do not answer this with 'you'd have to detect it first' - we did detect it, retrospectively, and someone will catch that.</a:t>
            </a:r>
          </a:p>
          <a:p>
            <a:endParaRPr/>
          </a:p>
          <a:p>
            <a:r>
              <a:t>4. 'What threshold should I use?' There is no validated operating point here. |Z| &lt;= 3 was chosen a priori and never swept. Watch the trend in your own acceptance rate rather than copying our number.</a:t>
            </a:r>
          </a:p>
          <a:p>
            <a:endParaRPr/>
          </a:p>
          <a:p>
            <a:r>
              <a:t>Leave the GitHub URL up during questions - people will photograph it (github.com/ehb54/ustfpp).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C3299-902B-5392-2621-00AAB9F9EA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D69F7F-0394-F666-10AF-43548D7B8A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3764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7EC76-63BC-D1D9-44CF-A106011DE9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61AE27-27DE-3931-E71D-274C7A9ED2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1961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1DF5-DC03-1008-B9AE-C0ADF9316D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D4A41-7592-9AB4-746D-AF8F2CD6E9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797865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87E3-E414-59CF-79B2-4E9EE7FB21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DD20CA-E491-D76C-42B3-7ECBB19588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AB8995-4487-DE38-A008-2ED9D892DE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8185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64FB2-F450-9A0F-5BAC-DADE46FB71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1F264A-C5B2-093F-FA73-5CEA978752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0447CD-B19E-FF9F-3D6E-188E1DA236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A5A8DD-4CB2-E134-1841-793D4A5E87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D3CE3A-D0A0-331C-FF5A-96D4617855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051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DBE3F-FFDD-6A1E-17CA-6F7A66ED939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7065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400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CFC38-57CA-58EE-AA6A-459A07DDD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30C7F3-BFB9-4707-A292-6F5DAC1CC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9E6E43-0E20-6290-AB84-5E2C5D8856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924644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52C0-C239-2623-D613-B8F68E025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998698-6BE5-8C0E-6638-493EB7FD41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305731-175F-884D-F540-0E553FAE93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2562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5204E-5E54-E898-D797-5DC79623C0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B0CAD8-001E-EFAA-C60B-BECCA9649B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41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BE1AEF-F412-9322-571A-5B79AD9E66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1881B4-B925-E595-1164-2EEB7D83CC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13720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FD5EA6-A5FF-E79A-3224-99487F8D11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7F3E21-8702-2C40-FCA2-91C82EC727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5B4952AA-99DD-2468-2D75-E3E91164EF9E}"/>
              </a:ext>
            </a:extLst>
          </p:cNvPr>
          <p:cNvSpPr/>
          <p:nvPr userDrawn="1"/>
        </p:nvSpPr>
        <p:spPr>
          <a:xfrm>
            <a:off x="-3" y="0"/>
            <a:ext cx="176466" cy="6858000"/>
          </a:xfrm>
          <a:prstGeom prst="rect">
            <a:avLst/>
          </a:prstGeom>
          <a:solidFill>
            <a:srgbClr val="700C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6796A9-E990-A876-A32D-C2313032867E}"/>
              </a:ext>
            </a:extLst>
          </p:cNvPr>
          <p:cNvSpPr/>
          <p:nvPr userDrawn="1"/>
        </p:nvSpPr>
        <p:spPr>
          <a:xfrm rot="5400000">
            <a:off x="5902290" y="431932"/>
            <a:ext cx="483665" cy="12095753"/>
          </a:xfrm>
          <a:prstGeom prst="rect">
            <a:avLst/>
          </a:prstGeom>
          <a:solidFill>
            <a:srgbClr val="B997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lose up of a logo&#10;&#10;AI-generated content may be incorrect.">
            <a:extLst>
              <a:ext uri="{FF2B5EF4-FFF2-40B4-BE49-F238E27FC236}">
                <a16:creationId xmlns:a16="http://schemas.microsoft.com/office/drawing/2014/main" id="{5AE3133F-74E0-DEEE-D69E-CF2BAE1DBB64}"/>
              </a:ext>
            </a:extLst>
          </p:cNvPr>
          <p:cNvPicPr>
            <a:picLocks noChangeAspect="1"/>
          </p:cNvPicPr>
          <p:nvPr userDrawn="1"/>
        </p:nvPicPr>
        <p:blipFill>
          <a:blip r:embed="rId13"/>
          <a:stretch>
            <a:fillRect/>
          </a:stretch>
        </p:blipFill>
        <p:spPr>
          <a:xfrm>
            <a:off x="8566484" y="6279370"/>
            <a:ext cx="1938956" cy="395705"/>
          </a:xfrm>
          <a:prstGeom prst="rect">
            <a:avLst/>
          </a:prstGeom>
        </p:spPr>
      </p:pic>
      <p:pic>
        <p:nvPicPr>
          <p:cNvPr id="9" name="Picture 8" descr="A yellow horse with a star and a white text&#10;&#10;AI-generated content may be incorrect.">
            <a:extLst>
              <a:ext uri="{FF2B5EF4-FFF2-40B4-BE49-F238E27FC236}">
                <a16:creationId xmlns:a16="http://schemas.microsoft.com/office/drawing/2014/main" id="{E0A4BC50-6527-AA31-F275-2475D004558E}"/>
              </a:ext>
            </a:extLst>
          </p:cNvPr>
          <p:cNvPicPr>
            <a:picLocks noChangeAspect="1"/>
          </p:cNvPicPr>
          <p:nvPr userDrawn="1"/>
        </p:nvPicPr>
        <p:blipFill>
          <a:blip r:embed="rId14"/>
          <a:stretch>
            <a:fillRect/>
          </a:stretch>
        </p:blipFill>
        <p:spPr>
          <a:xfrm>
            <a:off x="11184960" y="6187176"/>
            <a:ext cx="423769" cy="573965"/>
          </a:xfrm>
          <a:prstGeom prst="rect">
            <a:avLst/>
          </a:prstGeom>
        </p:spPr>
      </p:pic>
    </p:spTree>
    <p:extLst>
      <p:ext uri="{BB962C8B-B14F-4D97-AF65-F5344CB8AC3E}">
        <p14:creationId xmlns:p14="http://schemas.microsoft.com/office/powerpoint/2010/main" val="4218987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baseline="0">
          <a:solidFill>
            <a:srgbClr val="700C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svg"/><Relationship Id="rId4" Type="http://schemas.openxmlformats.org/officeDocument/2006/relationships/image" Target="../media/image10.svg"/><Relationship Id="rId5"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svg"/><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87C5-14DC-224A-ABC6-882A12D253C4}"/>
              </a:ext>
            </a:extLst>
          </p:cNvPr>
          <p:cNvSpPr>
            <a:spLocks noGrp="1"/>
          </p:cNvSpPr>
          <p:nvPr>
            <p:ph type="ctrTitle"/>
          </p:nvPr>
        </p:nvSpPr>
        <p:spPr>
          <a:xfrm>
            <a:off x="1523998" y="654384"/>
            <a:ext cx="9144000" cy="1270001"/>
          </a:xfrm>
        </p:spPr>
        <p:txBody>
          <a:bodyPr>
            <a:noAutofit/>
          </a:bodyPr>
          <a:lstStyle/>
          <a:p>
            <a:r>
              <a:rPr lang="en-US" sz="3200" i="1"/>
              <a:t>Evaluating Deep Learning–Based Performance Prediction for UltraScan Workflows Under Temporal and Observability Constraints</a:t>
            </a:r>
          </a:p>
        </p:txBody>
      </p:sp>
      <p:pic>
        <p:nvPicPr>
          <p:cNvPr id="5" name="Picture 4" descr="A yellow horse with a star and a white text&#10;&#10;AI-generated content may be incorrect.">
            <a:extLst>
              <a:ext uri="{FF2B5EF4-FFF2-40B4-BE49-F238E27FC236}">
                <a16:creationId xmlns:a16="http://schemas.microsoft.com/office/drawing/2014/main" id="{0F75AE8A-2EAC-A1F3-32BB-385B6B354928}"/>
              </a:ext>
            </a:extLst>
          </p:cNvPr>
          <p:cNvPicPr>
            <a:picLocks noChangeAspect="1"/>
          </p:cNvPicPr>
          <p:nvPr/>
        </p:nvPicPr>
        <p:blipFill>
          <a:blip r:embed="rId3"/>
          <a:stretch>
            <a:fillRect/>
          </a:stretch>
        </p:blipFill>
        <p:spPr>
          <a:xfrm>
            <a:off x="2219297" y="3944071"/>
            <a:ext cx="1943100" cy="1905000"/>
          </a:xfrm>
          <a:prstGeom prst="rect">
            <a:avLst/>
          </a:prstGeom>
        </p:spPr>
      </p:pic>
      <p:pic>
        <p:nvPicPr>
          <p:cNvPr id="7" name="Picture 6" descr="A close up of a logo&#10;&#10;AI-generated content may be incorrect.">
            <a:extLst>
              <a:ext uri="{FF2B5EF4-FFF2-40B4-BE49-F238E27FC236}">
                <a16:creationId xmlns:a16="http://schemas.microsoft.com/office/drawing/2014/main" id="{18C2F683-572B-5454-E9B7-9B220AAE1C67}"/>
              </a:ext>
            </a:extLst>
          </p:cNvPr>
          <p:cNvPicPr>
            <a:picLocks noChangeAspect="1"/>
          </p:cNvPicPr>
          <p:nvPr/>
        </p:nvPicPr>
        <p:blipFill>
          <a:blip r:embed="rId4"/>
          <a:stretch>
            <a:fillRect/>
          </a:stretch>
        </p:blipFill>
        <p:spPr>
          <a:xfrm>
            <a:off x="5982887" y="4478873"/>
            <a:ext cx="4093436" cy="835395"/>
          </a:xfrm>
          <a:prstGeom prst="rect">
            <a:avLst/>
          </a:prstGeom>
        </p:spPr>
      </p:pic>
      <p:graphicFrame>
        <p:nvGraphicFramePr>
          <p:cNvPr id="8" name="Table 7">
            <a:extLst>
              <a:ext uri="{FF2B5EF4-FFF2-40B4-BE49-F238E27FC236}">
                <a16:creationId xmlns:a16="http://schemas.microsoft.com/office/drawing/2014/main" id="{BD0CC573-DB15-2762-90A7-BF2000A99B70}"/>
              </a:ext>
            </a:extLst>
          </p:cNvPr>
          <p:cNvGraphicFramePr>
            <a:graphicFrameLocks noGrp="1"/>
          </p:cNvGraphicFramePr>
          <p:nvPr/>
        </p:nvGraphicFramePr>
        <p:xfrm>
          <a:off x="691485" y="2282444"/>
          <a:ext cx="10809027" cy="1480312"/>
        </p:xfrm>
        <a:graphic>
          <a:graphicData uri="http://schemas.openxmlformats.org/drawingml/2006/table">
            <a:tbl>
              <a:tblPr firstRow="1" bandRow="1">
                <a:tableStyleId>{2D5ABB26-0587-4C30-8999-92F81FD0307C}</a:tableStyleId>
              </a:tblPr>
              <a:tblGrid>
                <a:gridCol w="3603009">
                  <a:extLst>
                    <a:ext uri="{9D8B030D-6E8A-4147-A177-3AD203B41FA5}">
                      <a16:colId xmlns:a16="http://schemas.microsoft.com/office/drawing/2014/main" val="2022496262"/>
                    </a:ext>
                  </a:extLst>
                </a:gridCol>
                <a:gridCol w="3603009">
                  <a:extLst>
                    <a:ext uri="{9D8B030D-6E8A-4147-A177-3AD203B41FA5}">
                      <a16:colId xmlns:a16="http://schemas.microsoft.com/office/drawing/2014/main" val="3109094518"/>
                    </a:ext>
                  </a:extLst>
                </a:gridCol>
                <a:gridCol w="3603009">
                  <a:extLst>
                    <a:ext uri="{9D8B030D-6E8A-4147-A177-3AD203B41FA5}">
                      <a16:colId xmlns:a16="http://schemas.microsoft.com/office/drawing/2014/main" val="1944423509"/>
                    </a:ext>
                  </a:extLst>
                </a:gridCol>
              </a:tblGrid>
              <a:tr h="1439239">
                <a:tc>
                  <a:txBody>
                    <a:bodyPr/>
                    <a:lstStyle/>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AARON L. HOUSEHOLDER</a:t>
                      </a:r>
                    </a:p>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University of Central Florida </a:t>
                      </a:r>
                      <a:r>
                        <a:rPr lang="en-US" sz="1800" kern="1200" dirty="0">
                          <a:solidFill>
                            <a:srgbClr val="000000"/>
                          </a:solidFill>
                          <a:effectLst/>
                          <a:latin typeface="Aptos" panose="020B0004020202020204" pitchFamily="34" charset="0"/>
                          <a:ea typeface="+mn-ea"/>
                          <a:cs typeface="+mn-cs"/>
                        </a:rPr>
                        <a:t>aaroncs@ucf.edu</a:t>
                      </a:r>
                    </a:p>
                    <a:p>
                      <a:endParaRPr lang="en-US" sz="1800" kern="1200" dirty="0">
                        <a:solidFill>
                          <a:srgbClr val="000000"/>
                        </a:solidFill>
                        <a:effectLst/>
                        <a:latin typeface="Aptos" panose="020B0004020202020204" pitchFamily="34" charset="0"/>
                        <a:ea typeface="+mn-ea"/>
                        <a:cs typeface="+mn-cs"/>
                      </a:endParaRPr>
                    </a:p>
                  </a:txBody>
                  <a:tcPr/>
                </a:tc>
                <a:tc>
                  <a:txBody>
                    <a:bodyPr/>
                    <a:lstStyle/>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CLIFF C. ZOU</a:t>
                      </a:r>
                    </a:p>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University of Central Florida </a:t>
                      </a:r>
                      <a:r>
                        <a:rPr lang="en-US" sz="1800" dirty="0" err="1">
                          <a:solidFill>
                            <a:srgbClr val="000000"/>
                          </a:solidFill>
                          <a:effectLst/>
                          <a:latin typeface="Aptos" panose="020B0004020202020204" pitchFamily="34" charset="0"/>
                        </a:rPr>
                        <a:t>changchun.zou@ucf.edu</a:t>
                      </a:r>
                      <a:endParaRPr lang="en-US" sz="1800" dirty="0">
                        <a:solidFill>
                          <a:srgbClr val="000000"/>
                        </a:solidFill>
                        <a:effectLst/>
                        <a:latin typeface="Aptos" panose="020B0004020202020204" pitchFamily="34" charset="0"/>
                      </a:endParaRPr>
                    </a:p>
                    <a:p>
                      <a:pPr algn="ctr"/>
                      <a:endParaRPr lang="en-US" dirty="0"/>
                    </a:p>
                  </a:txBody>
                  <a:tcPr/>
                </a:tc>
                <a:tc>
                  <a:txBody>
                    <a:bodyPr/>
                    <a:lstStyle/>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EMRE H. BROOKES</a:t>
                      </a:r>
                    </a:p>
                    <a:p>
                      <a:pPr marL="0" indent="0" algn="ctr" defTabSz="914400" rtl="0" eaLnBrk="1" latinLnBrk="0" hangingPunct="1">
                        <a:lnSpc>
                          <a:spcPct val="120000"/>
                        </a:lnSpc>
                        <a:spcBef>
                          <a:spcPts val="1000"/>
                        </a:spcBef>
                        <a:buNone/>
                      </a:pPr>
                      <a:r>
                        <a:rPr lang="en-US" sz="1800" kern="1200" dirty="0">
                          <a:solidFill>
                            <a:srgbClr val="000000"/>
                          </a:solidFill>
                          <a:effectLst/>
                          <a:latin typeface="Aptos" panose="020B0004020202020204" pitchFamily="34" charset="0"/>
                          <a:ea typeface="+mn-ea"/>
                          <a:cs typeface="+mn-cs"/>
                        </a:rPr>
                        <a:t>University of Montana emre.brookes@umontana.edu</a:t>
                      </a:r>
                    </a:p>
                    <a:p>
                      <a:pPr algn="ctr"/>
                      <a:endParaRPr lang="en-US" dirty="0"/>
                    </a:p>
                  </a:txBody>
                  <a:tcPr/>
                </a:tc>
                <a:extLst>
                  <a:ext uri="{0D108BD9-81ED-4DB2-BD59-A6C34878D82A}">
                    <a16:rowId xmlns:a16="http://schemas.microsoft.com/office/drawing/2014/main" val="3060246"/>
                  </a:ext>
                </a:extLst>
              </a:tr>
            </a:tbl>
          </a:graphicData>
        </a:graphic>
      </p:graphicFrame>
    </p:spTree>
    <p:extLst>
      <p:ext uri="{BB962C8B-B14F-4D97-AF65-F5344CB8AC3E}">
        <p14:creationId xmlns:p14="http://schemas.microsoft.com/office/powerpoint/2010/main" val="1184009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Every HPC user faces this moment</a:t>
            </a:r>
          </a:p>
        </p:txBody>
      </p:sp>
      <p:sp>
        <p:nvSpPr>
          <p:cNvPr id="3" name="TextBox 2"/>
          <p:cNvSpPr txBox="1"/>
          <p:nvPr/>
        </p:nvSpPr>
        <p:spPr>
          <a:xfrm>
            <a:off x="838200" y="1825625"/>
            <a:ext cx="10515600" cy="384721"/>
          </a:xfrm>
          <a:prstGeom prst="rect">
            <a:avLst/>
          </a:prstGeom>
          <a:noFill/>
        </p:spPr>
        <p:txBody>
          <a:bodyPr wrap="square">
            <a:spAutoFit/>
          </a:bodyPr>
          <a:lstStyle/>
          <a:p>
            <a:r>
              <a:rPr sz="1900" b="0" i="1" dirty="0">
                <a:solidFill>
                  <a:srgbClr val="0E2841"/>
                </a:solidFill>
              </a:rPr>
              <a:t>Scheduler asks: how much time? </a:t>
            </a:r>
          </a:p>
        </p:txBody>
      </p:sp>
      <p:sp>
        <p:nvSpPr>
          <p:cNvPr id="4" name="Oval 3"/>
          <p:cNvSpPr/>
          <p:nvPr/>
        </p:nvSpPr>
        <p:spPr>
          <a:xfrm>
            <a:off x="838200" y="2705625"/>
            <a:ext cx="950000" cy="950000"/>
          </a:xfrm>
          <a:prstGeom prst="ellipse">
            <a:avLst/>
          </a:prstGeom>
          <a:solidFill>
            <a:srgbClr val="700C2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3600" b="1" i="0">
                <a:solidFill>
                  <a:srgbClr val="FFFFFF"/>
                </a:solidFill>
              </a:rPr>
              <a:t>↓</a:t>
            </a:r>
          </a:p>
        </p:txBody>
      </p:sp>
      <p:sp>
        <p:nvSpPr>
          <p:cNvPr id="5" name="TextBox 4"/>
          <p:cNvSpPr txBox="1"/>
          <p:nvPr/>
        </p:nvSpPr>
        <p:spPr>
          <a:xfrm>
            <a:off x="2038200" y="2745625"/>
            <a:ext cx="3707800" cy="500000"/>
          </a:xfrm>
          <a:prstGeom prst="rect">
            <a:avLst/>
          </a:prstGeom>
          <a:noFill/>
        </p:spPr>
        <p:txBody>
          <a:bodyPr wrap="square">
            <a:spAutoFit/>
          </a:bodyPr>
          <a:lstStyle/>
          <a:p>
            <a:r>
              <a:rPr sz="2300" b="1" i="0">
                <a:solidFill>
                  <a:srgbClr val="700C2F"/>
                </a:solidFill>
              </a:rPr>
              <a:t>Underestimate</a:t>
            </a:r>
          </a:p>
        </p:txBody>
      </p:sp>
      <p:sp>
        <p:nvSpPr>
          <p:cNvPr id="6" name="TextBox 5"/>
          <p:cNvSpPr txBox="1"/>
          <p:nvPr/>
        </p:nvSpPr>
        <p:spPr>
          <a:xfrm>
            <a:off x="2038200" y="3185625"/>
            <a:ext cx="3707800" cy="470000"/>
          </a:xfrm>
          <a:prstGeom prst="rect">
            <a:avLst/>
          </a:prstGeom>
          <a:noFill/>
        </p:spPr>
        <p:txBody>
          <a:bodyPr wrap="square">
            <a:spAutoFit/>
          </a:bodyPr>
          <a:lstStyle/>
          <a:p>
            <a:r>
              <a:rPr sz="1600" b="0" i="0">
                <a:solidFill>
                  <a:srgbClr val="0E2841"/>
                </a:solidFill>
              </a:rPr>
              <a:t>Job killed mid-run.</a:t>
            </a:r>
          </a:p>
        </p:txBody>
      </p:sp>
      <p:sp>
        <p:nvSpPr>
          <p:cNvPr id="7" name="Oval 6"/>
          <p:cNvSpPr/>
          <p:nvPr/>
        </p:nvSpPr>
        <p:spPr>
          <a:xfrm>
            <a:off x="6446000" y="2705625"/>
            <a:ext cx="950000" cy="950000"/>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3600" b="1" i="0">
                <a:solidFill>
                  <a:srgbClr val="FFFFFF"/>
                </a:solidFill>
              </a:rPr>
              <a:t>↑</a:t>
            </a:r>
          </a:p>
        </p:txBody>
      </p:sp>
      <p:sp>
        <p:nvSpPr>
          <p:cNvPr id="8" name="TextBox 7"/>
          <p:cNvSpPr txBox="1"/>
          <p:nvPr/>
        </p:nvSpPr>
        <p:spPr>
          <a:xfrm>
            <a:off x="7646000" y="2745625"/>
            <a:ext cx="3707800" cy="500000"/>
          </a:xfrm>
          <a:prstGeom prst="rect">
            <a:avLst/>
          </a:prstGeom>
          <a:noFill/>
        </p:spPr>
        <p:txBody>
          <a:bodyPr wrap="square">
            <a:spAutoFit/>
          </a:bodyPr>
          <a:lstStyle/>
          <a:p>
            <a:r>
              <a:rPr sz="2300" b="1" i="0">
                <a:solidFill>
                  <a:srgbClr val="0E2841"/>
                </a:solidFill>
              </a:rPr>
              <a:t>Overestimate</a:t>
            </a:r>
          </a:p>
        </p:txBody>
      </p:sp>
      <p:sp>
        <p:nvSpPr>
          <p:cNvPr id="9" name="TextBox 8"/>
          <p:cNvSpPr txBox="1"/>
          <p:nvPr/>
        </p:nvSpPr>
        <p:spPr>
          <a:xfrm>
            <a:off x="7646000" y="3185625"/>
            <a:ext cx="3707800" cy="470000"/>
          </a:xfrm>
          <a:prstGeom prst="rect">
            <a:avLst/>
          </a:prstGeom>
          <a:noFill/>
        </p:spPr>
        <p:txBody>
          <a:bodyPr wrap="square">
            <a:spAutoFit/>
          </a:bodyPr>
          <a:lstStyle/>
          <a:p>
            <a:r>
              <a:rPr sz="1600" b="0" i="0">
                <a:solidFill>
                  <a:srgbClr val="0E2841"/>
                </a:solidFill>
              </a:rPr>
              <a:t>Wasted allocation, longer queue wait.</a:t>
            </a:r>
          </a:p>
        </p:txBody>
      </p:sp>
      <p:sp>
        <p:nvSpPr>
          <p:cNvPr id="10" name="TextBox 9"/>
          <p:cNvSpPr txBox="1"/>
          <p:nvPr/>
        </p:nvSpPr>
        <p:spPr>
          <a:xfrm>
            <a:off x="838200" y="3955625"/>
            <a:ext cx="10515600" cy="340000"/>
          </a:xfrm>
          <a:prstGeom prst="rect">
            <a:avLst/>
          </a:prstGeom>
          <a:noFill/>
        </p:spPr>
        <p:txBody>
          <a:bodyPr wrap="square">
            <a:spAutoFit/>
          </a:bodyPr>
          <a:lstStyle/>
          <a:p>
            <a:pPr algn="ctr"/>
            <a:r>
              <a:rPr sz="1500" b="0" i="1" dirty="0">
                <a:solidFill>
                  <a:srgbClr val="555555"/>
                </a:solidFill>
              </a:rPr>
              <a:t>Shared clusters: your bad estimate affects everyone.</a:t>
            </a:r>
          </a:p>
        </p:txBody>
      </p:sp>
      <p:sp>
        <p:nvSpPr>
          <p:cNvPr id="11" name="Rounded Rectangle 10"/>
          <p:cNvSpPr/>
          <p:nvPr/>
        </p:nvSpPr>
        <p:spPr>
          <a:xfrm>
            <a:off x="838200" y="4502642"/>
            <a:ext cx="10515600" cy="1329749"/>
          </a:xfrm>
          <a:prstGeom prst="roundRect">
            <a:avLst>
              <a:gd name="adj" fmla="val 9000"/>
            </a:avLst>
          </a:prstGeom>
          <a:solidFill>
            <a:srgbClr val="ECE3E6"/>
          </a:solidFill>
          <a:ln>
            <a:noFill/>
          </a:ln>
          <a:effectLst/>
        </p:spPr>
        <p:style>
          <a:lnRef idx="1">
            <a:schemeClr val="accent1"/>
          </a:lnRef>
          <a:fillRef idx="3">
            <a:schemeClr val="accent1"/>
          </a:fillRef>
          <a:effectRef idx="2">
            <a:schemeClr val="accent1"/>
          </a:effectRef>
          <a:fontRef idx="minor">
            <a:schemeClr val="lt1"/>
          </a:fontRef>
        </p:style>
        <p:txBody>
          <a:bodyPr wrap="square" lIns="320000" rIns="320000" rtlCol="0" anchor="ctr"/>
          <a:lstStyle/>
          <a:p>
            <a:r>
              <a:rPr lang="en-US" sz="1700" b="1" dirty="0">
                <a:solidFill>
                  <a:srgbClr val="700C2F"/>
                </a:solidFill>
              </a:rPr>
              <a:t>Constraint: </a:t>
            </a:r>
            <a:r>
              <a:rPr lang="en-US" sz="1700" dirty="0">
                <a:solidFill>
                  <a:srgbClr val="0E2841"/>
                </a:solidFill>
              </a:rPr>
              <a:t>only submission-time metadata available. No scheduler internals. No runtime monitoring. No node telemetry.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i="1" dirty="0" err="1"/>
              <a:t>UltraScan</a:t>
            </a:r>
            <a:endParaRPr lang="en-US" i="1" dirty="0"/>
          </a:p>
        </p:txBody>
      </p:sp>
      <p:graphicFrame>
        <p:nvGraphicFramePr>
          <p:cNvPr id="6" name="Content Placeholder 3">
            <a:extLst>
              <a:ext uri="{FF2B5EF4-FFF2-40B4-BE49-F238E27FC236}">
                <a16:creationId xmlns:a16="http://schemas.microsoft.com/office/drawing/2014/main" id="{5FC58A53-72A4-1E05-5C33-7ED86E1F074C}"/>
              </a:ext>
            </a:extLst>
          </p:cNvPr>
          <p:cNvGraphicFramePr>
            <a:graphicFrameLocks noGrp="1"/>
          </p:cNvGraphicFramePr>
          <p:nvPr>
            <p:ph idx="1"/>
            <p:extLst>
              <p:ext uri="{D42A27DB-BD31-4B8C-83A1-F6EECF244321}">
                <p14:modId xmlns:p14="http://schemas.microsoft.com/office/powerpoint/2010/main" val="3828101973"/>
              </p:ext>
            </p:extLst>
          </p:nvPr>
        </p:nvGraphicFramePr>
        <p:xfrm>
          <a:off x="838200" y="1397000"/>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baseline="0" dirty="0"/>
              <a:t>Eleven years of jobs, using only what’s known at submission</a:t>
            </a:r>
          </a:p>
        </p:txBody>
      </p:sp>
      <p:sp>
        <p:nvSpPr>
          <p:cNvPr id="7" name="TextBox 6"/>
          <p:cNvSpPr txBox="1"/>
          <p:nvPr/>
        </p:nvSpPr>
        <p:spPr>
          <a:xfrm>
            <a:off x="838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spcAft>
                <a:spcPts val="600"/>
              </a:spcAft>
              <a:buFont typeface="Arial" panose="020B0604020202020204" pitchFamily="34" charset="0"/>
              <a:buChar char="•"/>
            </a:pPr>
            <a:endParaRPr lang="en-US" sz="2800" b="0" dirty="0"/>
          </a:p>
        </p:txBody>
      </p:sp>
      <p:graphicFrame>
        <p:nvGraphicFramePr>
          <p:cNvPr id="6" name="Content Placeholder 3">
            <a:extLst>
              <a:ext uri="{FF2B5EF4-FFF2-40B4-BE49-F238E27FC236}">
                <a16:creationId xmlns:a16="http://schemas.microsoft.com/office/drawing/2014/main" id="{B0D723E3-A7AB-2CAE-2F47-FD4577C63E40}"/>
              </a:ext>
            </a:extLst>
          </p:cNvPr>
          <p:cNvGraphicFramePr>
            <a:graphicFrameLocks noGrp="1"/>
          </p:cNvGraphicFramePr>
          <p:nvPr>
            <p:ph idx="1"/>
          </p:nvPr>
        </p:nvGraphicFramePr>
        <p:xfrm>
          <a:off x="838200" y="1552909"/>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702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ECB41891-236B-D44F-9808-F6A93BC7D14F}"/>
              </a:ext>
            </a:extLst>
          </p:cNvPr>
          <p:cNvSpPr/>
          <p:nvPr/>
        </p:nvSpPr>
        <p:spPr>
          <a:xfrm>
            <a:off x="8051800" y="1690688"/>
            <a:ext cx="3302000" cy="3810000"/>
          </a:xfrm>
          <a:prstGeom prst="roundRect">
            <a:avLst/>
          </a:prstGeom>
          <a:solidFill>
            <a:srgbClr val="FFFFFF"/>
          </a:solidFill>
          <a:ln w="19050" cap="flat" cmpd="sng" algn="ctr">
            <a:solidFill>
              <a:srgbClr val="B996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ounded Rectangle 7">
            <a:extLst>
              <a:ext uri="{FF2B5EF4-FFF2-40B4-BE49-F238E27FC236}">
                <a16:creationId xmlns:a16="http://schemas.microsoft.com/office/drawing/2014/main" id="{1FFB370B-4EAC-EA46-BFFE-FEBE0B64A4C5}"/>
              </a:ext>
            </a:extLst>
          </p:cNvPr>
          <p:cNvSpPr/>
          <p:nvPr/>
        </p:nvSpPr>
        <p:spPr>
          <a:xfrm>
            <a:off x="4445000" y="1690688"/>
            <a:ext cx="3302000" cy="3810000"/>
          </a:xfrm>
          <a:prstGeom prst="roundRect">
            <a:avLst/>
          </a:prstGeom>
          <a:solidFill>
            <a:srgbClr val="FFFFFF"/>
          </a:solidFill>
          <a:ln w="19050" cap="flat" cmpd="sng" algn="ctr">
            <a:solidFill>
              <a:srgbClr val="B996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ounded Rectangle 3">
            <a:extLst>
              <a:ext uri="{FF2B5EF4-FFF2-40B4-BE49-F238E27FC236}">
                <a16:creationId xmlns:a16="http://schemas.microsoft.com/office/drawing/2014/main" id="{DA617FBD-1D72-FE4D-A3D2-69AF5F88BB72}"/>
              </a:ext>
            </a:extLst>
          </p:cNvPr>
          <p:cNvSpPr/>
          <p:nvPr/>
        </p:nvSpPr>
        <p:spPr>
          <a:xfrm>
            <a:off x="838200" y="1690688"/>
            <a:ext cx="3302000" cy="3810000"/>
          </a:xfrm>
          <a:prstGeom prst="roundRect">
            <a:avLst/>
          </a:prstGeom>
          <a:solidFill>
            <a:srgbClr val="FFFFFF"/>
          </a:solidFill>
          <a:ln w="19050" cap="flat" cmpd="sng" algn="ctr">
            <a:solidFill>
              <a:srgbClr val="B996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p:cNvSpPr>
            <a:spLocks noGrp="1"/>
          </p:cNvSpPr>
          <p:nvPr>
            <p:ph type="title"/>
          </p:nvPr>
        </p:nvSpPr>
        <p:spPr/>
        <p:txBody>
          <a:bodyPr/>
          <a:lstStyle/>
          <a:p>
            <a:r>
              <a:rPr lang="en-US" i="1" dirty="0"/>
              <a:t>Prior work left three questions open</a:t>
            </a:r>
            <a:endParaRPr lang="en-US" dirty="0"/>
          </a:p>
        </p:txBody>
      </p:sp>
      <p:sp>
        <p:nvSpPr>
          <p:cNvPr id="5" name="Oval 4">
            <a:extLst>
              <a:ext uri="{FF2B5EF4-FFF2-40B4-BE49-F238E27FC236}">
                <a16:creationId xmlns:a16="http://schemas.microsoft.com/office/drawing/2014/main" id="{D83D13CC-CBF4-2843-B7C9-000F90E2898E}"/>
              </a:ext>
            </a:extLst>
          </p:cNvPr>
          <p:cNvSpPr/>
          <p:nvPr/>
        </p:nvSpPr>
        <p:spPr>
          <a:xfrm>
            <a:off x="2133600" y="2020888"/>
            <a:ext cx="711200" cy="711200"/>
          </a:xfrm>
          <a:prstGeom prst="ellipse">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2000" b="1">
              <a:solidFill>
                <a:srgbClr val="FFFFFF"/>
              </a:solidFill>
            </a:endParaRPr>
          </a:p>
        </p:txBody>
      </p:sp>
      <p:sp>
        <p:nvSpPr>
          <p:cNvPr id="6" name="TextBox 5">
            <a:extLst>
              <a:ext uri="{FF2B5EF4-FFF2-40B4-BE49-F238E27FC236}">
                <a16:creationId xmlns:a16="http://schemas.microsoft.com/office/drawing/2014/main" id="{043C488B-01AE-7647-A2F1-3F5E55A8E066}"/>
              </a:ext>
            </a:extLst>
          </p:cNvPr>
          <p:cNvSpPr txBox="1"/>
          <p:nvPr/>
        </p:nvSpPr>
        <p:spPr>
          <a:xfrm>
            <a:off x="1016000" y="2960688"/>
            <a:ext cx="2946400" cy="353943"/>
          </a:xfrm>
          <a:prstGeom prst="rect">
            <a:avLst/>
          </a:prstGeom>
          <a:noFill/>
        </p:spPr>
        <p:txBody>
          <a:bodyPr vertOverflow="overflow" vert="horz" wrap="square" rtlCol="0" anchor="t" anchorCtr="0">
            <a:spAutoFit/>
          </a:bodyPr>
          <a:lstStyle/>
          <a:p>
            <a:pPr algn="ctr"/>
            <a:r>
              <a:rPr lang="en-US" sz="1700" b="1" dirty="0">
                <a:solidFill>
                  <a:srgbClr val="700C2F"/>
                </a:solidFill>
              </a:rPr>
              <a:t>Record-order splits</a:t>
            </a:r>
          </a:p>
        </p:txBody>
      </p:sp>
      <p:sp>
        <p:nvSpPr>
          <p:cNvPr id="7" name="TextBox 6">
            <a:extLst>
              <a:ext uri="{FF2B5EF4-FFF2-40B4-BE49-F238E27FC236}">
                <a16:creationId xmlns:a16="http://schemas.microsoft.com/office/drawing/2014/main" id="{6A04C8B8-412F-AE4E-A946-467B77D6CAC3}"/>
              </a:ext>
            </a:extLst>
          </p:cNvPr>
          <p:cNvSpPr txBox="1"/>
          <p:nvPr/>
        </p:nvSpPr>
        <p:spPr>
          <a:xfrm>
            <a:off x="1016000" y="3646488"/>
            <a:ext cx="2946400" cy="553998"/>
          </a:xfrm>
          <a:prstGeom prst="rect">
            <a:avLst/>
          </a:prstGeom>
          <a:noFill/>
        </p:spPr>
        <p:txBody>
          <a:bodyPr vertOverflow="overflow" vert="horz" wrap="square" rtlCol="0" anchor="t" anchorCtr="0">
            <a:spAutoFit/>
          </a:bodyPr>
          <a:lstStyle/>
          <a:p>
            <a:pPr algn="ctr"/>
            <a:r>
              <a:rPr lang="en-US" sz="1500" i="1">
                <a:solidFill>
                  <a:srgbClr val="3A3A3A"/>
                </a:solidFill>
              </a:rPr>
              <a:t>Does it hold under temporal ordering?</a:t>
            </a:r>
          </a:p>
        </p:txBody>
      </p:sp>
      <p:sp>
        <p:nvSpPr>
          <p:cNvPr id="9" name="Oval 8">
            <a:extLst>
              <a:ext uri="{FF2B5EF4-FFF2-40B4-BE49-F238E27FC236}">
                <a16:creationId xmlns:a16="http://schemas.microsoft.com/office/drawing/2014/main" id="{C80E2C88-2433-E442-B74E-634782E2B5AA}"/>
              </a:ext>
            </a:extLst>
          </p:cNvPr>
          <p:cNvSpPr/>
          <p:nvPr/>
        </p:nvSpPr>
        <p:spPr>
          <a:xfrm>
            <a:off x="5740400" y="2020888"/>
            <a:ext cx="711200" cy="711200"/>
          </a:xfrm>
          <a:prstGeom prst="ellipse">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2000" b="1" dirty="0">
              <a:solidFill>
                <a:srgbClr val="FFFFFF"/>
              </a:solidFill>
            </a:endParaRPr>
          </a:p>
        </p:txBody>
      </p:sp>
      <p:sp>
        <p:nvSpPr>
          <p:cNvPr id="10" name="TextBox 9">
            <a:extLst>
              <a:ext uri="{FF2B5EF4-FFF2-40B4-BE49-F238E27FC236}">
                <a16:creationId xmlns:a16="http://schemas.microsoft.com/office/drawing/2014/main" id="{15CB5162-3BBD-DF42-9040-24E97D87181F}"/>
              </a:ext>
            </a:extLst>
          </p:cNvPr>
          <p:cNvSpPr txBox="1"/>
          <p:nvPr/>
        </p:nvSpPr>
        <p:spPr>
          <a:xfrm>
            <a:off x="4622800" y="2960688"/>
            <a:ext cx="2946400" cy="353943"/>
          </a:xfrm>
          <a:prstGeom prst="rect">
            <a:avLst/>
          </a:prstGeom>
          <a:noFill/>
        </p:spPr>
        <p:txBody>
          <a:bodyPr vertOverflow="overflow" vert="horz" wrap="square" rtlCol="0" anchor="t" anchorCtr="0">
            <a:spAutoFit/>
          </a:bodyPr>
          <a:lstStyle/>
          <a:p>
            <a:pPr algn="ctr"/>
            <a:r>
              <a:rPr lang="en-US" sz="1700" b="1" dirty="0" err="1">
                <a:solidFill>
                  <a:srgbClr val="700C2F"/>
                </a:solidFill>
              </a:rPr>
              <a:t>CPUTime</a:t>
            </a:r>
            <a:r>
              <a:rPr lang="en-US" sz="1700" b="1" dirty="0">
                <a:solidFill>
                  <a:srgbClr val="700C2F"/>
                </a:solidFill>
              </a:rPr>
              <a:t>-only prediction</a:t>
            </a:r>
          </a:p>
        </p:txBody>
      </p:sp>
      <p:sp>
        <p:nvSpPr>
          <p:cNvPr id="11" name="TextBox 10">
            <a:extLst>
              <a:ext uri="{FF2B5EF4-FFF2-40B4-BE49-F238E27FC236}">
                <a16:creationId xmlns:a16="http://schemas.microsoft.com/office/drawing/2014/main" id="{5C8A7524-B278-4848-B1F5-D4B00A93E57C}"/>
              </a:ext>
            </a:extLst>
          </p:cNvPr>
          <p:cNvSpPr txBox="1"/>
          <p:nvPr/>
        </p:nvSpPr>
        <p:spPr>
          <a:xfrm>
            <a:off x="4622800" y="3646488"/>
            <a:ext cx="2946400" cy="553998"/>
          </a:xfrm>
          <a:prstGeom prst="rect">
            <a:avLst/>
          </a:prstGeom>
          <a:noFill/>
        </p:spPr>
        <p:txBody>
          <a:bodyPr vertOverflow="overflow" vert="horz" wrap="square" rtlCol="0" anchor="t" anchorCtr="0">
            <a:spAutoFit/>
          </a:bodyPr>
          <a:lstStyle/>
          <a:p>
            <a:pPr algn="ctr"/>
            <a:r>
              <a:rPr lang="en-US" sz="1500" i="1" dirty="0">
                <a:solidFill>
                  <a:srgbClr val="3A3A3A"/>
                </a:solidFill>
              </a:rPr>
              <a:t>Does memory behave the same way?</a:t>
            </a:r>
          </a:p>
        </p:txBody>
      </p:sp>
      <p:sp>
        <p:nvSpPr>
          <p:cNvPr id="13" name="Oval 12">
            <a:extLst>
              <a:ext uri="{FF2B5EF4-FFF2-40B4-BE49-F238E27FC236}">
                <a16:creationId xmlns:a16="http://schemas.microsoft.com/office/drawing/2014/main" id="{E3B5E77F-B8AD-9B45-AAB0-2B2226849AC2}"/>
              </a:ext>
            </a:extLst>
          </p:cNvPr>
          <p:cNvSpPr/>
          <p:nvPr/>
        </p:nvSpPr>
        <p:spPr>
          <a:xfrm>
            <a:off x="9347200" y="2020888"/>
            <a:ext cx="711200" cy="711200"/>
          </a:xfrm>
          <a:prstGeom prst="ellipse">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2000" b="1">
              <a:solidFill>
                <a:srgbClr val="FFFFFF"/>
              </a:solidFill>
            </a:endParaRPr>
          </a:p>
        </p:txBody>
      </p:sp>
      <p:sp>
        <p:nvSpPr>
          <p:cNvPr id="14" name="TextBox 13">
            <a:extLst>
              <a:ext uri="{FF2B5EF4-FFF2-40B4-BE49-F238E27FC236}">
                <a16:creationId xmlns:a16="http://schemas.microsoft.com/office/drawing/2014/main" id="{24146CF6-21F8-4D47-9916-02315CB54B69}"/>
              </a:ext>
            </a:extLst>
          </p:cNvPr>
          <p:cNvSpPr txBox="1"/>
          <p:nvPr/>
        </p:nvSpPr>
        <p:spPr>
          <a:xfrm>
            <a:off x="8229600" y="2960688"/>
            <a:ext cx="2946400" cy="353943"/>
          </a:xfrm>
          <a:prstGeom prst="rect">
            <a:avLst/>
          </a:prstGeom>
          <a:noFill/>
        </p:spPr>
        <p:txBody>
          <a:bodyPr vertOverflow="overflow" vert="horz" wrap="square" rtlCol="0" anchor="t" anchorCtr="0">
            <a:spAutoFit/>
          </a:bodyPr>
          <a:lstStyle/>
          <a:p>
            <a:pPr algn="ctr"/>
            <a:r>
              <a:rPr lang="en-US" sz="1700" b="1">
                <a:solidFill>
                  <a:srgbClr val="700C2F"/>
                </a:solidFill>
              </a:rPr>
              <a:t>Z-score filtering</a:t>
            </a:r>
          </a:p>
        </p:txBody>
      </p:sp>
      <p:sp>
        <p:nvSpPr>
          <p:cNvPr id="15" name="TextBox 14">
            <a:extLst>
              <a:ext uri="{FF2B5EF4-FFF2-40B4-BE49-F238E27FC236}">
                <a16:creationId xmlns:a16="http://schemas.microsoft.com/office/drawing/2014/main" id="{14D8C61A-3F5D-7F4E-A516-A839DEFAEFF8}"/>
              </a:ext>
            </a:extLst>
          </p:cNvPr>
          <p:cNvSpPr txBox="1"/>
          <p:nvPr/>
        </p:nvSpPr>
        <p:spPr>
          <a:xfrm>
            <a:off x="8229600" y="3646488"/>
            <a:ext cx="2946400" cy="323165"/>
          </a:xfrm>
          <a:prstGeom prst="rect">
            <a:avLst/>
          </a:prstGeom>
          <a:noFill/>
        </p:spPr>
        <p:txBody>
          <a:bodyPr vertOverflow="overflow" vert="horz" wrap="square" rtlCol="0" anchor="t" anchorCtr="0">
            <a:spAutoFit/>
          </a:bodyPr>
          <a:lstStyle/>
          <a:p>
            <a:pPr algn="ctr"/>
            <a:r>
              <a:rPr lang="en-US" sz="1500" i="1" dirty="0">
                <a:solidFill>
                  <a:srgbClr val="3A3A3A"/>
                </a:solidFill>
              </a:rPr>
              <a:t>Untested under temporal drift</a:t>
            </a:r>
          </a:p>
        </p:txBody>
      </p:sp>
      <p:pic>
        <p:nvPicPr>
          <p:cNvPr id="16" name="Graphic 16" descr="placehold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8700" y="2185988"/>
            <a:ext cx="381000" cy="381000"/>
          </a:xfrm>
          <a:prstGeom prst="rect">
            <a:avLst/>
          </a:prstGeom>
        </p:spPr>
      </p:pic>
      <p:pic>
        <p:nvPicPr>
          <p:cNvPr id="17" name="Graphic 17" descr="CPU/memory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5500" y="2185988"/>
            <a:ext cx="381000" cy="381000"/>
          </a:xfrm>
          <a:prstGeom prst="rect">
            <a:avLst/>
          </a:prstGeom>
        </p:spPr>
      </p:pic>
      <p:pic>
        <p:nvPicPr>
          <p:cNvPr id="18" name="Graphic 18" descr="Filter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12300" y="2185988"/>
            <a:ext cx="381000" cy="381000"/>
          </a:xfrm>
          <a:prstGeom prst="rect">
            <a:avLst/>
          </a:prstGeom>
        </p:spPr>
      </p:pic>
    </p:spTree>
    <p:extLst>
      <p:ext uri="{BB962C8B-B14F-4D97-AF65-F5344CB8AC3E}">
        <p14:creationId xmlns:p14="http://schemas.microsoft.com/office/powerpoint/2010/main" val="4217448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Temporal ordering</a:t>
            </a:r>
            <a:endParaRPr dirty="0"/>
          </a:p>
        </p:txBody>
      </p:sp>
      <p:sp>
        <p:nvSpPr>
          <p:cNvPr id="57" name="TextBox 56">
            <a:extLst>
              <a:ext uri="{FF2B5EF4-FFF2-40B4-BE49-F238E27FC236}">
                <a16:creationId xmlns:a16="http://schemas.microsoft.com/office/drawing/2014/main" id="{74DF9CC8-6AF5-304E-BC06-6E4D65DA5BC8}"/>
              </a:ext>
            </a:extLst>
          </p:cNvPr>
          <p:cNvSpPr txBox="1"/>
          <p:nvPr/>
        </p:nvSpPr>
        <p:spPr>
          <a:xfrm>
            <a:off x="3556000" y="1631431"/>
            <a:ext cx="889000" cy="279400"/>
          </a:xfrm>
          <a:prstGeom prst="rect">
            <a:avLst/>
          </a:prstGeom>
          <a:noFill/>
        </p:spPr>
        <p:txBody>
          <a:bodyPr vertOverflow="overflow" vert="horz" wrap="square" rtlCol="0" anchor="t">
            <a:spAutoFit/>
          </a:bodyPr>
          <a:lstStyle/>
          <a:p>
            <a:pPr algn="l"/>
            <a:r>
              <a:rPr lang="en-US" sz="1400" b="1">
                <a:solidFill>
                  <a:srgbClr val="2E2E2E"/>
                </a:solidFill>
              </a:rPr>
              <a:t>Train</a:t>
            </a:r>
          </a:p>
        </p:txBody>
      </p:sp>
      <p:sp>
        <p:nvSpPr>
          <p:cNvPr id="58" name="Rectangle 57">
            <a:extLst>
              <a:ext uri="{FF2B5EF4-FFF2-40B4-BE49-F238E27FC236}">
                <a16:creationId xmlns:a16="http://schemas.microsoft.com/office/drawing/2014/main" id="{675B50BB-E889-FD4F-8527-A42BD98FDB5A}"/>
              </a:ext>
            </a:extLst>
          </p:cNvPr>
          <p:cNvSpPr/>
          <p:nvPr/>
        </p:nvSpPr>
        <p:spPr>
          <a:xfrm>
            <a:off x="4648200" y="1669531"/>
            <a:ext cx="228600" cy="228600"/>
          </a:xfrm>
          <a:prstGeom prst="rect">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TextBox 58">
            <a:extLst>
              <a:ext uri="{FF2B5EF4-FFF2-40B4-BE49-F238E27FC236}">
                <a16:creationId xmlns:a16="http://schemas.microsoft.com/office/drawing/2014/main" id="{2013529A-562B-2540-B6DA-E6510C613454}"/>
              </a:ext>
            </a:extLst>
          </p:cNvPr>
          <p:cNvSpPr txBox="1"/>
          <p:nvPr/>
        </p:nvSpPr>
        <p:spPr>
          <a:xfrm>
            <a:off x="4953000" y="1631431"/>
            <a:ext cx="889000" cy="279400"/>
          </a:xfrm>
          <a:prstGeom prst="rect">
            <a:avLst/>
          </a:prstGeom>
          <a:noFill/>
        </p:spPr>
        <p:txBody>
          <a:bodyPr vertOverflow="overflow" vert="horz" wrap="square" rtlCol="0" anchor="t">
            <a:spAutoFit/>
          </a:bodyPr>
          <a:lstStyle/>
          <a:p>
            <a:pPr algn="l"/>
            <a:r>
              <a:rPr lang="en-US" sz="1400" b="1">
                <a:solidFill>
                  <a:srgbClr val="2E2E2E"/>
                </a:solidFill>
              </a:rPr>
              <a:t>Test</a:t>
            </a:r>
          </a:p>
        </p:txBody>
      </p:sp>
      <p:sp>
        <p:nvSpPr>
          <p:cNvPr id="60" name="TextBox 59">
            <a:extLst>
              <a:ext uri="{FF2B5EF4-FFF2-40B4-BE49-F238E27FC236}">
                <a16:creationId xmlns:a16="http://schemas.microsoft.com/office/drawing/2014/main" id="{347C4593-33E1-F349-8A05-74626A7A09B9}"/>
              </a:ext>
            </a:extLst>
          </p:cNvPr>
          <p:cNvSpPr txBox="1"/>
          <p:nvPr/>
        </p:nvSpPr>
        <p:spPr>
          <a:xfrm>
            <a:off x="838200" y="2075931"/>
            <a:ext cx="10515600" cy="338554"/>
          </a:xfrm>
          <a:prstGeom prst="rect">
            <a:avLst/>
          </a:prstGeom>
          <a:noFill/>
        </p:spPr>
        <p:txBody>
          <a:bodyPr vertOverflow="overflow" vert="horz" wrap="square" rtlCol="0" anchor="t">
            <a:spAutoFit/>
          </a:bodyPr>
          <a:lstStyle/>
          <a:p>
            <a:pPr algn="l"/>
            <a:r>
              <a:rPr lang="en-US" sz="1600" b="1" dirty="0">
                <a:solidFill>
                  <a:srgbClr val="2E2E2E"/>
                </a:solidFill>
              </a:rPr>
              <a:t>Record-order split</a:t>
            </a:r>
          </a:p>
        </p:txBody>
      </p:sp>
      <p:sp>
        <p:nvSpPr>
          <p:cNvPr id="61" name="TextBox 60">
            <a:extLst>
              <a:ext uri="{FF2B5EF4-FFF2-40B4-BE49-F238E27FC236}">
                <a16:creationId xmlns:a16="http://schemas.microsoft.com/office/drawing/2014/main" id="{2F0AED85-2967-AF4B-A93D-10CAFEBFD42D}"/>
              </a:ext>
            </a:extLst>
          </p:cNvPr>
          <p:cNvSpPr txBox="1"/>
          <p:nvPr/>
        </p:nvSpPr>
        <p:spPr>
          <a:xfrm>
            <a:off x="838200" y="2444231"/>
            <a:ext cx="2222500" cy="279400"/>
          </a:xfrm>
          <a:prstGeom prst="rect">
            <a:avLst/>
          </a:prstGeom>
          <a:noFill/>
        </p:spPr>
        <p:txBody>
          <a:bodyPr vertOverflow="overflow" vert="horz" wrap="square" rtlCol="0" anchor="t">
            <a:spAutoFit/>
          </a:bodyPr>
          <a:lstStyle/>
          <a:p>
            <a:pPr algn="l"/>
            <a:r>
              <a:rPr lang="en-US" sz="1400" i="1">
                <a:solidFill>
                  <a:srgbClr val="6B6B6B"/>
                </a:solidFill>
              </a:rPr>
              <a:t>By record order</a:t>
            </a:r>
          </a:p>
        </p:txBody>
      </p:sp>
      <p:sp>
        <p:nvSpPr>
          <p:cNvPr id="62" name="TextBox 61">
            <a:extLst>
              <a:ext uri="{FF2B5EF4-FFF2-40B4-BE49-F238E27FC236}">
                <a16:creationId xmlns:a16="http://schemas.microsoft.com/office/drawing/2014/main" id="{B2430E3F-208E-3843-BCF0-5B20F4046D4E}"/>
              </a:ext>
            </a:extLst>
          </p:cNvPr>
          <p:cNvSpPr txBox="1"/>
          <p:nvPr/>
        </p:nvSpPr>
        <p:spPr>
          <a:xfrm>
            <a:off x="838200" y="3269731"/>
            <a:ext cx="2222500" cy="307777"/>
          </a:xfrm>
          <a:prstGeom prst="rect">
            <a:avLst/>
          </a:prstGeom>
          <a:noFill/>
        </p:spPr>
        <p:txBody>
          <a:bodyPr vertOverflow="overflow" vert="horz" wrap="square" rtlCol="0" anchor="t">
            <a:spAutoFit/>
          </a:bodyPr>
          <a:lstStyle/>
          <a:p>
            <a:pPr algn="l"/>
            <a:r>
              <a:rPr lang="en-US" sz="1400" i="1" dirty="0">
                <a:solidFill>
                  <a:srgbClr val="6B6B6B"/>
                </a:solidFill>
              </a:rPr>
              <a:t>By true calendar time</a:t>
            </a:r>
          </a:p>
        </p:txBody>
      </p:sp>
      <p:sp>
        <p:nvSpPr>
          <p:cNvPr id="73" name="Oval 72">
            <a:extLst>
              <a:ext uri="{FF2B5EF4-FFF2-40B4-BE49-F238E27FC236}">
                <a16:creationId xmlns:a16="http://schemas.microsoft.com/office/drawing/2014/main" id="{CA28ADF6-5493-314E-B21B-6C356C11B8DF}"/>
              </a:ext>
            </a:extLst>
          </p:cNvPr>
          <p:cNvSpPr/>
          <p:nvPr/>
        </p:nvSpPr>
        <p:spPr>
          <a:xfrm>
            <a:off x="3465829"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74" name="Oval 73">
            <a:extLst>
              <a:ext uri="{FF2B5EF4-FFF2-40B4-BE49-F238E27FC236}">
                <a16:creationId xmlns:a16="http://schemas.microsoft.com/office/drawing/2014/main" id="{D53BB6E8-27CB-2B42-B7A9-391DEEDFF8E1}"/>
              </a:ext>
            </a:extLst>
          </p:cNvPr>
          <p:cNvSpPr/>
          <p:nvPr/>
        </p:nvSpPr>
        <p:spPr>
          <a:xfrm>
            <a:off x="4276090"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75" name="Oval 74">
            <a:extLst>
              <a:ext uri="{FF2B5EF4-FFF2-40B4-BE49-F238E27FC236}">
                <a16:creationId xmlns:a16="http://schemas.microsoft.com/office/drawing/2014/main" id="{60F9489E-5732-0743-BBC3-B629587BF10E}"/>
              </a:ext>
            </a:extLst>
          </p:cNvPr>
          <p:cNvSpPr/>
          <p:nvPr/>
        </p:nvSpPr>
        <p:spPr>
          <a:xfrm>
            <a:off x="5086350"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76" name="Oval 75">
            <a:extLst>
              <a:ext uri="{FF2B5EF4-FFF2-40B4-BE49-F238E27FC236}">
                <a16:creationId xmlns:a16="http://schemas.microsoft.com/office/drawing/2014/main" id="{9A28E7D3-2B85-4A47-AF7A-7B18D9AFFC7A}"/>
              </a:ext>
            </a:extLst>
          </p:cNvPr>
          <p:cNvSpPr/>
          <p:nvPr/>
        </p:nvSpPr>
        <p:spPr>
          <a:xfrm>
            <a:off x="5896609"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77" name="Oval 76">
            <a:extLst>
              <a:ext uri="{FF2B5EF4-FFF2-40B4-BE49-F238E27FC236}">
                <a16:creationId xmlns:a16="http://schemas.microsoft.com/office/drawing/2014/main" id="{40789D6D-9E68-5043-9FB6-DD434EBC5A10}"/>
              </a:ext>
            </a:extLst>
          </p:cNvPr>
          <p:cNvSpPr/>
          <p:nvPr/>
        </p:nvSpPr>
        <p:spPr>
          <a:xfrm>
            <a:off x="6706870"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78" name="Oval 77">
            <a:extLst>
              <a:ext uri="{FF2B5EF4-FFF2-40B4-BE49-F238E27FC236}">
                <a16:creationId xmlns:a16="http://schemas.microsoft.com/office/drawing/2014/main" id="{64BB38C1-175D-5F4D-A91E-C8901A6352B0}"/>
              </a:ext>
            </a:extLst>
          </p:cNvPr>
          <p:cNvSpPr/>
          <p:nvPr/>
        </p:nvSpPr>
        <p:spPr>
          <a:xfrm>
            <a:off x="7517130"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79" name="Oval 78">
            <a:extLst>
              <a:ext uri="{FF2B5EF4-FFF2-40B4-BE49-F238E27FC236}">
                <a16:creationId xmlns:a16="http://schemas.microsoft.com/office/drawing/2014/main" id="{1A30B15B-7920-9345-ACFD-B7E933226638}"/>
              </a:ext>
            </a:extLst>
          </p:cNvPr>
          <p:cNvSpPr/>
          <p:nvPr/>
        </p:nvSpPr>
        <p:spPr>
          <a:xfrm>
            <a:off x="8327389" y="23934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3" name="Oval 82">
            <a:extLst>
              <a:ext uri="{FF2B5EF4-FFF2-40B4-BE49-F238E27FC236}">
                <a16:creationId xmlns:a16="http://schemas.microsoft.com/office/drawing/2014/main" id="{5EA9B178-A09C-1E45-A63B-7DFB2E0B2EF7}"/>
              </a:ext>
            </a:extLst>
          </p:cNvPr>
          <p:cNvSpPr/>
          <p:nvPr/>
        </p:nvSpPr>
        <p:spPr>
          <a:xfrm>
            <a:off x="5896609"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4" name="Oval 83">
            <a:extLst>
              <a:ext uri="{FF2B5EF4-FFF2-40B4-BE49-F238E27FC236}">
                <a16:creationId xmlns:a16="http://schemas.microsoft.com/office/drawing/2014/main" id="{27CE3F54-3161-6E45-92F1-9EE42F85E5D9}"/>
              </a:ext>
            </a:extLst>
          </p:cNvPr>
          <p:cNvSpPr/>
          <p:nvPr/>
        </p:nvSpPr>
        <p:spPr>
          <a:xfrm>
            <a:off x="5086350"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5" name="Oval 84">
            <a:extLst>
              <a:ext uri="{FF2B5EF4-FFF2-40B4-BE49-F238E27FC236}">
                <a16:creationId xmlns:a16="http://schemas.microsoft.com/office/drawing/2014/main" id="{2A1689B3-4A25-C84E-93BF-C89B0783F66F}"/>
              </a:ext>
            </a:extLst>
          </p:cNvPr>
          <p:cNvSpPr/>
          <p:nvPr/>
        </p:nvSpPr>
        <p:spPr>
          <a:xfrm>
            <a:off x="9137649"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6" name="Oval 85">
            <a:extLst>
              <a:ext uri="{FF2B5EF4-FFF2-40B4-BE49-F238E27FC236}">
                <a16:creationId xmlns:a16="http://schemas.microsoft.com/office/drawing/2014/main" id="{DB68BDB5-2BD1-1E43-BBAF-73F6A5379582}"/>
              </a:ext>
            </a:extLst>
          </p:cNvPr>
          <p:cNvSpPr/>
          <p:nvPr/>
        </p:nvSpPr>
        <p:spPr>
          <a:xfrm>
            <a:off x="3465829"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7" name="Oval 86">
            <a:extLst>
              <a:ext uri="{FF2B5EF4-FFF2-40B4-BE49-F238E27FC236}">
                <a16:creationId xmlns:a16="http://schemas.microsoft.com/office/drawing/2014/main" id="{5807D1F6-F5A5-3446-9649-C156C3CDEAFE}"/>
              </a:ext>
            </a:extLst>
          </p:cNvPr>
          <p:cNvSpPr/>
          <p:nvPr/>
        </p:nvSpPr>
        <p:spPr>
          <a:xfrm>
            <a:off x="7517130"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8" name="Oval 87">
            <a:extLst>
              <a:ext uri="{FF2B5EF4-FFF2-40B4-BE49-F238E27FC236}">
                <a16:creationId xmlns:a16="http://schemas.microsoft.com/office/drawing/2014/main" id="{CD8A2FD8-1253-F649-9CA2-B386149318DE}"/>
              </a:ext>
            </a:extLst>
          </p:cNvPr>
          <p:cNvSpPr/>
          <p:nvPr/>
        </p:nvSpPr>
        <p:spPr>
          <a:xfrm>
            <a:off x="9947910"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89" name="Oval 88">
            <a:extLst>
              <a:ext uri="{FF2B5EF4-FFF2-40B4-BE49-F238E27FC236}">
                <a16:creationId xmlns:a16="http://schemas.microsoft.com/office/drawing/2014/main" id="{DA27975B-7D06-6049-8337-0B35D85D657A}"/>
              </a:ext>
            </a:extLst>
          </p:cNvPr>
          <p:cNvSpPr/>
          <p:nvPr/>
        </p:nvSpPr>
        <p:spPr>
          <a:xfrm>
            <a:off x="10758169" y="32189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94" name="TextBox 93">
            <a:extLst>
              <a:ext uri="{FF2B5EF4-FFF2-40B4-BE49-F238E27FC236}">
                <a16:creationId xmlns:a16="http://schemas.microsoft.com/office/drawing/2014/main" id="{AA9FD9C5-3878-6B47-B787-96C11F6D7A7B}"/>
              </a:ext>
            </a:extLst>
          </p:cNvPr>
          <p:cNvSpPr txBox="1"/>
          <p:nvPr/>
        </p:nvSpPr>
        <p:spPr>
          <a:xfrm>
            <a:off x="838200" y="3980931"/>
            <a:ext cx="10515600" cy="338554"/>
          </a:xfrm>
          <a:prstGeom prst="rect">
            <a:avLst/>
          </a:prstGeom>
          <a:noFill/>
        </p:spPr>
        <p:txBody>
          <a:bodyPr vertOverflow="overflow" vert="horz" wrap="square" rtlCol="0" anchor="t">
            <a:spAutoFit/>
          </a:bodyPr>
          <a:lstStyle/>
          <a:p>
            <a:pPr algn="l"/>
            <a:r>
              <a:rPr lang="en-US" sz="1600" b="1" dirty="0">
                <a:solidFill>
                  <a:srgbClr val="2E2E2E"/>
                </a:solidFill>
              </a:rPr>
              <a:t>Temporal split </a:t>
            </a:r>
          </a:p>
        </p:txBody>
      </p:sp>
      <p:sp>
        <p:nvSpPr>
          <p:cNvPr id="95" name="TextBox 94">
            <a:extLst>
              <a:ext uri="{FF2B5EF4-FFF2-40B4-BE49-F238E27FC236}">
                <a16:creationId xmlns:a16="http://schemas.microsoft.com/office/drawing/2014/main" id="{4CE61E69-A111-3347-8081-E74F43536435}"/>
              </a:ext>
            </a:extLst>
          </p:cNvPr>
          <p:cNvSpPr txBox="1"/>
          <p:nvPr/>
        </p:nvSpPr>
        <p:spPr>
          <a:xfrm>
            <a:off x="838200" y="4361931"/>
            <a:ext cx="2222500" cy="307777"/>
          </a:xfrm>
          <a:prstGeom prst="rect">
            <a:avLst/>
          </a:prstGeom>
          <a:noFill/>
        </p:spPr>
        <p:txBody>
          <a:bodyPr vertOverflow="overflow" vert="horz" wrap="square" rtlCol="0" anchor="t">
            <a:spAutoFit/>
          </a:bodyPr>
          <a:lstStyle/>
          <a:p>
            <a:pPr algn="l"/>
            <a:r>
              <a:rPr lang="en-US" sz="1400" i="1" dirty="0">
                <a:solidFill>
                  <a:srgbClr val="6B6B6B"/>
                </a:solidFill>
              </a:rPr>
              <a:t>By true calendar time</a:t>
            </a:r>
          </a:p>
        </p:txBody>
      </p:sp>
      <p:sp>
        <p:nvSpPr>
          <p:cNvPr id="96" name="Oval 95">
            <a:extLst>
              <a:ext uri="{FF2B5EF4-FFF2-40B4-BE49-F238E27FC236}">
                <a16:creationId xmlns:a16="http://schemas.microsoft.com/office/drawing/2014/main" id="{A64F93D4-BDAC-5D45-A1DC-C47D2B73EBC3}"/>
              </a:ext>
            </a:extLst>
          </p:cNvPr>
          <p:cNvSpPr/>
          <p:nvPr/>
        </p:nvSpPr>
        <p:spPr>
          <a:xfrm>
            <a:off x="3465829"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97" name="Oval 96">
            <a:extLst>
              <a:ext uri="{FF2B5EF4-FFF2-40B4-BE49-F238E27FC236}">
                <a16:creationId xmlns:a16="http://schemas.microsoft.com/office/drawing/2014/main" id="{3264A60F-1A2A-5345-83C9-55119BD7FDCE}"/>
              </a:ext>
            </a:extLst>
          </p:cNvPr>
          <p:cNvSpPr/>
          <p:nvPr/>
        </p:nvSpPr>
        <p:spPr>
          <a:xfrm>
            <a:off x="4276090"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98" name="Oval 97">
            <a:extLst>
              <a:ext uri="{FF2B5EF4-FFF2-40B4-BE49-F238E27FC236}">
                <a16:creationId xmlns:a16="http://schemas.microsoft.com/office/drawing/2014/main" id="{3820A037-273B-BE48-BEE9-983DDAE8C4D4}"/>
              </a:ext>
            </a:extLst>
          </p:cNvPr>
          <p:cNvSpPr/>
          <p:nvPr/>
        </p:nvSpPr>
        <p:spPr>
          <a:xfrm>
            <a:off x="5086350"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99" name="Oval 98">
            <a:extLst>
              <a:ext uri="{FF2B5EF4-FFF2-40B4-BE49-F238E27FC236}">
                <a16:creationId xmlns:a16="http://schemas.microsoft.com/office/drawing/2014/main" id="{A4F62E8F-BBC7-A544-A9AF-D5D473450C2B}"/>
              </a:ext>
            </a:extLst>
          </p:cNvPr>
          <p:cNvSpPr/>
          <p:nvPr/>
        </p:nvSpPr>
        <p:spPr>
          <a:xfrm>
            <a:off x="5896609"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100" name="Oval 99">
            <a:extLst>
              <a:ext uri="{FF2B5EF4-FFF2-40B4-BE49-F238E27FC236}">
                <a16:creationId xmlns:a16="http://schemas.microsoft.com/office/drawing/2014/main" id="{F83BDF42-3292-034A-81DF-39568CEAA8A9}"/>
              </a:ext>
            </a:extLst>
          </p:cNvPr>
          <p:cNvSpPr/>
          <p:nvPr/>
        </p:nvSpPr>
        <p:spPr>
          <a:xfrm>
            <a:off x="6706870"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101" name="Oval 100">
            <a:extLst>
              <a:ext uri="{FF2B5EF4-FFF2-40B4-BE49-F238E27FC236}">
                <a16:creationId xmlns:a16="http://schemas.microsoft.com/office/drawing/2014/main" id="{2B33928A-B941-564D-8FC2-EF0EDDB358C5}"/>
              </a:ext>
            </a:extLst>
          </p:cNvPr>
          <p:cNvSpPr/>
          <p:nvPr/>
        </p:nvSpPr>
        <p:spPr>
          <a:xfrm>
            <a:off x="7517130"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102" name="Oval 101">
            <a:extLst>
              <a:ext uri="{FF2B5EF4-FFF2-40B4-BE49-F238E27FC236}">
                <a16:creationId xmlns:a16="http://schemas.microsoft.com/office/drawing/2014/main" id="{D6DA2955-7CBC-5541-9A68-2A64D5FE6306}"/>
              </a:ext>
            </a:extLst>
          </p:cNvPr>
          <p:cNvSpPr/>
          <p:nvPr/>
        </p:nvSpPr>
        <p:spPr>
          <a:xfrm>
            <a:off x="8327389" y="4311131"/>
            <a:ext cx="381000" cy="381000"/>
          </a:xfrm>
          <a:prstGeom prst="ellipse">
            <a:avLst/>
          </a:prstGeom>
          <a:solidFill>
            <a:srgbClr val="B9965B"/>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1400" b="1">
              <a:solidFill>
                <a:srgbClr val="2E2E2E"/>
              </a:solidFill>
            </a:endParaRPr>
          </a:p>
        </p:txBody>
      </p:sp>
      <p:sp>
        <p:nvSpPr>
          <p:cNvPr id="106" name="Rectangle 105">
            <a:extLst>
              <a:ext uri="{FF2B5EF4-FFF2-40B4-BE49-F238E27FC236}">
                <a16:creationId xmlns:a16="http://schemas.microsoft.com/office/drawing/2014/main" id="{740294C6-2BDE-F14C-A1A1-A75B415164EF}"/>
              </a:ext>
            </a:extLst>
          </p:cNvPr>
          <p:cNvSpPr/>
          <p:nvPr/>
        </p:nvSpPr>
        <p:spPr>
          <a:xfrm>
            <a:off x="3251200" y="4882631"/>
            <a:ext cx="8051800" cy="25400"/>
          </a:xfrm>
          <a:prstGeom prst="rect">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7" name="Triangle 106">
            <a:extLst>
              <a:ext uri="{FF2B5EF4-FFF2-40B4-BE49-F238E27FC236}">
                <a16:creationId xmlns:a16="http://schemas.microsoft.com/office/drawing/2014/main" id="{E6797D47-17B4-BA40-AF57-84FA1ABFE5A4}"/>
              </a:ext>
            </a:extLst>
          </p:cNvPr>
          <p:cNvSpPr/>
          <p:nvPr/>
        </p:nvSpPr>
        <p:spPr>
          <a:xfrm rot="5400000">
            <a:off x="11226800" y="4803633"/>
            <a:ext cx="177800" cy="177800"/>
          </a:xfrm>
          <a:prstGeom prst="triangle">
            <a:avLst/>
          </a:prstGeom>
          <a:solidFill>
            <a:srgbClr val="6B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8" name="TextBox 107">
            <a:extLst>
              <a:ext uri="{FF2B5EF4-FFF2-40B4-BE49-F238E27FC236}">
                <a16:creationId xmlns:a16="http://schemas.microsoft.com/office/drawing/2014/main" id="{30423E36-2375-1548-9A31-FF3E4D3F694E}"/>
              </a:ext>
            </a:extLst>
          </p:cNvPr>
          <p:cNvSpPr txBox="1"/>
          <p:nvPr/>
        </p:nvSpPr>
        <p:spPr>
          <a:xfrm>
            <a:off x="3251200" y="4984231"/>
            <a:ext cx="8102600" cy="307777"/>
          </a:xfrm>
          <a:prstGeom prst="rect">
            <a:avLst/>
          </a:prstGeom>
          <a:noFill/>
        </p:spPr>
        <p:txBody>
          <a:bodyPr vertOverflow="overflow" vert="horz" wrap="square" rtlCol="0" anchor="t">
            <a:spAutoFit/>
          </a:bodyPr>
          <a:lstStyle/>
          <a:p>
            <a:pPr algn="l"/>
            <a:r>
              <a:rPr lang="en-US" sz="1400" i="1" dirty="0">
                <a:solidFill>
                  <a:srgbClr val="6B6B6B"/>
                </a:solidFill>
              </a:rPr>
              <a:t>earlier  →   later</a:t>
            </a:r>
          </a:p>
        </p:txBody>
      </p:sp>
      <p:sp>
        <p:nvSpPr>
          <p:cNvPr id="109" name="TextBox 108">
            <a:extLst>
              <a:ext uri="{FF2B5EF4-FFF2-40B4-BE49-F238E27FC236}">
                <a16:creationId xmlns:a16="http://schemas.microsoft.com/office/drawing/2014/main" id="{EBCD9961-98CD-2A46-B5C8-A79FEE6D09A6}"/>
              </a:ext>
            </a:extLst>
          </p:cNvPr>
          <p:cNvSpPr txBox="1"/>
          <p:nvPr/>
        </p:nvSpPr>
        <p:spPr>
          <a:xfrm>
            <a:off x="838200" y="5462029"/>
            <a:ext cx="10515600" cy="323165"/>
          </a:xfrm>
          <a:prstGeom prst="rect">
            <a:avLst/>
          </a:prstGeom>
          <a:noFill/>
        </p:spPr>
        <p:txBody>
          <a:bodyPr vertOverflow="overflow" vert="horz" wrap="square" rtlCol="0" anchor="t">
            <a:spAutoFit/>
          </a:bodyPr>
          <a:lstStyle/>
          <a:p>
            <a:pPr algn="l"/>
            <a:r>
              <a:rPr lang="en-US" sz="1500" b="1" dirty="0">
                <a:solidFill>
                  <a:srgbClr val="0E2841"/>
                </a:solidFill>
              </a:rPr>
              <a:t>Temporal Mean Absolute Error (MAE) is lower than record-order MAE for every family and both targets. </a:t>
            </a:r>
          </a:p>
        </p:txBody>
      </p:sp>
      <p:sp>
        <p:nvSpPr>
          <p:cNvPr id="110" name="Rectangle 109">
            <a:extLst>
              <a:ext uri="{FF2B5EF4-FFF2-40B4-BE49-F238E27FC236}">
                <a16:creationId xmlns:a16="http://schemas.microsoft.com/office/drawing/2014/main" id="{06C385CE-4A80-BC49-BF11-51CBC2B75A98}"/>
              </a:ext>
            </a:extLst>
          </p:cNvPr>
          <p:cNvSpPr/>
          <p:nvPr/>
        </p:nvSpPr>
        <p:spPr>
          <a:xfrm>
            <a:off x="9137648" y="23934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1" name="Rectangle 110">
            <a:extLst>
              <a:ext uri="{FF2B5EF4-FFF2-40B4-BE49-F238E27FC236}">
                <a16:creationId xmlns:a16="http://schemas.microsoft.com/office/drawing/2014/main" id="{D3EB143C-D7DF-8543-96ED-3149E40BB073}"/>
              </a:ext>
            </a:extLst>
          </p:cNvPr>
          <p:cNvSpPr/>
          <p:nvPr/>
        </p:nvSpPr>
        <p:spPr>
          <a:xfrm>
            <a:off x="9947910" y="23934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2" name="Rectangle 111">
            <a:extLst>
              <a:ext uri="{FF2B5EF4-FFF2-40B4-BE49-F238E27FC236}">
                <a16:creationId xmlns:a16="http://schemas.microsoft.com/office/drawing/2014/main" id="{14103A96-1A5D-E047-91AD-214A994C75D3}"/>
              </a:ext>
            </a:extLst>
          </p:cNvPr>
          <p:cNvSpPr/>
          <p:nvPr/>
        </p:nvSpPr>
        <p:spPr>
          <a:xfrm>
            <a:off x="10758169" y="23934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3" name="Rectangle 112">
            <a:extLst>
              <a:ext uri="{FF2B5EF4-FFF2-40B4-BE49-F238E27FC236}">
                <a16:creationId xmlns:a16="http://schemas.microsoft.com/office/drawing/2014/main" id="{4F2A7905-709A-994D-8EDC-6AC9812E45AC}"/>
              </a:ext>
            </a:extLst>
          </p:cNvPr>
          <p:cNvSpPr/>
          <p:nvPr/>
        </p:nvSpPr>
        <p:spPr>
          <a:xfrm>
            <a:off x="8327389" y="32189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4" name="Rectangle 113">
            <a:extLst>
              <a:ext uri="{FF2B5EF4-FFF2-40B4-BE49-F238E27FC236}">
                <a16:creationId xmlns:a16="http://schemas.microsoft.com/office/drawing/2014/main" id="{058BEFA9-8494-CC4D-9AA8-1FF8BB2993F4}"/>
              </a:ext>
            </a:extLst>
          </p:cNvPr>
          <p:cNvSpPr/>
          <p:nvPr/>
        </p:nvSpPr>
        <p:spPr>
          <a:xfrm>
            <a:off x="4276090" y="32189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5" name="Rectangle 114">
            <a:extLst>
              <a:ext uri="{FF2B5EF4-FFF2-40B4-BE49-F238E27FC236}">
                <a16:creationId xmlns:a16="http://schemas.microsoft.com/office/drawing/2014/main" id="{103242B1-CD5E-D542-BF75-E5B4A2B17EA2}"/>
              </a:ext>
            </a:extLst>
          </p:cNvPr>
          <p:cNvSpPr/>
          <p:nvPr/>
        </p:nvSpPr>
        <p:spPr>
          <a:xfrm>
            <a:off x="6706870" y="32189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6" name="Rectangle 115">
            <a:extLst>
              <a:ext uri="{FF2B5EF4-FFF2-40B4-BE49-F238E27FC236}">
                <a16:creationId xmlns:a16="http://schemas.microsoft.com/office/drawing/2014/main" id="{44D25B9E-6627-AE40-B1AC-F1A9201413A7}"/>
              </a:ext>
            </a:extLst>
          </p:cNvPr>
          <p:cNvSpPr/>
          <p:nvPr/>
        </p:nvSpPr>
        <p:spPr>
          <a:xfrm>
            <a:off x="9137648" y="43111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7" name="Rectangle 116">
            <a:extLst>
              <a:ext uri="{FF2B5EF4-FFF2-40B4-BE49-F238E27FC236}">
                <a16:creationId xmlns:a16="http://schemas.microsoft.com/office/drawing/2014/main" id="{E37A78AD-F299-F345-9D0C-844F23F71131}"/>
              </a:ext>
            </a:extLst>
          </p:cNvPr>
          <p:cNvSpPr/>
          <p:nvPr/>
        </p:nvSpPr>
        <p:spPr>
          <a:xfrm>
            <a:off x="9947910" y="43111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8" name="Rectangle 117">
            <a:extLst>
              <a:ext uri="{FF2B5EF4-FFF2-40B4-BE49-F238E27FC236}">
                <a16:creationId xmlns:a16="http://schemas.microsoft.com/office/drawing/2014/main" id="{5160B511-F474-B84C-A41A-ACE648F288B6}"/>
              </a:ext>
            </a:extLst>
          </p:cNvPr>
          <p:cNvSpPr/>
          <p:nvPr/>
        </p:nvSpPr>
        <p:spPr>
          <a:xfrm>
            <a:off x="10758169" y="4311131"/>
            <a:ext cx="381000" cy="381000"/>
          </a:xfrm>
          <a:prstGeom prst="rect">
            <a:avLst/>
          </a:prstGeom>
          <a:solidFill>
            <a:srgbClr val="700C2F"/>
          </a:solidFill>
          <a:ln w="1905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9" name="Oval 118">
            <a:extLst>
              <a:ext uri="{FF2B5EF4-FFF2-40B4-BE49-F238E27FC236}">
                <a16:creationId xmlns:a16="http://schemas.microsoft.com/office/drawing/2014/main" id="{7B891E62-32FF-7E42-8662-6614B92F2706}"/>
              </a:ext>
            </a:extLst>
          </p:cNvPr>
          <p:cNvSpPr/>
          <p:nvPr/>
        </p:nvSpPr>
        <p:spPr>
          <a:xfrm>
            <a:off x="3251200" y="1669531"/>
            <a:ext cx="228600" cy="228600"/>
          </a:xfrm>
          <a:prstGeom prst="ellipse">
            <a:avLst/>
          </a:prstGeom>
          <a:solidFill>
            <a:srgbClr val="B9965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i="1"/>
              <a:t>Memory and runtime behave very differently</a:t>
            </a:r>
            <a:endParaRPr/>
          </a:p>
        </p:txBody>
      </p:sp>
      <p:sp>
        <p:nvSpPr>
          <p:cNvPr id="4" name="Content Placeholder 3">
            <a:extLst>
              <a:ext uri="{FF2B5EF4-FFF2-40B4-BE49-F238E27FC236}">
                <a16:creationId xmlns:a16="http://schemas.microsoft.com/office/drawing/2014/main" id="{35962A5F-269C-9C35-C124-C38AB0D7AF66}"/>
              </a:ext>
            </a:extLst>
          </p:cNvPr>
          <p:cNvSpPr>
            <a:spLocks noGrp="1"/>
          </p:cNvSpPr>
          <p:nvPr>
            <p:ph idx="1"/>
          </p:nvPr>
        </p:nvSpPr>
        <p:spPr>
          <a:xfrm>
            <a:off x="838200" y="4385945"/>
            <a:ext cx="10515600" cy="1791018"/>
          </a:xfrm>
        </p:spPr>
        <p:txBody>
          <a:bodyPr/>
          <a:lstStyle/>
          <a:p>
            <a:pPr marL="0" indent="0">
              <a:buNone/>
            </a:pPr>
            <a:r>
              <a:rPr lang="en-US" sz="1600"/>
              <a:t>Memory ← algorithmic structure + data size (known at submission)</a:t>
            </a:r>
            <a:br>
              <a:rPr lang="en-US" sz="1600"/>
            </a:br>
            <a:r>
              <a:rPr lang="en-US" sz="1600"/>
              <a:t>Runtime ← environmental noise (not observable at submission)</a:t>
            </a:r>
          </a:p>
        </p:txBody>
      </p:sp>
      <p:graphicFrame>
        <p:nvGraphicFramePr>
          <p:cNvPr id="5" name="Table 4"/>
          <p:cNvGraphicFramePr>
            <a:graphicFrameLocks noGrp="1"/>
          </p:cNvGraphicFramePr>
          <p:nvPr/>
        </p:nvGraphicFramePr>
        <p:xfrm>
          <a:off x="838200" y="1825625"/>
          <a:ext cx="10515600" cy="219456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548640">
                <a:tc>
                  <a:txBody>
                    <a:bodyPr/>
                    <a:lstStyle/>
                    <a:p>
                      <a:pPr algn="l"/>
                      <a:r>
                        <a:rPr sz="1600" b="1">
                          <a:solidFill>
                            <a:srgbClr val="FFFFFF"/>
                          </a:solidFill>
                        </a:rPr>
                        <a:t>Family</a:t>
                      </a:r>
                    </a:p>
                  </a:txBody>
                  <a:tcPr marT="36576" marB="36576" anchor="ctr">
                    <a:solidFill>
                      <a:srgbClr val="700C2F"/>
                    </a:solidFill>
                  </a:tcPr>
                </a:tc>
                <a:tc>
                  <a:txBody>
                    <a:bodyPr/>
                    <a:lstStyle/>
                    <a:p>
                      <a:pPr algn="ctr"/>
                      <a:r>
                        <a:rPr sz="1600" b="1">
                          <a:solidFill>
                            <a:srgbClr val="FFFFFF"/>
                          </a:solidFill>
                        </a:rPr>
                        <a:t>R² (CPUTime)</a:t>
                      </a:r>
                    </a:p>
                  </a:txBody>
                  <a:tcPr marT="36576" marB="36576" anchor="ctr">
                    <a:solidFill>
                      <a:srgbClr val="700C2F"/>
                    </a:solidFill>
                  </a:tcPr>
                </a:tc>
                <a:tc>
                  <a:txBody>
                    <a:bodyPr/>
                    <a:lstStyle/>
                    <a:p>
                      <a:pPr algn="ctr"/>
                      <a:r>
                        <a:rPr sz="1600" b="1">
                          <a:solidFill>
                            <a:srgbClr val="FFFFFF"/>
                          </a:solidFill>
                        </a:rPr>
                        <a:t>R² (maxRSS)</a:t>
                      </a:r>
                    </a:p>
                  </a:txBody>
                  <a:tcPr marT="36576" marB="36576" anchor="ctr">
                    <a:solidFill>
                      <a:srgbClr val="700C2F"/>
                    </a:solidFill>
                  </a:tcPr>
                </a:tc>
                <a:extLst>
                  <a:ext uri="{0D108BD9-81ED-4DB2-BD59-A6C34878D82A}">
                    <a16:rowId xmlns:a16="http://schemas.microsoft.com/office/drawing/2014/main" val="10000"/>
                  </a:ext>
                </a:extLst>
              </a:tr>
              <a:tr h="548640">
                <a:tc>
                  <a:txBody>
                    <a:bodyPr/>
                    <a:lstStyle/>
                    <a:p>
                      <a:pPr algn="l"/>
                      <a:r>
                        <a:rPr sz="1600" b="1">
                          <a:solidFill>
                            <a:srgbClr val="0E2841"/>
                          </a:solidFill>
                        </a:rPr>
                        <a:t>2DSA</a:t>
                      </a:r>
                    </a:p>
                  </a:txBody>
                  <a:tcPr marT="36576" marB="36576" anchor="ctr">
                    <a:solidFill>
                      <a:srgbClr val="FFFFFF"/>
                    </a:solidFill>
                  </a:tcPr>
                </a:tc>
                <a:tc>
                  <a:txBody>
                    <a:bodyPr/>
                    <a:lstStyle/>
                    <a:p>
                      <a:pPr algn="ctr"/>
                      <a:r>
                        <a:rPr sz="1600" b="0">
                          <a:solidFill>
                            <a:srgbClr val="0E2841"/>
                          </a:solidFill>
                        </a:rPr>
                        <a:t>0.16</a:t>
                      </a:r>
                    </a:p>
                  </a:txBody>
                  <a:tcPr marT="36576" marB="36576" anchor="ctr">
                    <a:solidFill>
                      <a:srgbClr val="FFFFFF"/>
                    </a:solidFill>
                  </a:tcPr>
                </a:tc>
                <a:tc>
                  <a:txBody>
                    <a:bodyPr/>
                    <a:lstStyle/>
                    <a:p>
                      <a:pPr algn="ctr"/>
                      <a:r>
                        <a:rPr sz="1600" b="0">
                          <a:solidFill>
                            <a:srgbClr val="0E2841"/>
                          </a:solidFill>
                        </a:rPr>
                        <a:t>0.88</a:t>
                      </a:r>
                    </a:p>
                  </a:txBody>
                  <a:tcPr marT="36576" marB="36576" anchor="ctr">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0E2841"/>
                          </a:solidFill>
                        </a:rPr>
                        <a:t>GA</a:t>
                      </a:r>
                    </a:p>
                  </a:txBody>
                  <a:tcPr marT="36576" marB="36576" anchor="ctr">
                    <a:solidFill>
                      <a:srgbClr val="F2E9EC"/>
                    </a:solidFill>
                  </a:tcPr>
                </a:tc>
                <a:tc>
                  <a:txBody>
                    <a:bodyPr/>
                    <a:lstStyle/>
                    <a:p>
                      <a:pPr algn="ctr"/>
                      <a:r>
                        <a:rPr sz="1600" b="0">
                          <a:solidFill>
                            <a:srgbClr val="0E2841"/>
                          </a:solidFill>
                        </a:rPr>
                        <a:t>−0.02</a:t>
                      </a:r>
                    </a:p>
                  </a:txBody>
                  <a:tcPr marT="36576" marB="36576" anchor="ctr">
                    <a:solidFill>
                      <a:srgbClr val="F2E9EC"/>
                    </a:solidFill>
                  </a:tcPr>
                </a:tc>
                <a:tc>
                  <a:txBody>
                    <a:bodyPr/>
                    <a:lstStyle/>
                    <a:p>
                      <a:pPr algn="ctr"/>
                      <a:r>
                        <a:rPr sz="1600" b="0">
                          <a:solidFill>
                            <a:srgbClr val="0E2841"/>
                          </a:solidFill>
                        </a:rPr>
                        <a:t>0.39</a:t>
                      </a:r>
                    </a:p>
                  </a:txBody>
                  <a:tcPr marT="36576" marB="36576" anchor="ctr">
                    <a:solidFill>
                      <a:srgbClr val="F2E9EC"/>
                    </a:solidFill>
                  </a:tcPr>
                </a:tc>
                <a:extLst>
                  <a:ext uri="{0D108BD9-81ED-4DB2-BD59-A6C34878D82A}">
                    <a16:rowId xmlns:a16="http://schemas.microsoft.com/office/drawing/2014/main" val="10002"/>
                  </a:ext>
                </a:extLst>
              </a:tr>
              <a:tr h="548640">
                <a:tc>
                  <a:txBody>
                    <a:bodyPr/>
                    <a:lstStyle/>
                    <a:p>
                      <a:pPr algn="l"/>
                      <a:r>
                        <a:rPr sz="1600" b="1">
                          <a:solidFill>
                            <a:srgbClr val="0E2841"/>
                          </a:solidFill>
                        </a:rPr>
                        <a:t>PCSA</a:t>
                      </a:r>
                    </a:p>
                  </a:txBody>
                  <a:tcPr marT="36576" marB="36576" anchor="ctr">
                    <a:solidFill>
                      <a:srgbClr val="FFFFFF"/>
                    </a:solidFill>
                  </a:tcPr>
                </a:tc>
                <a:tc>
                  <a:txBody>
                    <a:bodyPr/>
                    <a:lstStyle/>
                    <a:p>
                      <a:pPr algn="ctr"/>
                      <a:r>
                        <a:rPr sz="1600" b="0">
                          <a:solidFill>
                            <a:srgbClr val="0E2841"/>
                          </a:solidFill>
                        </a:rPr>
                        <a:t>0.35</a:t>
                      </a:r>
                    </a:p>
                  </a:txBody>
                  <a:tcPr marT="36576" marB="36576" anchor="ctr">
                    <a:solidFill>
                      <a:srgbClr val="FFFFFF"/>
                    </a:solidFill>
                  </a:tcPr>
                </a:tc>
                <a:tc>
                  <a:txBody>
                    <a:bodyPr/>
                    <a:lstStyle/>
                    <a:p>
                      <a:pPr algn="ctr"/>
                      <a:r>
                        <a:rPr sz="1600" b="0">
                          <a:solidFill>
                            <a:srgbClr val="0E2841"/>
                          </a:solidFill>
                        </a:rPr>
                        <a:t>0.32</a:t>
                      </a: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689236" cy="1325563"/>
          </a:xfrm>
        </p:spPr>
        <p:txBody>
          <a:bodyPr/>
          <a:lstStyle/>
          <a:p>
            <a:r>
              <a:rPr lang="en-US" i="1" dirty="0"/>
              <a:t>Is runtime equally hard to predict for every job?</a:t>
            </a:r>
            <a:endParaRPr lang="en-US" dirty="0"/>
          </a:p>
        </p:txBody>
      </p:sp>
      <p:sp>
        <p:nvSpPr>
          <p:cNvPr id="4" name="TextBox 3">
            <a:extLst>
              <a:ext uri="{FF2B5EF4-FFF2-40B4-BE49-F238E27FC236}">
                <a16:creationId xmlns:a16="http://schemas.microsoft.com/office/drawing/2014/main" id="{373E901F-81E0-C14F-B64C-F58403C5FE26}"/>
              </a:ext>
            </a:extLst>
          </p:cNvPr>
          <p:cNvSpPr txBox="1"/>
          <p:nvPr/>
        </p:nvSpPr>
        <p:spPr>
          <a:xfrm>
            <a:off x="838200" y="1905000"/>
            <a:ext cx="10515600" cy="330200"/>
          </a:xfrm>
          <a:prstGeom prst="rect">
            <a:avLst/>
          </a:prstGeom>
          <a:noFill/>
        </p:spPr>
        <p:txBody>
          <a:bodyPr vertOverflow="overflow" vert="horz" wrap="square" rtlCol="0" anchor="t">
            <a:spAutoFit/>
          </a:bodyPr>
          <a:lstStyle/>
          <a:p>
            <a:pPr algn="l"/>
            <a:r>
              <a:rPr lang="en-US" sz="1700">
                <a:solidFill>
                  <a:srgbClr val="3A3A3A"/>
                </a:solidFill>
              </a:rPr>
              <a:t>Z-score: how far a job's config sits from distribution</a:t>
            </a:r>
          </a:p>
        </p:txBody>
      </p:sp>
      <p:sp>
        <p:nvSpPr>
          <p:cNvPr id="5" name="Rectangle 4">
            <a:extLst>
              <a:ext uri="{FF2B5EF4-FFF2-40B4-BE49-F238E27FC236}">
                <a16:creationId xmlns:a16="http://schemas.microsoft.com/office/drawing/2014/main" id="{4BD9AFE4-D5CA-B949-97C9-3EB9F148D05A}"/>
              </a:ext>
            </a:extLst>
          </p:cNvPr>
          <p:cNvSpPr/>
          <p:nvPr/>
        </p:nvSpPr>
        <p:spPr>
          <a:xfrm>
            <a:off x="838200" y="2730500"/>
            <a:ext cx="1314450" cy="762000"/>
          </a:xfrm>
          <a:prstGeom prst="rect">
            <a:avLst/>
          </a:prstGeom>
          <a:solidFill>
            <a:srgbClr val="700C2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1396766B-C36D-E149-BCD4-90BCA827E61A}"/>
              </a:ext>
            </a:extLst>
          </p:cNvPr>
          <p:cNvSpPr/>
          <p:nvPr/>
        </p:nvSpPr>
        <p:spPr>
          <a:xfrm>
            <a:off x="2152650" y="2730500"/>
            <a:ext cx="7886700" cy="762000"/>
          </a:xfrm>
          <a:prstGeom prst="rect">
            <a:avLst/>
          </a:prstGeom>
          <a:solidFill>
            <a:srgbClr val="B996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C3DBE4A7-1C9F-C44E-A10B-AFD616C6FD71}"/>
              </a:ext>
            </a:extLst>
          </p:cNvPr>
          <p:cNvSpPr/>
          <p:nvPr/>
        </p:nvSpPr>
        <p:spPr>
          <a:xfrm>
            <a:off x="10039350" y="2730500"/>
            <a:ext cx="1314450" cy="762000"/>
          </a:xfrm>
          <a:prstGeom prst="rect">
            <a:avLst/>
          </a:prstGeom>
          <a:solidFill>
            <a:srgbClr val="700C2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77C7D57E-1A36-F941-AC8F-0952F4AFDE41}"/>
              </a:ext>
            </a:extLst>
          </p:cNvPr>
          <p:cNvSpPr txBox="1"/>
          <p:nvPr/>
        </p:nvSpPr>
        <p:spPr>
          <a:xfrm>
            <a:off x="1898650" y="3568700"/>
            <a:ext cx="508000" cy="228600"/>
          </a:xfrm>
          <a:prstGeom prst="rect">
            <a:avLst/>
          </a:prstGeom>
          <a:noFill/>
        </p:spPr>
        <p:txBody>
          <a:bodyPr vertOverflow="overflow" vert="horz" wrap="none" rtlCol="0" anchor="t">
            <a:spAutoFit/>
          </a:bodyPr>
          <a:lstStyle/>
          <a:p>
            <a:pPr algn="l"/>
            <a:r>
              <a:rPr lang="en-US" sz="1400">
                <a:solidFill>
                  <a:srgbClr val="6B6B6B"/>
                </a:solidFill>
              </a:rPr>
              <a:t>-3</a:t>
            </a:r>
          </a:p>
        </p:txBody>
      </p:sp>
      <p:sp>
        <p:nvSpPr>
          <p:cNvPr id="9" name="TextBox 8">
            <a:extLst>
              <a:ext uri="{FF2B5EF4-FFF2-40B4-BE49-F238E27FC236}">
                <a16:creationId xmlns:a16="http://schemas.microsoft.com/office/drawing/2014/main" id="{5A6CBE7C-7F08-4D4C-A774-DEC91CD748CD}"/>
              </a:ext>
            </a:extLst>
          </p:cNvPr>
          <p:cNvSpPr txBox="1"/>
          <p:nvPr/>
        </p:nvSpPr>
        <p:spPr>
          <a:xfrm>
            <a:off x="5842000" y="3568700"/>
            <a:ext cx="508000" cy="228600"/>
          </a:xfrm>
          <a:prstGeom prst="rect">
            <a:avLst/>
          </a:prstGeom>
          <a:noFill/>
        </p:spPr>
        <p:txBody>
          <a:bodyPr vertOverflow="overflow" vert="horz" wrap="none" rtlCol="0" anchor="t">
            <a:spAutoFit/>
          </a:bodyPr>
          <a:lstStyle/>
          <a:p>
            <a:pPr algn="l"/>
            <a:r>
              <a:rPr lang="en-US" sz="1400">
                <a:solidFill>
                  <a:srgbClr val="6B6B6B"/>
                </a:solidFill>
              </a:rPr>
              <a:t>0</a:t>
            </a:r>
          </a:p>
        </p:txBody>
      </p:sp>
      <p:sp>
        <p:nvSpPr>
          <p:cNvPr id="10" name="TextBox 9">
            <a:extLst>
              <a:ext uri="{FF2B5EF4-FFF2-40B4-BE49-F238E27FC236}">
                <a16:creationId xmlns:a16="http://schemas.microsoft.com/office/drawing/2014/main" id="{3F31CBCA-738F-9F4E-9D38-D5E8024131C2}"/>
              </a:ext>
            </a:extLst>
          </p:cNvPr>
          <p:cNvSpPr txBox="1"/>
          <p:nvPr/>
        </p:nvSpPr>
        <p:spPr>
          <a:xfrm>
            <a:off x="9785350" y="3568700"/>
            <a:ext cx="508000" cy="228600"/>
          </a:xfrm>
          <a:prstGeom prst="rect">
            <a:avLst/>
          </a:prstGeom>
          <a:noFill/>
        </p:spPr>
        <p:txBody>
          <a:bodyPr vertOverflow="overflow" vert="horz" wrap="none" rtlCol="0" anchor="t">
            <a:spAutoFit/>
          </a:bodyPr>
          <a:lstStyle/>
          <a:p>
            <a:pPr algn="l"/>
            <a:r>
              <a:rPr lang="en-US" sz="1400">
                <a:solidFill>
                  <a:srgbClr val="6B6B6B"/>
                </a:solidFill>
              </a:rPr>
              <a:t>3</a:t>
            </a:r>
          </a:p>
        </p:txBody>
      </p:sp>
      <p:sp>
        <p:nvSpPr>
          <p:cNvPr id="11" name="Rectangle 10">
            <a:extLst>
              <a:ext uri="{FF2B5EF4-FFF2-40B4-BE49-F238E27FC236}">
                <a16:creationId xmlns:a16="http://schemas.microsoft.com/office/drawing/2014/main" id="{1825B7FC-CBCE-CB49-B1C0-9D398C6843A1}"/>
              </a:ext>
            </a:extLst>
          </p:cNvPr>
          <p:cNvSpPr/>
          <p:nvPr/>
        </p:nvSpPr>
        <p:spPr>
          <a:xfrm>
            <a:off x="2667000" y="3886200"/>
            <a:ext cx="203200" cy="203200"/>
          </a:xfrm>
          <a:prstGeom prst="rect">
            <a:avLst/>
          </a:prstGeom>
          <a:solidFill>
            <a:srgbClr val="B9965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CCA82F79-937C-744A-853D-26DA8E46EBD3}"/>
              </a:ext>
            </a:extLst>
          </p:cNvPr>
          <p:cNvSpPr txBox="1"/>
          <p:nvPr/>
        </p:nvSpPr>
        <p:spPr>
          <a:xfrm>
            <a:off x="2946400" y="3860800"/>
            <a:ext cx="4064000" cy="254000"/>
          </a:xfrm>
          <a:prstGeom prst="rect">
            <a:avLst/>
          </a:prstGeom>
          <a:noFill/>
        </p:spPr>
        <p:txBody>
          <a:bodyPr vertOverflow="overflow" vert="horz" wrap="none" rtlCol="0" anchor="t">
            <a:spAutoFit/>
          </a:bodyPr>
          <a:lstStyle/>
          <a:p>
            <a:pPr algn="l"/>
            <a:r>
              <a:rPr lang="en-US" sz="1500" b="1">
                <a:solidFill>
                  <a:srgbClr val="0E2841"/>
                </a:solidFill>
              </a:rPr>
              <a:t>|Z| ≤ 3 — within the training distribution</a:t>
            </a:r>
          </a:p>
        </p:txBody>
      </p:sp>
      <p:sp>
        <p:nvSpPr>
          <p:cNvPr id="13" name="Rectangle 12">
            <a:extLst>
              <a:ext uri="{FF2B5EF4-FFF2-40B4-BE49-F238E27FC236}">
                <a16:creationId xmlns:a16="http://schemas.microsoft.com/office/drawing/2014/main" id="{65179863-334E-7447-B1B8-3FAC91262099}"/>
              </a:ext>
            </a:extLst>
          </p:cNvPr>
          <p:cNvSpPr/>
          <p:nvPr/>
        </p:nvSpPr>
        <p:spPr>
          <a:xfrm>
            <a:off x="7239000" y="3886200"/>
            <a:ext cx="203200" cy="203200"/>
          </a:xfrm>
          <a:prstGeom prst="rect">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3E0F061D-7D33-7040-8EFD-4E5ADF106A44}"/>
              </a:ext>
            </a:extLst>
          </p:cNvPr>
          <p:cNvSpPr txBox="1"/>
          <p:nvPr/>
        </p:nvSpPr>
        <p:spPr>
          <a:xfrm>
            <a:off x="7518400" y="3860800"/>
            <a:ext cx="3810000" cy="254000"/>
          </a:xfrm>
          <a:prstGeom prst="rect">
            <a:avLst/>
          </a:prstGeom>
          <a:noFill/>
        </p:spPr>
        <p:txBody>
          <a:bodyPr vertOverflow="overflow" vert="horz" wrap="none" rtlCol="0" anchor="t">
            <a:spAutoFit/>
          </a:bodyPr>
          <a:lstStyle/>
          <a:p>
            <a:pPr algn="l"/>
            <a:r>
              <a:rPr lang="en-US" sz="1500" b="1">
                <a:solidFill>
                  <a:srgbClr val="700C2F"/>
                </a:solidFill>
              </a:rPr>
              <a:t>|Z| &gt; 3 — statistically unusual configuration</a:t>
            </a:r>
          </a:p>
        </p:txBody>
      </p:sp>
      <p:sp>
        <p:nvSpPr>
          <p:cNvPr id="15" name="TextBox 14">
            <a:extLst>
              <a:ext uri="{FF2B5EF4-FFF2-40B4-BE49-F238E27FC236}">
                <a16:creationId xmlns:a16="http://schemas.microsoft.com/office/drawing/2014/main" id="{98BBDE44-282C-164C-95A2-900AB18089F5}"/>
              </a:ext>
            </a:extLst>
          </p:cNvPr>
          <p:cNvSpPr txBox="1"/>
          <p:nvPr/>
        </p:nvSpPr>
        <p:spPr>
          <a:xfrm>
            <a:off x="838200" y="4953000"/>
            <a:ext cx="10515600" cy="892552"/>
          </a:xfrm>
          <a:prstGeom prst="rect">
            <a:avLst/>
          </a:prstGeom>
          <a:noFill/>
        </p:spPr>
        <p:txBody>
          <a:bodyPr vertOverflow="overflow" vert="horz" wrap="square" rtlCol="0" anchor="t">
            <a:spAutoFit/>
          </a:bodyPr>
          <a:lstStyle/>
          <a:p>
            <a:r>
              <a:rPr lang="en-US" sz="2600" b="1" dirty="0">
                <a:solidFill>
                  <a:srgbClr val="0E2841"/>
                </a:solidFill>
              </a:rPr>
              <a:t>"Is error spread evenly across jobs or does it grow with distance from what the model has seen?</a:t>
            </a:r>
          </a:p>
        </p:txBody>
      </p:sp>
      <p:sp>
        <p:nvSpPr>
          <p:cNvPr id="16" name="Rectangle 15">
            <a:extLst>
              <a:ext uri="{FF2B5EF4-FFF2-40B4-BE49-F238E27FC236}">
                <a16:creationId xmlns:a16="http://schemas.microsoft.com/office/drawing/2014/main" id="{4C74D9CC-81B2-5749-8F27-BF4B93BF3506}"/>
              </a:ext>
            </a:extLst>
          </p:cNvPr>
          <p:cNvSpPr/>
          <p:nvPr/>
        </p:nvSpPr>
        <p:spPr>
          <a:xfrm>
            <a:off x="5689600" y="4724400"/>
            <a:ext cx="812800" cy="38100"/>
          </a:xfrm>
          <a:prstGeom prst="rect">
            <a:avLst/>
          </a:prstGeom>
          <a:solidFill>
            <a:srgbClr val="B9965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7" name="Graphic 17" descr="navy check icon on gold zon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3600" y="2336800"/>
            <a:ext cx="304800" cy="304800"/>
          </a:xfrm>
          <a:prstGeom prst="rect">
            <a:avLst/>
          </a:prstGeom>
        </p:spPr>
      </p:pic>
    </p:spTree>
    <p:extLst>
      <p:ext uri="{BB962C8B-B14F-4D97-AF65-F5344CB8AC3E}">
        <p14:creationId xmlns:p14="http://schemas.microsoft.com/office/powerpoint/2010/main" val="2100270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i="1" dirty="0"/>
              <a:t>Surprise! 2DSA </a:t>
            </a:r>
            <a:r>
              <a:rPr lang="en-US" i="1" dirty="0" err="1"/>
              <a:t>CPUTime</a:t>
            </a:r>
            <a:r>
              <a:rPr lang="en-US" i="1" dirty="0"/>
              <a:t> error drops</a:t>
            </a:r>
            <a:endParaRPr dirty="0"/>
          </a:p>
        </p:txBody>
      </p:sp>
      <p:sp>
        <p:nvSpPr>
          <p:cNvPr id="3" name="Content Placeholder 2"/>
          <p:cNvSpPr>
            <a:spLocks noGrp="1"/>
          </p:cNvSpPr>
          <p:nvPr>
            <p:ph sz="half" idx="1"/>
          </p:nvPr>
        </p:nvSpPr>
        <p:spPr>
          <a:xfrm>
            <a:off x="1475878" y="1859130"/>
            <a:ext cx="9177997" cy="499059"/>
          </a:xfrm>
        </p:spPr>
        <p:txBody>
          <a:bodyPr>
            <a:normAutofit/>
          </a:bodyPr>
          <a:lstStyle/>
          <a:p>
            <a:pPr marL="0" indent="0" algn="ctr">
              <a:buNone/>
            </a:pPr>
            <a:r>
              <a:rPr lang="en-US" dirty="0"/>
              <a:t>2DSA: past Z &gt; 3, median error drops 338.5s → 46.8s</a:t>
            </a:r>
          </a:p>
        </p:txBody>
      </p:sp>
      <p:pic>
        <p:nvPicPr>
          <p:cNvPr id="7" name="Picture 6">
            <a:extLst>
              <a:ext uri="{FF2B5EF4-FFF2-40B4-BE49-F238E27FC236}">
                <a16:creationId xmlns:a16="http://schemas.microsoft.com/office/drawing/2014/main" id="{19EA8E7E-1447-D501-61AE-B2D78E51ACE6}"/>
              </a:ext>
            </a:extLst>
          </p:cNvPr>
          <p:cNvPicPr>
            <a:picLocks noChangeAspect="1"/>
          </p:cNvPicPr>
          <p:nvPr/>
        </p:nvPicPr>
        <p:blipFill>
          <a:blip r:embed="rId3"/>
          <a:stretch>
            <a:fillRect/>
          </a:stretch>
        </p:blipFill>
        <p:spPr>
          <a:xfrm>
            <a:off x="1475878" y="2848131"/>
            <a:ext cx="9240241" cy="3083112"/>
          </a:xfrm>
          <a:prstGeom prst="rect">
            <a:avLst/>
          </a:prstGeom>
        </p:spPr>
      </p:pic>
    </p:spTree>
    <p:extLst>
      <p:ext uri="{BB962C8B-B14F-4D97-AF65-F5344CB8AC3E}">
        <p14:creationId xmlns:p14="http://schemas.microsoft.com/office/powerpoint/2010/main" val="3926355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One cluster explains almost all of it</a:t>
            </a:r>
            <a:endParaRPr lang="en-US" dirty="0"/>
          </a:p>
        </p:txBody>
      </p:sp>
      <p:sp>
        <p:nvSpPr>
          <p:cNvPr id="5" name="TextBox 4">
            <a:extLst>
              <a:ext uri="{FF2B5EF4-FFF2-40B4-BE49-F238E27FC236}">
                <a16:creationId xmlns:a16="http://schemas.microsoft.com/office/drawing/2014/main" id="{0FD5F421-A39E-544F-B925-301C9143206E}"/>
              </a:ext>
            </a:extLst>
          </p:cNvPr>
          <p:cNvSpPr txBox="1"/>
          <p:nvPr/>
        </p:nvSpPr>
        <p:spPr>
          <a:xfrm>
            <a:off x="1765300" y="1843504"/>
            <a:ext cx="3810000" cy="304800"/>
          </a:xfrm>
          <a:prstGeom prst="rect">
            <a:avLst/>
          </a:prstGeom>
          <a:noFill/>
        </p:spPr>
        <p:txBody>
          <a:bodyPr vertOverflow="overflow" vert="horz" wrap="square" rtlCol="0" anchor="t">
            <a:spAutoFit/>
          </a:bodyPr>
          <a:lstStyle/>
          <a:p>
            <a:pPr algn="l"/>
            <a:r>
              <a:rPr lang="en-US" b="1">
                <a:solidFill>
                  <a:srgbClr val="3A3A3A"/>
                </a:solidFill>
              </a:rPr>
              <a:t>Cluster 29:</a:t>
            </a:r>
          </a:p>
        </p:txBody>
      </p:sp>
      <p:sp>
        <p:nvSpPr>
          <p:cNvPr id="6" name="TextBox 5">
            <a:extLst>
              <a:ext uri="{FF2B5EF4-FFF2-40B4-BE49-F238E27FC236}">
                <a16:creationId xmlns:a16="http://schemas.microsoft.com/office/drawing/2014/main" id="{3AC41199-17AE-A142-9399-561454199D6C}"/>
              </a:ext>
            </a:extLst>
          </p:cNvPr>
          <p:cNvSpPr txBox="1"/>
          <p:nvPr/>
        </p:nvSpPr>
        <p:spPr>
          <a:xfrm>
            <a:off x="1765300" y="2275304"/>
            <a:ext cx="3810000" cy="660400"/>
          </a:xfrm>
          <a:prstGeom prst="rect">
            <a:avLst/>
          </a:prstGeom>
          <a:noFill/>
        </p:spPr>
        <p:txBody>
          <a:bodyPr vertOverflow="overflow" vert="horz" wrap="none" rtlCol="0" anchor="t">
            <a:spAutoFit/>
          </a:bodyPr>
          <a:lstStyle/>
          <a:p>
            <a:pPr algn="l"/>
            <a:r>
              <a:rPr lang="en-US" sz="4000" b="1">
                <a:solidFill>
                  <a:srgbClr val="700C2F"/>
                </a:solidFill>
              </a:rPr>
              <a:t>71.3%</a:t>
            </a:r>
          </a:p>
        </p:txBody>
      </p:sp>
      <p:sp>
        <p:nvSpPr>
          <p:cNvPr id="7" name="TextBox 6">
            <a:extLst>
              <a:ext uri="{FF2B5EF4-FFF2-40B4-BE49-F238E27FC236}">
                <a16:creationId xmlns:a16="http://schemas.microsoft.com/office/drawing/2014/main" id="{4B152324-B638-3B44-BA55-1344608C5ABE}"/>
              </a:ext>
            </a:extLst>
          </p:cNvPr>
          <p:cNvSpPr txBox="1"/>
          <p:nvPr/>
        </p:nvSpPr>
        <p:spPr>
          <a:xfrm>
            <a:off x="1765300" y="2961104"/>
            <a:ext cx="3810000" cy="635000"/>
          </a:xfrm>
          <a:prstGeom prst="rect">
            <a:avLst/>
          </a:prstGeom>
          <a:noFill/>
        </p:spPr>
        <p:txBody>
          <a:bodyPr vertOverflow="overflow" vert="horz" wrap="square" rtlCol="0" anchor="t">
            <a:spAutoFit/>
          </a:bodyPr>
          <a:lstStyle/>
          <a:p>
            <a:pPr algn="l"/>
            <a:r>
              <a:rPr lang="en-US" sz="1400">
                <a:solidFill>
                  <a:srgbClr val="3A3A3A"/>
                </a:solidFill>
              </a:rPr>
              <a:t>of 2DSA test jobs in Cluster 29 (31.3% in training)</a:t>
            </a:r>
          </a:p>
        </p:txBody>
      </p:sp>
      <p:sp>
        <p:nvSpPr>
          <p:cNvPr id="8" name="TextBox 7">
            <a:extLst>
              <a:ext uri="{FF2B5EF4-FFF2-40B4-BE49-F238E27FC236}">
                <a16:creationId xmlns:a16="http://schemas.microsoft.com/office/drawing/2014/main" id="{F98FF8B4-A3A6-534B-A199-45E797F128E2}"/>
              </a:ext>
            </a:extLst>
          </p:cNvPr>
          <p:cNvSpPr txBox="1"/>
          <p:nvPr/>
        </p:nvSpPr>
        <p:spPr>
          <a:xfrm>
            <a:off x="6616700" y="2275304"/>
            <a:ext cx="3810000" cy="660400"/>
          </a:xfrm>
          <a:prstGeom prst="rect">
            <a:avLst/>
          </a:prstGeom>
          <a:noFill/>
        </p:spPr>
        <p:txBody>
          <a:bodyPr vertOverflow="overflow" vert="horz" wrap="none" rtlCol="0" anchor="t">
            <a:spAutoFit/>
          </a:bodyPr>
          <a:lstStyle/>
          <a:p>
            <a:pPr algn="l"/>
            <a:r>
              <a:rPr lang="el-GR" sz="4000" b="1">
                <a:solidFill>
                  <a:srgbClr val="0E2841"/>
                </a:solidFill>
              </a:rPr>
              <a:t>5.75σ</a:t>
            </a:r>
            <a:endParaRPr lang="en-US" sz="4000" b="1">
              <a:solidFill>
                <a:srgbClr val="0E2841"/>
              </a:solidFill>
            </a:endParaRPr>
          </a:p>
        </p:txBody>
      </p:sp>
      <p:sp>
        <p:nvSpPr>
          <p:cNvPr id="9" name="TextBox 8">
            <a:extLst>
              <a:ext uri="{FF2B5EF4-FFF2-40B4-BE49-F238E27FC236}">
                <a16:creationId xmlns:a16="http://schemas.microsoft.com/office/drawing/2014/main" id="{8A29623B-BB12-BC44-8B27-E04F2C34F989}"/>
              </a:ext>
            </a:extLst>
          </p:cNvPr>
          <p:cNvSpPr txBox="1"/>
          <p:nvPr/>
        </p:nvSpPr>
        <p:spPr>
          <a:xfrm>
            <a:off x="6616700" y="2961104"/>
            <a:ext cx="3810000" cy="635000"/>
          </a:xfrm>
          <a:prstGeom prst="rect">
            <a:avLst/>
          </a:prstGeom>
          <a:noFill/>
        </p:spPr>
        <p:txBody>
          <a:bodyPr vertOverflow="overflow" vert="horz" wrap="square" rtlCol="0" anchor="t">
            <a:spAutoFit/>
          </a:bodyPr>
          <a:lstStyle/>
          <a:p>
            <a:pPr algn="l"/>
            <a:r>
              <a:rPr lang="en-US" sz="1400">
                <a:solidFill>
                  <a:srgbClr val="3A3A3A"/>
                </a:solidFill>
              </a:rPr>
              <a:t>shift in radial point density (3,292 vs. 772 median)</a:t>
            </a:r>
          </a:p>
        </p:txBody>
      </p:sp>
      <p:sp>
        <p:nvSpPr>
          <p:cNvPr id="12" name="Rectangle 11">
            <a:extLst>
              <a:ext uri="{FF2B5EF4-FFF2-40B4-BE49-F238E27FC236}">
                <a16:creationId xmlns:a16="http://schemas.microsoft.com/office/drawing/2014/main" id="{17ABB8D5-2D27-7C43-ACCF-FA5AC6343AED}"/>
              </a:ext>
            </a:extLst>
          </p:cNvPr>
          <p:cNvSpPr/>
          <p:nvPr/>
        </p:nvSpPr>
        <p:spPr>
          <a:xfrm>
            <a:off x="6083300" y="2300704"/>
            <a:ext cx="19050" cy="1270000"/>
          </a:xfrm>
          <a:prstGeom prst="rect">
            <a:avLst/>
          </a:prstGeom>
          <a:solidFill>
            <a:srgbClr val="C9C9C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E3811EEA-58D1-1746-BE95-180A9C7BC47E}"/>
              </a:ext>
            </a:extLst>
          </p:cNvPr>
          <p:cNvSpPr txBox="1"/>
          <p:nvPr/>
        </p:nvSpPr>
        <p:spPr>
          <a:xfrm>
            <a:off x="838200" y="3761204"/>
            <a:ext cx="10515600" cy="279400"/>
          </a:xfrm>
          <a:prstGeom prst="rect">
            <a:avLst/>
          </a:prstGeom>
          <a:noFill/>
        </p:spPr>
        <p:txBody>
          <a:bodyPr vertOverflow="overflow" vert="horz" wrap="square" rtlCol="0" anchor="t">
            <a:spAutoFit/>
          </a:bodyPr>
          <a:lstStyle/>
          <a:p>
            <a:pPr algn="l"/>
            <a:r>
              <a:rPr lang="en-US" sz="1500" i="1">
                <a:solidFill>
                  <a:srgbClr val="6B6B6B"/>
                </a:solidFill>
              </a:rPr>
              <a:t>Fewer scans, smaller CPU allocations, lower memory footprints</a:t>
            </a:r>
          </a:p>
        </p:txBody>
      </p:sp>
      <p:sp>
        <p:nvSpPr>
          <p:cNvPr id="15" name="Rectangle 14">
            <a:extLst>
              <a:ext uri="{FF2B5EF4-FFF2-40B4-BE49-F238E27FC236}">
                <a16:creationId xmlns:a16="http://schemas.microsoft.com/office/drawing/2014/main" id="{76AA57A3-A6E9-144D-B97E-A8C782E4106F}"/>
              </a:ext>
            </a:extLst>
          </p:cNvPr>
          <p:cNvSpPr/>
          <p:nvPr/>
        </p:nvSpPr>
        <p:spPr>
          <a:xfrm>
            <a:off x="5676900" y="4449678"/>
            <a:ext cx="812800" cy="38100"/>
          </a:xfrm>
          <a:prstGeom prst="rect">
            <a:avLst/>
          </a:prstGeom>
          <a:solidFill>
            <a:srgbClr val="B9965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8707CC63-E8E9-FD49-976C-7F0F869020E1}"/>
              </a:ext>
            </a:extLst>
          </p:cNvPr>
          <p:cNvSpPr txBox="1"/>
          <p:nvPr/>
        </p:nvSpPr>
        <p:spPr>
          <a:xfrm>
            <a:off x="838200" y="4876800"/>
            <a:ext cx="10515600" cy="461665"/>
          </a:xfrm>
          <a:prstGeom prst="rect">
            <a:avLst/>
          </a:prstGeom>
          <a:noFill/>
        </p:spPr>
        <p:txBody>
          <a:bodyPr vertOverflow="overflow" vert="horz" wrap="square" rtlCol="0" anchor="t">
            <a:spAutoFit/>
          </a:bodyPr>
          <a:lstStyle/>
          <a:p>
            <a:pPr algn="ctr"/>
            <a:r>
              <a:rPr lang="en-US" sz="2400" b="1" dirty="0">
                <a:solidFill>
                  <a:srgbClr val="0E2841"/>
                </a:solidFill>
              </a:rPr>
              <a:t>Abrupt compositional shift, not gradual drift.</a:t>
            </a:r>
          </a:p>
        </p:txBody>
      </p:sp>
    </p:spTree>
    <p:extLst>
      <p:ext uri="{BB962C8B-B14F-4D97-AF65-F5344CB8AC3E}">
        <p14:creationId xmlns:p14="http://schemas.microsoft.com/office/powerpoint/2010/main" val="4207444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The neural network stopped being the story</a:t>
            </a:r>
            <a:endParaRPr dirty="0"/>
          </a:p>
        </p:txBody>
      </p:sp>
      <p:sp>
        <p:nvSpPr>
          <p:cNvPr id="4" name="TextBox 3">
            <a:extLst>
              <a:ext uri="{FF2B5EF4-FFF2-40B4-BE49-F238E27FC236}">
                <a16:creationId xmlns:a16="http://schemas.microsoft.com/office/drawing/2014/main" id="{DE1325B5-3B7F-4340-96B4-686D37C4937B}"/>
              </a:ext>
            </a:extLst>
          </p:cNvPr>
          <p:cNvSpPr txBox="1"/>
          <p:nvPr/>
        </p:nvSpPr>
        <p:spPr>
          <a:xfrm>
            <a:off x="838200" y="1974096"/>
            <a:ext cx="10515600" cy="1107996"/>
          </a:xfrm>
          <a:prstGeom prst="rect">
            <a:avLst/>
          </a:prstGeom>
          <a:noFill/>
        </p:spPr>
        <p:txBody>
          <a:bodyPr vertOverflow="overflow" vert="horz" wrap="square" rtlCol="0" anchor="t">
            <a:spAutoFit/>
          </a:bodyPr>
          <a:lstStyle/>
          <a:p>
            <a:pPr algn="l"/>
            <a:r>
              <a:rPr lang="en-US" sz="2200" b="1" dirty="0">
                <a:solidFill>
                  <a:srgbClr val="0E2841"/>
                </a:solidFill>
              </a:rPr>
              <a:t>97.9% of Cluster 29 jobs fall outside the training distribution (|Z| &gt; 3).</a:t>
            </a:r>
          </a:p>
          <a:p>
            <a:pPr algn="l"/>
            <a:r>
              <a:rPr lang="en-US" sz="2200" b="1" dirty="0">
                <a:solidFill>
                  <a:srgbClr val="0E2841"/>
                </a:solidFill>
              </a:rPr>
              <a:t>
That is not a model capacity, architecture, or tuning problem.</a:t>
            </a:r>
          </a:p>
        </p:txBody>
      </p:sp>
      <p:sp>
        <p:nvSpPr>
          <p:cNvPr id="6" name="Rounded Rectangle 5">
            <a:extLst>
              <a:ext uri="{FF2B5EF4-FFF2-40B4-BE49-F238E27FC236}">
                <a16:creationId xmlns:a16="http://schemas.microsoft.com/office/drawing/2014/main" id="{FDEA4220-84EC-084B-AD90-22DF9DB82C17}"/>
              </a:ext>
            </a:extLst>
          </p:cNvPr>
          <p:cNvSpPr/>
          <p:nvPr/>
        </p:nvSpPr>
        <p:spPr>
          <a:xfrm>
            <a:off x="1651000" y="3365500"/>
            <a:ext cx="8890000" cy="2159000"/>
          </a:xfrm>
          <a:prstGeom prst="roundRect">
            <a:avLst/>
          </a:prstGeom>
          <a:solidFill>
            <a:srgbClr val="F3EEE3"/>
          </a:solidFill>
          <a:ln w="15875" cap="flat" cmpd="sng" algn="ctr">
            <a:solidFill>
              <a:srgbClr val="B996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F2921C4D-2ED4-CB41-BC58-7D16494EFE7A}"/>
              </a:ext>
            </a:extLst>
          </p:cNvPr>
          <p:cNvSpPr txBox="1"/>
          <p:nvPr/>
        </p:nvSpPr>
        <p:spPr>
          <a:xfrm>
            <a:off x="1905000" y="3619500"/>
            <a:ext cx="8382000" cy="254000"/>
          </a:xfrm>
          <a:prstGeom prst="rect">
            <a:avLst/>
          </a:prstGeom>
          <a:noFill/>
        </p:spPr>
        <p:txBody>
          <a:bodyPr vertOverflow="overflow" vert="horz" wrap="square" rtlCol="0" anchor="t">
            <a:spAutoFit/>
          </a:bodyPr>
          <a:lstStyle/>
          <a:p>
            <a:pPr algn="l"/>
            <a:r>
              <a:rPr lang="en-US" sz="1400" b="1">
                <a:solidFill>
                  <a:srgbClr val="B9965B"/>
                </a:solidFill>
              </a:rPr>
              <a:t>REFRAMED QUESTION</a:t>
            </a:r>
          </a:p>
        </p:txBody>
      </p:sp>
      <p:sp>
        <p:nvSpPr>
          <p:cNvPr id="8" name="TextBox 7">
            <a:extLst>
              <a:ext uri="{FF2B5EF4-FFF2-40B4-BE49-F238E27FC236}">
                <a16:creationId xmlns:a16="http://schemas.microsoft.com/office/drawing/2014/main" id="{EC590D07-C1CA-8F49-B676-9397DD85F61D}"/>
              </a:ext>
            </a:extLst>
          </p:cNvPr>
          <p:cNvSpPr txBox="1"/>
          <p:nvPr/>
        </p:nvSpPr>
        <p:spPr>
          <a:xfrm>
            <a:off x="2095500" y="4059307"/>
            <a:ext cx="8001000" cy="707886"/>
          </a:xfrm>
          <a:prstGeom prst="rect">
            <a:avLst/>
          </a:prstGeom>
          <a:noFill/>
        </p:spPr>
        <p:txBody>
          <a:bodyPr vertOverflow="overflow" vert="horz" wrap="square" rtlCol="0" anchor="ctr" anchorCtr="0">
            <a:spAutoFit/>
          </a:bodyPr>
          <a:lstStyle/>
          <a:p>
            <a:pPr algn="l"/>
            <a:r>
              <a:rPr lang="en-US" sz="2000" b="1" i="1" dirty="0">
                <a:solidFill>
                  <a:srgbClr val="700C2F"/>
                </a:solidFill>
              </a:rPr>
              <a:t>“Does the mapping between configuration and execution behavior stay stable over time and can we tell when it doesn't?”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1" dirty="0"/>
              <a:t>The trust gate: turning Z-score into an accept-or-withhold rule</a:t>
            </a:r>
          </a:p>
        </p:txBody>
      </p:sp>
      <p:sp>
        <p:nvSpPr>
          <p:cNvPr id="100" name="TextBox Intro"/>
          <p:cNvSpPr txBox="1"/>
          <p:nvPr/>
        </p:nvSpPr>
        <p:spPr>
          <a:xfrm>
            <a:off x="838200" y="1855660"/>
            <a:ext cx="10515600" cy="400000"/>
          </a:xfrm>
          <a:prstGeom prst="rect">
            <a:avLst/>
          </a:prstGeom>
          <a:noFill/>
        </p:spPr>
        <p:txBody>
          <a:bodyPr wrap="square">
            <a:spAutoFit/>
          </a:bodyPr>
          <a:lstStyle/>
          <a:p>
            <a:r>
              <a:rPr lang="en-US" sz="1700" dirty="0">
                <a:solidFill>
                  <a:srgbClr val="3A3A3A"/>
                </a:solidFill>
              </a:rPr>
              <a:t>Every prediction gets a Z-score — how far its configuration sits from the training distribution.</a:t>
            </a:r>
          </a:p>
        </p:txBody>
      </p:sp>
      <p:sp>
        <p:nvSpPr>
          <p:cNvPr id="101" name="Callout Rule Box"/>
          <p:cNvSpPr txBox="1"/>
          <p:nvPr/>
        </p:nvSpPr>
        <p:spPr>
          <a:xfrm>
            <a:off x="838200" y="2450000"/>
            <a:ext cx="10515600" cy="1700000"/>
          </a:xfrm>
          <a:prstGeom prst="roundRect">
            <a:avLst/>
          </a:prstGeom>
          <a:solidFill>
            <a:srgbClr val="ECE3E6"/>
          </a:solidFill>
        </p:spPr>
        <p:txBody>
          <a:bodyPr wrap="square" lIns="320000" rIns="320000" anchor="ctr"/>
          <a:lstStyle/>
          <a:p>
            <a:r>
              <a:rPr lang="en-US" sz="2000" b="1" dirty="0">
                <a:solidFill>
                  <a:srgbClr val="700C2F"/>
                </a:solidFill>
              </a:rPr>
              <a:t>Accept — |Z| ≤ 3: </a:t>
            </a:r>
            <a:r>
              <a:rPr lang="en-US" sz="2000" dirty="0">
                <a:solidFill>
                  <a:srgbClr val="0E2841"/>
                </a:solidFill>
              </a:rPr>
              <a:t>issue the prediction with a calibrated buffer (the 95th-percentile validation residual) added as a safety margin.</a:t>
            </a:r>
          </a:p>
          <a:p>
            <a:r>
              <a:rPr lang="en-US" sz="2000" b="1" dirty="0">
                <a:solidFill>
                  <a:srgbClr val="700C2F"/>
                </a:solidFill>
              </a:rPr>
              <a:t>Reject — |Z| &gt; 3: </a:t>
            </a:r>
            <a:r>
              <a:rPr lang="en-US" sz="2000" dirty="0">
                <a:solidFill>
                  <a:srgbClr val="0E2841"/>
                </a:solidFill>
              </a:rPr>
              <a:t>withhold the prediction entirely.</a:t>
            </a:r>
          </a:p>
        </p:txBody>
      </p:sp>
      <p:sp>
        <p:nvSpPr>
          <p:cNvPr id="102" name="TextBox Why"/>
          <p:cNvSpPr txBox="1"/>
          <p:nvPr/>
        </p:nvSpPr>
        <p:spPr>
          <a:xfrm>
            <a:off x="838200" y="4224528"/>
            <a:ext cx="10515600" cy="877163"/>
          </a:xfrm>
          <a:prstGeom prst="rect">
            <a:avLst/>
          </a:prstGeom>
          <a:noFill/>
        </p:spPr>
        <p:txBody>
          <a:bodyPr wrap="square">
            <a:spAutoFit/>
          </a:bodyPr>
          <a:lstStyle/>
          <a:p>
            <a:r>
              <a:rPr lang="en-US" sz="1700" i="1" dirty="0">
                <a:solidFill>
                  <a:srgbClr val="6B6B6B"/>
                </a:solidFill>
              </a:rPr>
              <a:t>This operationalizes the reframed question per job, using only submission-time metadata</a:t>
            </a:r>
          </a:p>
          <a:p>
            <a:r>
              <a:rPr lang="en-US" sz="1700" i="1" dirty="0">
                <a:solidFill>
                  <a:srgbClr val="6B6B6B"/>
                </a:solidFill>
              </a:rPr>
              <a:t>Evaluated retrospectively on held-out traces, nothing was wired into a live scheduler, and no queueing effects are modeled.</a:t>
            </a:r>
          </a:p>
        </p:txBody>
      </p:sp>
      <p:sp>
        <p:nvSpPr>
          <p:cNvPr id="103" name="TextBox Punchline"/>
          <p:cNvSpPr txBox="1"/>
          <p:nvPr/>
        </p:nvSpPr>
        <p:spPr>
          <a:xfrm>
            <a:off x="838200" y="5600000"/>
            <a:ext cx="10515600" cy="700000"/>
          </a:xfrm>
          <a:prstGeom prst="rect">
            <a:avLst/>
          </a:prstGeom>
          <a:noFill/>
        </p:spPr>
        <p:txBody>
          <a:bodyPr wrap="square">
            <a:spAutoFit/>
          </a:bodyPr>
          <a:lstStyle/>
          <a:p>
            <a:r>
              <a:rPr lang="en-US" sz="2200" b="1" dirty="0">
                <a:solidFill>
                  <a:srgbClr val="0E2841"/>
                </a:solidFill>
              </a:rPr>
              <a:t>Z-gating is diagnostic, not protective.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a:t>Same trust gate, three very different outcomes</a:t>
            </a:r>
            <a:endParaRPr lang="en-US"/>
          </a:p>
        </p:txBody>
      </p:sp>
      <p:sp>
        <p:nvSpPr>
          <p:cNvPr id="3" name="Content Placeholder 2"/>
          <p:cNvSpPr>
            <a:spLocks noGrp="1"/>
          </p:cNvSpPr>
          <p:nvPr>
            <p:ph idx="1"/>
          </p:nvPr>
        </p:nvSpPr>
        <p:spPr>
          <a:xfrm>
            <a:off x="838200" y="1855660"/>
            <a:ext cx="10515600" cy="3608058"/>
          </a:xfrm>
        </p:spPr>
        <p:txBody>
          <a:bodyPr/>
          <a:lstStyle/>
          <a:p>
            <a:pPr marL="0" indent="0">
              <a:buNone/>
            </a:pPr>
            <a:r>
              <a:rPr lang="en-US" sz="1500" i="1" dirty="0">
                <a:solidFill>
                  <a:srgbClr val="6B6B6B"/>
                </a:solidFill>
              </a:rPr>
              <a:t>Retrospective analysis on held-out traces. Accepted % = share passing the gate. Sufficiency = accepted jobs whose buffered prediction covered actual CPUTime. Buffer inflation = margin needed ÷ margin calibrated (1.0× = held).</a:t>
            </a:r>
          </a:p>
        </p:txBody>
      </p:sp>
      <p:graphicFrame>
        <p:nvGraphicFramePr>
          <p:cNvPr id="4" name="Table 3"/>
          <p:cNvGraphicFramePr>
            <a:graphicFrameLocks noGrp="1"/>
          </p:cNvGraphicFramePr>
          <p:nvPr>
            <p:extLst>
              <p:ext uri="{D42A27DB-BD31-4B8C-83A1-F6EECF244321}">
                <p14:modId xmlns:p14="http://schemas.microsoft.com/office/powerpoint/2010/main" val="2430535328"/>
              </p:ext>
            </p:extLst>
          </p:nvPr>
        </p:nvGraphicFramePr>
        <p:xfrm>
          <a:off x="838200" y="2601294"/>
          <a:ext cx="10515600" cy="2800000"/>
        </p:xfrm>
        <a:graphic>
          <a:graphicData uri="http://schemas.openxmlformats.org/drawingml/2006/table">
            <a:tbl>
              <a:tblPr>
                <a:tableStyleId>{5C22544A-7EE6-4342-B048-85BDC9FD1C3A}</a:tableStyleId>
              </a:tblPr>
              <a:tblGrid>
                <a:gridCol w="2270414">
                  <a:extLst>
                    <a:ext uri="{9D8B030D-6E8A-4147-A177-3AD203B41FA5}">
                      <a16:colId xmlns:a16="http://schemas.microsoft.com/office/drawing/2014/main" val="20000"/>
                    </a:ext>
                  </a:extLst>
                </a:gridCol>
                <a:gridCol w="2270414">
                  <a:extLst>
                    <a:ext uri="{9D8B030D-6E8A-4147-A177-3AD203B41FA5}">
                      <a16:colId xmlns:a16="http://schemas.microsoft.com/office/drawing/2014/main" val="20001"/>
                    </a:ext>
                  </a:extLst>
                </a:gridCol>
                <a:gridCol w="2270414">
                  <a:extLst>
                    <a:ext uri="{9D8B030D-6E8A-4147-A177-3AD203B41FA5}">
                      <a16:colId xmlns:a16="http://schemas.microsoft.com/office/drawing/2014/main" val="20002"/>
                    </a:ext>
                  </a:extLst>
                </a:gridCol>
                <a:gridCol w="3704358">
                  <a:extLst>
                    <a:ext uri="{9D8B030D-6E8A-4147-A177-3AD203B41FA5}">
                      <a16:colId xmlns:a16="http://schemas.microsoft.com/office/drawing/2014/main" val="20003"/>
                    </a:ext>
                  </a:extLst>
                </a:gridCol>
              </a:tblGrid>
              <a:tr h="700000">
                <a:tc>
                  <a:txBody>
                    <a:bodyPr/>
                    <a:lstStyle/>
                    <a:p>
                      <a:pPr algn="l"/>
                      <a:r>
                        <a:rPr sz="1600" b="1">
                          <a:solidFill>
                            <a:srgbClr val="FFFFFF"/>
                          </a:solidFill>
                        </a:rPr>
                        <a:t>Family</a:t>
                      </a:r>
                    </a:p>
                  </a:txBody>
                  <a:tcPr marT="36576" marB="36576" anchor="ctr">
                    <a:solidFill>
                      <a:srgbClr val="700C2F"/>
                    </a:solidFill>
                  </a:tcPr>
                </a:tc>
                <a:tc>
                  <a:txBody>
                    <a:bodyPr/>
                    <a:lstStyle/>
                    <a:p>
                      <a:pPr algn="ctr"/>
                      <a:r>
                        <a:rPr sz="1600" b="1">
                          <a:solidFill>
                            <a:srgbClr val="FFFFFF"/>
                          </a:solidFill>
                        </a:rPr>
                        <a:t>Accepted %</a:t>
                      </a:r>
                    </a:p>
                  </a:txBody>
                  <a:tcPr marT="36576" marB="36576" anchor="ctr">
                    <a:solidFill>
                      <a:srgbClr val="700C2F"/>
                    </a:solidFill>
                  </a:tcPr>
                </a:tc>
                <a:tc>
                  <a:txBody>
                    <a:bodyPr/>
                    <a:lstStyle/>
                    <a:p>
                      <a:pPr algn="ctr"/>
                      <a:r>
                        <a:rPr sz="1600" b="1">
                          <a:solidFill>
                            <a:srgbClr val="FFFFFF"/>
                          </a:solidFill>
                        </a:rPr>
                        <a:t>Sufficiency</a:t>
                      </a:r>
                    </a:p>
                  </a:txBody>
                  <a:tcPr marT="36576" marB="36576" anchor="ctr">
                    <a:solidFill>
                      <a:srgbClr val="700C2F"/>
                    </a:solidFill>
                  </a:tcPr>
                </a:tc>
                <a:tc>
                  <a:txBody>
                    <a:bodyPr/>
                    <a:lstStyle/>
                    <a:p>
                      <a:pPr algn="ctr"/>
                      <a:r>
                        <a:rPr sz="1600" b="1">
                          <a:solidFill>
                            <a:srgbClr val="FFFFFF"/>
                          </a:solidFill>
                        </a:rPr>
                        <a:t>Buffer Inflation</a:t>
                      </a:r>
                    </a:p>
                  </a:txBody>
                  <a:tcPr marT="36576" marB="36576" anchor="ctr">
                    <a:solidFill>
                      <a:srgbClr val="700C2F"/>
                    </a:solidFill>
                  </a:tcPr>
                </a:tc>
                <a:extLst>
                  <a:ext uri="{0D108BD9-81ED-4DB2-BD59-A6C34878D82A}">
                    <a16:rowId xmlns:a16="http://schemas.microsoft.com/office/drawing/2014/main" val="10000"/>
                  </a:ext>
                </a:extLst>
              </a:tr>
              <a:tr h="700000">
                <a:tc>
                  <a:txBody>
                    <a:bodyPr/>
                    <a:lstStyle/>
                    <a:p>
                      <a:pPr algn="l"/>
                      <a:r>
                        <a:rPr sz="1600" b="1">
                          <a:solidFill>
                            <a:srgbClr val="0E2841"/>
                          </a:solidFill>
                        </a:rPr>
                        <a:t>2DSA</a:t>
                      </a:r>
                    </a:p>
                  </a:txBody>
                  <a:tcPr marT="36576" marB="36576" anchor="ctr">
                    <a:solidFill>
                      <a:srgbClr val="FFFFFF"/>
                    </a:solidFill>
                  </a:tcPr>
                </a:tc>
                <a:tc>
                  <a:txBody>
                    <a:bodyPr/>
                    <a:lstStyle/>
                    <a:p>
                      <a:pPr algn="r"/>
                      <a:r>
                        <a:rPr sz="1600" b="0">
                          <a:solidFill>
                            <a:srgbClr val="0E2841"/>
                          </a:solidFill>
                        </a:rPr>
                        <a:t>27.8%</a:t>
                      </a:r>
                    </a:p>
                  </a:txBody>
                  <a:tcPr marT="36576" marB="36576" anchor="ctr">
                    <a:solidFill>
                      <a:srgbClr val="FFFFFF"/>
                    </a:solidFill>
                  </a:tcPr>
                </a:tc>
                <a:tc>
                  <a:txBody>
                    <a:bodyPr/>
                    <a:lstStyle/>
                    <a:p>
                      <a:pPr algn="r"/>
                      <a:r>
                        <a:rPr sz="1600" b="0">
                          <a:solidFill>
                            <a:srgbClr val="0E2841"/>
                          </a:solidFill>
                        </a:rPr>
                        <a:t>83.9%</a:t>
                      </a:r>
                    </a:p>
                  </a:txBody>
                  <a:tcPr marT="36576" marB="36576" anchor="ctr">
                    <a:solidFill>
                      <a:srgbClr val="FFFFFF"/>
                    </a:solidFill>
                  </a:tcPr>
                </a:tc>
                <a:tc>
                  <a:txBody>
                    <a:bodyPr/>
                    <a:lstStyle/>
                    <a:p>
                      <a:pPr algn="ctr"/>
                      <a:r>
                        <a:rPr sz="1600" b="0" dirty="0">
                          <a:solidFill>
                            <a:srgbClr val="0E2841"/>
                          </a:solidFill>
                        </a:rPr>
                        <a:t>4.0×</a:t>
                      </a:r>
                    </a:p>
                  </a:txBody>
                  <a:tcPr marT="36576" marB="36576" anchor="ctr">
                    <a:solidFill>
                      <a:srgbClr val="FFFFFF"/>
                    </a:solidFill>
                  </a:tcPr>
                </a:tc>
                <a:extLst>
                  <a:ext uri="{0D108BD9-81ED-4DB2-BD59-A6C34878D82A}">
                    <a16:rowId xmlns:a16="http://schemas.microsoft.com/office/drawing/2014/main" val="10001"/>
                  </a:ext>
                </a:extLst>
              </a:tr>
              <a:tr h="700000">
                <a:tc>
                  <a:txBody>
                    <a:bodyPr/>
                    <a:lstStyle/>
                    <a:p>
                      <a:pPr algn="l"/>
                      <a:r>
                        <a:rPr sz="1600" b="1">
                          <a:solidFill>
                            <a:srgbClr val="0E2841"/>
                          </a:solidFill>
                        </a:rPr>
                        <a:t>GA</a:t>
                      </a:r>
                    </a:p>
                  </a:txBody>
                  <a:tcPr marT="36576" marB="36576" anchor="ctr">
                    <a:solidFill>
                      <a:srgbClr val="F2E9EC"/>
                    </a:solidFill>
                  </a:tcPr>
                </a:tc>
                <a:tc>
                  <a:txBody>
                    <a:bodyPr/>
                    <a:lstStyle/>
                    <a:p>
                      <a:pPr algn="r"/>
                      <a:r>
                        <a:rPr sz="1600" b="0">
                          <a:solidFill>
                            <a:srgbClr val="0E2841"/>
                          </a:solidFill>
                        </a:rPr>
                        <a:t>80.5%</a:t>
                      </a:r>
                    </a:p>
                  </a:txBody>
                  <a:tcPr marT="36576" marB="36576" anchor="ctr">
                    <a:solidFill>
                      <a:srgbClr val="F2E9EC"/>
                    </a:solidFill>
                  </a:tcPr>
                </a:tc>
                <a:tc>
                  <a:txBody>
                    <a:bodyPr/>
                    <a:lstStyle/>
                    <a:p>
                      <a:pPr algn="r"/>
                      <a:r>
                        <a:rPr sz="1600" b="0">
                          <a:solidFill>
                            <a:srgbClr val="0E2841"/>
                          </a:solidFill>
                        </a:rPr>
                        <a:t>97.0%</a:t>
                      </a:r>
                    </a:p>
                  </a:txBody>
                  <a:tcPr marT="36576" marB="36576" anchor="ctr">
                    <a:solidFill>
                      <a:srgbClr val="F2E9EC"/>
                    </a:solidFill>
                  </a:tcPr>
                </a:tc>
                <a:tc>
                  <a:txBody>
                    <a:bodyPr/>
                    <a:lstStyle/>
                    <a:p>
                      <a:pPr algn="ctr"/>
                      <a:r>
                        <a:rPr sz="1600" b="0" dirty="0">
                          <a:solidFill>
                            <a:srgbClr val="0E2841"/>
                          </a:solidFill>
                        </a:rPr>
                        <a:t>0.6×</a:t>
                      </a:r>
                    </a:p>
                  </a:txBody>
                  <a:tcPr marT="36576" marB="36576" anchor="ctr">
                    <a:solidFill>
                      <a:srgbClr val="F2E9EC"/>
                    </a:solidFill>
                  </a:tcPr>
                </a:tc>
                <a:extLst>
                  <a:ext uri="{0D108BD9-81ED-4DB2-BD59-A6C34878D82A}">
                    <a16:rowId xmlns:a16="http://schemas.microsoft.com/office/drawing/2014/main" val="10002"/>
                  </a:ext>
                </a:extLst>
              </a:tr>
              <a:tr h="700000">
                <a:tc>
                  <a:txBody>
                    <a:bodyPr/>
                    <a:lstStyle/>
                    <a:p>
                      <a:pPr algn="l"/>
                      <a:r>
                        <a:rPr sz="1600" b="1">
                          <a:solidFill>
                            <a:srgbClr val="0E2841"/>
                          </a:solidFill>
                        </a:rPr>
                        <a:t>PCSA</a:t>
                      </a:r>
                    </a:p>
                  </a:txBody>
                  <a:tcPr marT="36576" marB="36576" anchor="ctr">
                    <a:solidFill>
                      <a:srgbClr val="FFFFFF"/>
                    </a:solidFill>
                  </a:tcPr>
                </a:tc>
                <a:tc>
                  <a:txBody>
                    <a:bodyPr/>
                    <a:lstStyle/>
                    <a:p>
                      <a:pPr algn="r"/>
                      <a:r>
                        <a:rPr sz="1600" b="0">
                          <a:solidFill>
                            <a:srgbClr val="0E2841"/>
                          </a:solidFill>
                        </a:rPr>
                        <a:t>89.8%</a:t>
                      </a:r>
                    </a:p>
                  </a:txBody>
                  <a:tcPr marT="36576" marB="36576" anchor="ctr">
                    <a:solidFill>
                      <a:srgbClr val="FFFFFF"/>
                    </a:solidFill>
                  </a:tcPr>
                </a:tc>
                <a:tc>
                  <a:txBody>
                    <a:bodyPr/>
                    <a:lstStyle/>
                    <a:p>
                      <a:pPr algn="r"/>
                      <a:r>
                        <a:rPr sz="1600" b="0">
                          <a:solidFill>
                            <a:srgbClr val="0E2841"/>
                          </a:solidFill>
                        </a:rPr>
                        <a:t>95.0%</a:t>
                      </a:r>
                    </a:p>
                  </a:txBody>
                  <a:tcPr marT="36576" marB="36576" anchor="ctr">
                    <a:solidFill>
                      <a:srgbClr val="FFFFFF"/>
                    </a:solidFill>
                  </a:tcPr>
                </a:tc>
                <a:tc>
                  <a:txBody>
                    <a:bodyPr/>
                    <a:lstStyle/>
                    <a:p>
                      <a:pPr algn="ctr"/>
                      <a:r>
                        <a:rPr sz="1600" b="0" dirty="0">
                          <a:solidFill>
                            <a:srgbClr val="0E2841"/>
                          </a:solidFill>
                        </a:rPr>
                        <a:t>1.0×</a:t>
                      </a: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841248" y="5513832"/>
            <a:ext cx="10515600" cy="323165"/>
          </a:xfrm>
          <a:prstGeom prst="rect">
            <a:avLst/>
          </a:prstGeom>
          <a:noFill/>
        </p:spPr>
        <p:txBody>
          <a:bodyPr wrap="square">
            <a:spAutoFit/>
          </a:bodyPr>
          <a:lstStyle/>
          <a:p>
            <a:pPr algn="l">
              <a:spcAft>
                <a:spcPts val="600"/>
              </a:spcAft>
            </a:pPr>
            <a:r>
              <a:rPr sz="1500" b="1" dirty="0">
                <a:solidFill>
                  <a:srgbClr val="700C2F"/>
                </a:solidFill>
              </a:rPr>
              <a:t>Stability is necessary but not sufficient.</a:t>
            </a:r>
            <a:r>
              <a:rPr sz="1500" b="0" dirty="0">
                <a:solidFill>
                  <a:srgbClr val="3A3A3A"/>
                </a:solidFill>
              </a:rPr>
              <a:t> GA is safe only by paying a ~31,600 CPU-second margin. </a:t>
            </a:r>
          </a:p>
        </p:txBody>
      </p:sp>
    </p:spTree>
    <p:extLst>
      <p:ext uri="{BB962C8B-B14F-4D97-AF65-F5344CB8AC3E}">
        <p14:creationId xmlns:p14="http://schemas.microsoft.com/office/powerpoint/2010/main" val="3114703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Same gate, same jobs for memory</a:t>
            </a:r>
            <a:endParaRPr lang="en-US" dirty="0"/>
          </a:p>
        </p:txBody>
      </p:sp>
      <p:sp>
        <p:nvSpPr>
          <p:cNvPr id="3" name="Content Placeholder 2"/>
          <p:cNvSpPr>
            <a:spLocks noGrp="1"/>
          </p:cNvSpPr>
          <p:nvPr>
            <p:ph idx="1"/>
          </p:nvPr>
        </p:nvSpPr>
        <p:spPr>
          <a:xfrm>
            <a:off x="838200" y="4385945"/>
            <a:ext cx="10515600" cy="1791018"/>
          </a:xfrm>
        </p:spPr>
        <p:txBody>
          <a:bodyPr/>
          <a:lstStyle/>
          <a:p>
            <a:pPr marL="0" indent="0">
              <a:buNone/>
            </a:pPr>
            <a:r>
              <a:rPr lang="en-US" sz="1600" dirty="0"/>
              <a:t>Identical gate, identical accepted jobs. Sufficiency holds at roughly 90% or above for all three families — while runtime sufficiency splits apart on those same jobs.</a:t>
            </a:r>
          </a:p>
          <a:p>
            <a:pPr marL="0" indent="0">
              <a:buNone/>
            </a:pPr>
            <a:r>
              <a:rPr lang="en-US" sz="1600" dirty="0"/>
              <a:t>So the gate is not over-rejecting: 2DSA runtime genuinely drifted, and the drift is target-specific.</a:t>
            </a:r>
          </a:p>
        </p:txBody>
      </p:sp>
      <p:graphicFrame>
        <p:nvGraphicFramePr>
          <p:cNvPr id="4" name="Table 3"/>
          <p:cNvGraphicFramePr>
            <a:graphicFrameLocks noGrp="1"/>
          </p:cNvGraphicFramePr>
          <p:nvPr/>
        </p:nvGraphicFramePr>
        <p:xfrm>
          <a:off x="838200" y="1825625"/>
          <a:ext cx="10515600" cy="2194560"/>
        </p:xfrm>
        <a:graphic>
          <a:graphicData uri="http://schemas.openxmlformats.org/drawingml/2006/table">
            <a:tbl>
              <a:tblPr>
                <a:tableStyleId>{5C22544A-7EE6-4342-B048-85BDC9FD1C3A}</a:tableStyleId>
              </a:tblPr>
              <a:tblGrid>
                <a:gridCol w="3154680">
                  <a:extLst>
                    <a:ext uri="{9D8B030D-6E8A-4147-A177-3AD203B41FA5}">
                      <a16:colId xmlns:a16="http://schemas.microsoft.com/office/drawing/2014/main" val="20000"/>
                    </a:ext>
                  </a:extLst>
                </a:gridCol>
                <a:gridCol w="3680460">
                  <a:extLst>
                    <a:ext uri="{9D8B030D-6E8A-4147-A177-3AD203B41FA5}">
                      <a16:colId xmlns:a16="http://schemas.microsoft.com/office/drawing/2014/main" val="20001"/>
                    </a:ext>
                  </a:extLst>
                </a:gridCol>
                <a:gridCol w="3680460">
                  <a:extLst>
                    <a:ext uri="{9D8B030D-6E8A-4147-A177-3AD203B41FA5}">
                      <a16:colId xmlns:a16="http://schemas.microsoft.com/office/drawing/2014/main" val="20002"/>
                    </a:ext>
                  </a:extLst>
                </a:gridCol>
              </a:tblGrid>
              <a:tr h="548640">
                <a:tc>
                  <a:txBody>
                    <a:bodyPr/>
                    <a:lstStyle/>
                    <a:p>
                      <a:pPr algn="l"/>
                      <a:r>
                        <a:rPr sz="1600" b="1">
                          <a:solidFill>
                            <a:srgbClr val="FFFFFF"/>
                          </a:solidFill>
                        </a:rPr>
                        <a:t>Family</a:t>
                      </a:r>
                    </a:p>
                  </a:txBody>
                  <a:tcPr marT="36576" marB="36576" anchor="ctr">
                    <a:solidFill>
                      <a:srgbClr val="700C2F"/>
                    </a:solidFill>
                  </a:tcPr>
                </a:tc>
                <a:tc>
                  <a:txBody>
                    <a:bodyPr/>
                    <a:lstStyle/>
                    <a:p>
                      <a:pPr algn="ctr"/>
                      <a:r>
                        <a:rPr sz="1600" b="1">
                          <a:solidFill>
                            <a:srgbClr val="FFFFFF"/>
                          </a:solidFill>
                        </a:rPr>
                        <a:t>Accepted %</a:t>
                      </a:r>
                    </a:p>
                  </a:txBody>
                  <a:tcPr marT="36576" marB="36576" anchor="ctr">
                    <a:solidFill>
                      <a:srgbClr val="700C2F"/>
                    </a:solidFill>
                  </a:tcPr>
                </a:tc>
                <a:tc>
                  <a:txBody>
                    <a:bodyPr/>
                    <a:lstStyle/>
                    <a:p>
                      <a:pPr algn="ctr"/>
                      <a:r>
                        <a:rPr sz="1600" b="1">
                          <a:solidFill>
                            <a:srgbClr val="FFFFFF"/>
                          </a:solidFill>
                        </a:rPr>
                        <a:t>Sufficiency</a:t>
                      </a:r>
                    </a:p>
                  </a:txBody>
                  <a:tcPr marT="36576" marB="36576" anchor="ctr">
                    <a:solidFill>
                      <a:srgbClr val="700C2F"/>
                    </a:solidFill>
                  </a:tcPr>
                </a:tc>
                <a:extLst>
                  <a:ext uri="{0D108BD9-81ED-4DB2-BD59-A6C34878D82A}">
                    <a16:rowId xmlns:a16="http://schemas.microsoft.com/office/drawing/2014/main" val="10000"/>
                  </a:ext>
                </a:extLst>
              </a:tr>
              <a:tr h="548640">
                <a:tc>
                  <a:txBody>
                    <a:bodyPr/>
                    <a:lstStyle/>
                    <a:p>
                      <a:pPr algn="l"/>
                      <a:r>
                        <a:rPr sz="1600" b="1">
                          <a:solidFill>
                            <a:srgbClr val="0E2841"/>
                          </a:solidFill>
                        </a:rPr>
                        <a:t>2DSA</a:t>
                      </a:r>
                    </a:p>
                  </a:txBody>
                  <a:tcPr marT="36576" marB="36576" anchor="ctr">
                    <a:solidFill>
                      <a:srgbClr val="FFFFFF"/>
                    </a:solidFill>
                  </a:tcPr>
                </a:tc>
                <a:tc>
                  <a:txBody>
                    <a:bodyPr/>
                    <a:lstStyle/>
                    <a:p>
                      <a:pPr algn="ctr"/>
                      <a:r>
                        <a:rPr sz="1600" b="0">
                          <a:solidFill>
                            <a:srgbClr val="0E2841"/>
                          </a:solidFill>
                        </a:rPr>
                        <a:t>27.8%</a:t>
                      </a:r>
                    </a:p>
                  </a:txBody>
                  <a:tcPr marT="36576" marB="36576" anchor="ctr">
                    <a:solidFill>
                      <a:srgbClr val="FFFFFF"/>
                    </a:solidFill>
                  </a:tcPr>
                </a:tc>
                <a:tc>
                  <a:txBody>
                    <a:bodyPr/>
                    <a:lstStyle/>
                    <a:p>
                      <a:pPr algn="ctr"/>
                      <a:r>
                        <a:rPr sz="1600" b="0">
                          <a:solidFill>
                            <a:srgbClr val="0E2841"/>
                          </a:solidFill>
                        </a:rPr>
                        <a:t>90.0%</a:t>
                      </a:r>
                    </a:p>
                  </a:txBody>
                  <a:tcPr marT="36576" marB="36576" anchor="ctr">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0E2841"/>
                          </a:solidFill>
                        </a:rPr>
                        <a:t>GA</a:t>
                      </a:r>
                    </a:p>
                  </a:txBody>
                  <a:tcPr marT="36576" marB="36576" anchor="ctr">
                    <a:solidFill>
                      <a:srgbClr val="F2E9EC"/>
                    </a:solidFill>
                  </a:tcPr>
                </a:tc>
                <a:tc>
                  <a:txBody>
                    <a:bodyPr/>
                    <a:lstStyle/>
                    <a:p>
                      <a:pPr algn="ctr"/>
                      <a:r>
                        <a:rPr sz="1600" b="0">
                          <a:solidFill>
                            <a:srgbClr val="0E2841"/>
                          </a:solidFill>
                        </a:rPr>
                        <a:t>80.5%</a:t>
                      </a:r>
                    </a:p>
                  </a:txBody>
                  <a:tcPr marT="36576" marB="36576" anchor="ctr">
                    <a:solidFill>
                      <a:srgbClr val="F2E9EC"/>
                    </a:solidFill>
                  </a:tcPr>
                </a:tc>
                <a:tc>
                  <a:txBody>
                    <a:bodyPr/>
                    <a:lstStyle/>
                    <a:p>
                      <a:pPr algn="ctr"/>
                      <a:r>
                        <a:rPr sz="1600" b="0">
                          <a:solidFill>
                            <a:srgbClr val="0E2841"/>
                          </a:solidFill>
                        </a:rPr>
                        <a:t>90.0%</a:t>
                      </a:r>
                    </a:p>
                  </a:txBody>
                  <a:tcPr marT="36576" marB="36576" anchor="ctr">
                    <a:solidFill>
                      <a:srgbClr val="F2E9EC"/>
                    </a:solidFill>
                  </a:tcPr>
                </a:tc>
                <a:extLst>
                  <a:ext uri="{0D108BD9-81ED-4DB2-BD59-A6C34878D82A}">
                    <a16:rowId xmlns:a16="http://schemas.microsoft.com/office/drawing/2014/main" val="10002"/>
                  </a:ext>
                </a:extLst>
              </a:tr>
              <a:tr h="548640">
                <a:tc>
                  <a:txBody>
                    <a:bodyPr/>
                    <a:lstStyle/>
                    <a:p>
                      <a:pPr algn="l"/>
                      <a:r>
                        <a:rPr sz="1600" b="1">
                          <a:solidFill>
                            <a:srgbClr val="0E2841"/>
                          </a:solidFill>
                        </a:rPr>
                        <a:t>PCSA</a:t>
                      </a:r>
                    </a:p>
                  </a:txBody>
                  <a:tcPr marT="36576" marB="36576" anchor="ctr">
                    <a:solidFill>
                      <a:srgbClr val="FFFFFF"/>
                    </a:solidFill>
                  </a:tcPr>
                </a:tc>
                <a:tc>
                  <a:txBody>
                    <a:bodyPr/>
                    <a:lstStyle/>
                    <a:p>
                      <a:pPr algn="ctr"/>
                      <a:r>
                        <a:rPr sz="1600" b="0">
                          <a:solidFill>
                            <a:srgbClr val="0E2841"/>
                          </a:solidFill>
                        </a:rPr>
                        <a:t>89.8%</a:t>
                      </a:r>
                    </a:p>
                  </a:txBody>
                  <a:tcPr marT="36576" marB="36576" anchor="ctr">
                    <a:solidFill>
                      <a:srgbClr val="FFFFFF"/>
                    </a:solidFill>
                  </a:tcPr>
                </a:tc>
                <a:tc>
                  <a:txBody>
                    <a:bodyPr/>
                    <a:lstStyle/>
                    <a:p>
                      <a:pPr algn="ctr"/>
                      <a:r>
                        <a:rPr sz="1600" b="0">
                          <a:solidFill>
                            <a:srgbClr val="0E2841"/>
                          </a:solidFill>
                        </a:rPr>
                        <a:t>97.3%</a:t>
                      </a: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6B31448-1A6D-9C4B-8F7C-B96D8B318F8A}"/>
              </a:ext>
            </a:extLst>
          </p:cNvPr>
          <p:cNvSpPr/>
          <p:nvPr/>
        </p:nvSpPr>
        <p:spPr>
          <a:xfrm>
            <a:off x="6527800" y="1541379"/>
            <a:ext cx="4826000" cy="2667000"/>
          </a:xfrm>
          <a:prstGeom prst="roundRect">
            <a:avLst/>
          </a:prstGeom>
          <a:solidFill>
            <a:srgbClr val="FFFFFF"/>
          </a:solidFill>
          <a:ln w="19050" cap="flat" cmpd="sng" algn="ctr">
            <a:solidFill>
              <a:srgbClr val="700C2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ounded Rectangle 4">
            <a:extLst>
              <a:ext uri="{FF2B5EF4-FFF2-40B4-BE49-F238E27FC236}">
                <a16:creationId xmlns:a16="http://schemas.microsoft.com/office/drawing/2014/main" id="{94B639DB-5453-CB41-BDF1-1BE6C3EC35B2}"/>
              </a:ext>
            </a:extLst>
          </p:cNvPr>
          <p:cNvSpPr/>
          <p:nvPr/>
        </p:nvSpPr>
        <p:spPr>
          <a:xfrm>
            <a:off x="838200" y="1541379"/>
            <a:ext cx="4826000" cy="2667000"/>
          </a:xfrm>
          <a:prstGeom prst="roundRect">
            <a:avLst/>
          </a:prstGeom>
          <a:solidFill>
            <a:srgbClr val="FFFFFF"/>
          </a:solidFill>
          <a:ln w="19050" cap="flat" cmpd="sng" algn="ctr">
            <a:solidFill>
              <a:srgbClr val="B996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p:cNvSpPr>
            <a:spLocks noGrp="1"/>
          </p:cNvSpPr>
          <p:nvPr>
            <p:ph type="title"/>
          </p:nvPr>
        </p:nvSpPr>
        <p:spPr>
          <a:xfrm>
            <a:off x="838200" y="250825"/>
            <a:ext cx="10991850" cy="1325563"/>
          </a:xfrm>
        </p:spPr>
        <p:txBody>
          <a:bodyPr anchor="ctr">
            <a:normAutofit/>
          </a:bodyPr>
          <a:lstStyle/>
          <a:p>
            <a:r>
              <a:rPr lang="en-US" i="1" dirty="0"/>
              <a:t>DL Prediction as advisory context, not controller</a:t>
            </a:r>
            <a:endParaRPr lang="en-US" dirty="0"/>
          </a:p>
        </p:txBody>
      </p:sp>
      <p:sp>
        <p:nvSpPr>
          <p:cNvPr id="6" name="Oval 5">
            <a:extLst>
              <a:ext uri="{FF2B5EF4-FFF2-40B4-BE49-F238E27FC236}">
                <a16:creationId xmlns:a16="http://schemas.microsoft.com/office/drawing/2014/main" id="{25287EE9-95D7-F441-B80B-3AA00A1A018F}"/>
              </a:ext>
            </a:extLst>
          </p:cNvPr>
          <p:cNvSpPr/>
          <p:nvPr/>
        </p:nvSpPr>
        <p:spPr>
          <a:xfrm>
            <a:off x="2933700" y="1795379"/>
            <a:ext cx="635000" cy="635000"/>
          </a:xfrm>
          <a:prstGeom prst="ellipse">
            <a:avLst/>
          </a:prstGeom>
          <a:solidFill>
            <a:srgbClr val="B9965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22E34141-A575-5548-88F1-22DA80AD05B2}"/>
              </a:ext>
            </a:extLst>
          </p:cNvPr>
          <p:cNvSpPr txBox="1"/>
          <p:nvPr/>
        </p:nvSpPr>
        <p:spPr>
          <a:xfrm>
            <a:off x="1092200" y="2633579"/>
            <a:ext cx="4318000" cy="406400"/>
          </a:xfrm>
          <a:prstGeom prst="rect">
            <a:avLst/>
          </a:prstGeom>
          <a:noFill/>
        </p:spPr>
        <p:txBody>
          <a:bodyPr vertOverflow="overflow" vert="horz" wrap="square" rtlCol="0" anchor="t">
            <a:spAutoFit/>
          </a:bodyPr>
          <a:lstStyle/>
          <a:p>
            <a:pPr algn="l"/>
            <a:r>
              <a:rPr lang="en-US" b="1">
                <a:solidFill>
                  <a:srgbClr val="700C2F"/>
                </a:solidFill>
              </a:rPr>
              <a:t>Stationarity holds</a:t>
            </a:r>
          </a:p>
        </p:txBody>
      </p:sp>
      <p:sp>
        <p:nvSpPr>
          <p:cNvPr id="8" name="TextBox 7">
            <a:extLst>
              <a:ext uri="{FF2B5EF4-FFF2-40B4-BE49-F238E27FC236}">
                <a16:creationId xmlns:a16="http://schemas.microsoft.com/office/drawing/2014/main" id="{678DAFC4-1EAB-DE48-9DF7-E64C1CD3B90A}"/>
              </a:ext>
            </a:extLst>
          </p:cNvPr>
          <p:cNvSpPr txBox="1"/>
          <p:nvPr/>
        </p:nvSpPr>
        <p:spPr>
          <a:xfrm>
            <a:off x="1219200" y="3141579"/>
            <a:ext cx="4064000" cy="889000"/>
          </a:xfrm>
          <a:prstGeom prst="rect">
            <a:avLst/>
          </a:prstGeom>
          <a:noFill/>
        </p:spPr>
        <p:txBody>
          <a:bodyPr vertOverflow="overflow" vert="horz" wrap="square" rtlCol="0" anchor="t">
            <a:spAutoFit/>
          </a:bodyPr>
          <a:lstStyle/>
          <a:p>
            <a:pPr algn="l"/>
            <a:r>
              <a:rPr lang="en-US" sz="1500">
                <a:solidFill>
                  <a:srgbClr val="3A3A3A"/>
                </a:solidFill>
              </a:rPr>
              <a:t>Predictions support conservative request adjustment</a:t>
            </a:r>
          </a:p>
        </p:txBody>
      </p:sp>
      <p:sp>
        <p:nvSpPr>
          <p:cNvPr id="10" name="Oval 9">
            <a:extLst>
              <a:ext uri="{FF2B5EF4-FFF2-40B4-BE49-F238E27FC236}">
                <a16:creationId xmlns:a16="http://schemas.microsoft.com/office/drawing/2014/main" id="{D3647B4F-01EB-524D-B3D9-34C2ED88D5E8}"/>
              </a:ext>
            </a:extLst>
          </p:cNvPr>
          <p:cNvSpPr/>
          <p:nvPr/>
        </p:nvSpPr>
        <p:spPr>
          <a:xfrm>
            <a:off x="8623300" y="1795379"/>
            <a:ext cx="635000" cy="635000"/>
          </a:xfrm>
          <a:prstGeom prst="ellipse">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6D5A8DDD-4843-BF41-A5FE-91A59E391532}"/>
              </a:ext>
            </a:extLst>
          </p:cNvPr>
          <p:cNvSpPr txBox="1"/>
          <p:nvPr/>
        </p:nvSpPr>
        <p:spPr>
          <a:xfrm>
            <a:off x="6781800" y="2633579"/>
            <a:ext cx="4318000" cy="406400"/>
          </a:xfrm>
          <a:prstGeom prst="rect">
            <a:avLst/>
          </a:prstGeom>
          <a:noFill/>
        </p:spPr>
        <p:txBody>
          <a:bodyPr vertOverflow="overflow" vert="horz" wrap="square" rtlCol="0" anchor="t">
            <a:spAutoFit/>
          </a:bodyPr>
          <a:lstStyle/>
          <a:p>
            <a:pPr algn="l"/>
            <a:r>
              <a:rPr lang="en-US" b="1">
                <a:solidFill>
                  <a:srgbClr val="700C2F"/>
                </a:solidFill>
              </a:rPr>
              <a:t>Stationarity breaks</a:t>
            </a:r>
          </a:p>
        </p:txBody>
      </p:sp>
      <p:sp>
        <p:nvSpPr>
          <p:cNvPr id="12" name="TextBox 11">
            <a:extLst>
              <a:ext uri="{FF2B5EF4-FFF2-40B4-BE49-F238E27FC236}">
                <a16:creationId xmlns:a16="http://schemas.microsoft.com/office/drawing/2014/main" id="{79622574-DB81-FC40-80CF-71544D0DAE9A}"/>
              </a:ext>
            </a:extLst>
          </p:cNvPr>
          <p:cNvSpPr txBox="1"/>
          <p:nvPr/>
        </p:nvSpPr>
        <p:spPr>
          <a:xfrm>
            <a:off x="6908800" y="3141579"/>
            <a:ext cx="4064000" cy="889000"/>
          </a:xfrm>
          <a:prstGeom prst="rect">
            <a:avLst/>
          </a:prstGeom>
          <a:noFill/>
        </p:spPr>
        <p:txBody>
          <a:bodyPr vertOverflow="overflow" vert="horz" wrap="square" rtlCol="0" anchor="t">
            <a:spAutoFit/>
          </a:bodyPr>
          <a:lstStyle/>
          <a:p>
            <a:pPr algn="l"/>
            <a:r>
              <a:rPr lang="en-US" sz="1500" dirty="0">
                <a:solidFill>
                  <a:srgbClr val="3A3A3A"/>
                </a:solidFill>
              </a:rPr>
              <a:t>Acceptance rate and buffer inflation tell you so</a:t>
            </a:r>
          </a:p>
        </p:txBody>
      </p:sp>
      <p:sp>
        <p:nvSpPr>
          <p:cNvPr id="13" name="Rounded Rectangle 12">
            <a:extLst>
              <a:ext uri="{FF2B5EF4-FFF2-40B4-BE49-F238E27FC236}">
                <a16:creationId xmlns:a16="http://schemas.microsoft.com/office/drawing/2014/main" id="{0F988043-CEFD-5C49-99AD-E581EAFE7E09}"/>
              </a:ext>
            </a:extLst>
          </p:cNvPr>
          <p:cNvSpPr/>
          <p:nvPr/>
        </p:nvSpPr>
        <p:spPr>
          <a:xfrm>
            <a:off x="838200" y="4500479"/>
            <a:ext cx="10515600" cy="736600"/>
          </a:xfrm>
          <a:prstGeom prst="roundRect">
            <a:avLst/>
          </a:prstGeom>
          <a:solidFill>
            <a:srgbClr val="700C2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2A521F66-8DFB-164B-81D6-675747A00951}"/>
              </a:ext>
            </a:extLst>
          </p:cNvPr>
          <p:cNvSpPr txBox="1"/>
          <p:nvPr/>
        </p:nvSpPr>
        <p:spPr>
          <a:xfrm>
            <a:off x="1219200" y="4684113"/>
            <a:ext cx="9753600" cy="369332"/>
          </a:xfrm>
          <a:prstGeom prst="rect">
            <a:avLst/>
          </a:prstGeom>
          <a:noFill/>
        </p:spPr>
        <p:txBody>
          <a:bodyPr vertOverflow="overflow" vert="horz" wrap="square" rtlCol="0" anchor="ctr" anchorCtr="0">
            <a:spAutoFit/>
          </a:bodyPr>
          <a:lstStyle/>
          <a:p>
            <a:pPr algn="l"/>
            <a:r>
              <a:rPr lang="en-US" b="1" dirty="0">
                <a:solidFill>
                  <a:srgbClr val="FFFFFF"/>
                </a:solidFill>
              </a:rPr>
              <a:t>Prescriptive control requires stationarity.</a:t>
            </a:r>
          </a:p>
        </p:txBody>
      </p:sp>
      <p:pic>
        <p:nvPicPr>
          <p:cNvPr id="15" name="Graphic 15" descr="Stationarity holds check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8800" y="1947779"/>
            <a:ext cx="330200" cy="330200"/>
          </a:xfrm>
          <a:prstGeom prst="rect">
            <a:avLst/>
          </a:prstGeom>
        </p:spPr>
      </p:pic>
      <p:pic>
        <p:nvPicPr>
          <p:cNvPr id="16" name="Graphic 16" descr="Stationarity breaks warning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88400" y="1947779"/>
            <a:ext cx="330200" cy="330200"/>
          </a:xfrm>
          <a:prstGeom prst="rect">
            <a:avLst/>
          </a:prstGeom>
        </p:spPr>
      </p:pic>
      <p:sp>
        <p:nvSpPr>
          <p:cNvPr id="3" name="TextBox 9">
            <a:extLst>
              <a:ext uri="{FF2B5EF4-FFF2-40B4-BE49-F238E27FC236}">
                <a16:creationId xmlns:a16="http://schemas.microsoft.com/office/drawing/2014/main" id="{10DBCB00-02B6-1A43-BEE9-2D73FA67014F}"/>
              </a:ext>
            </a:extLst>
          </p:cNvPr>
          <p:cNvSpPr txBox="1"/>
          <p:nvPr/>
        </p:nvSpPr>
        <p:spPr>
          <a:xfrm>
            <a:off x="838200" y="5520586"/>
            <a:ext cx="10515600" cy="658368"/>
          </a:xfrm>
          <a:prstGeom prst="rect">
            <a:avLst/>
          </a:prstGeom>
          <a:noFill/>
        </p:spPr>
        <p:txBody>
          <a:bodyPr vertOverflow="overflow" vert="horz" wrap="square" rtlCol="0" anchor="t">
            <a:spAutoFit/>
          </a:bodyPr>
          <a:lstStyle/>
          <a:p>
            <a:pPr algn="ctr"/>
            <a:r>
              <a:rPr lang="en-US" sz="2800" b="1" dirty="0">
                <a:solidFill>
                  <a:srgbClr val="700C2F"/>
                </a:solidFill>
              </a:rPr>
              <a:t>27.8% </a:t>
            </a:r>
            <a:r>
              <a:rPr lang="en-US" sz="1800" b="1" dirty="0">
                <a:solidFill>
                  <a:srgbClr val="0E2841"/>
                </a:solidFill>
              </a:rPr>
              <a:t>acceptance rate is a signal to retrain, not a reason to deploy.</a:t>
            </a:r>
          </a:p>
        </p:txBody>
      </p:sp>
    </p:spTree>
    <p:extLst>
      <p:ext uri="{BB962C8B-B14F-4D97-AF65-F5344CB8AC3E}">
        <p14:creationId xmlns:p14="http://schemas.microsoft.com/office/powerpoint/2010/main" val="2380353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i="1" dirty="0"/>
              <a:t>What this study holds fixed</a:t>
            </a:r>
          </a:p>
        </p:txBody>
      </p:sp>
      <p:sp>
        <p:nvSpPr>
          <p:cNvPr id="3" name="TextBox 2"/>
          <p:cNvSpPr txBox="1"/>
          <p:nvPr/>
        </p:nvSpPr>
        <p:spPr>
          <a:xfrm>
            <a:off x="841248" y="1783080"/>
            <a:ext cx="10515600" cy="2113399"/>
          </a:xfrm>
          <a:prstGeom prst="rect">
            <a:avLst/>
          </a:prstGeom>
          <a:noFill/>
        </p:spPr>
        <p:txBody>
          <a:bodyPr wrap="square">
            <a:spAutoFit/>
          </a:bodyPr>
          <a:lstStyle/>
          <a:p>
            <a:pPr algn="l">
              <a:spcAft>
                <a:spcPts val="1400"/>
              </a:spcAft>
            </a:pPr>
            <a:r>
              <a:rPr sz="1800" b="1" dirty="0">
                <a:solidFill>
                  <a:srgbClr val="700C2F"/>
                </a:solidFill>
              </a:rPr>
              <a:t>One frozen model. </a:t>
            </a:r>
            <a:r>
              <a:rPr sz="1800" b="0" dirty="0">
                <a:solidFill>
                  <a:srgbClr val="0E2841"/>
                </a:solidFill>
              </a:rPr>
              <a:t>A single temporally trained model per family, with no periodic retraining. We measure decay; we do not repair it.</a:t>
            </a:r>
          </a:p>
          <a:p>
            <a:pPr algn="l">
              <a:spcAft>
                <a:spcPts val="1400"/>
              </a:spcAft>
            </a:pPr>
            <a:r>
              <a:rPr sz="1800" b="1" dirty="0">
                <a:solidFill>
                  <a:srgbClr val="700C2F"/>
                </a:solidFill>
              </a:rPr>
              <a:t>Retrospective only. </a:t>
            </a:r>
            <a:r>
              <a:rPr sz="1800" b="0" dirty="0">
                <a:solidFill>
                  <a:srgbClr val="0E2841"/>
                </a:solidFill>
              </a:rPr>
              <a:t>No scheduler integration, no queue dynamics, no simulated scheduling. No claims about turnaround time or system throughput.</a:t>
            </a:r>
          </a:p>
          <a:p>
            <a:pPr algn="l">
              <a:spcAft>
                <a:spcPts val="1400"/>
              </a:spcAft>
            </a:pPr>
            <a:r>
              <a:rPr sz="1800" b="1" dirty="0">
                <a:solidFill>
                  <a:srgbClr val="700C2F"/>
                </a:solidFill>
              </a:rPr>
              <a:t>One application. </a:t>
            </a:r>
            <a:r>
              <a:rPr sz="1800" b="0" dirty="0">
                <a:solidFill>
                  <a:srgbClr val="0E2841"/>
                </a:solidFill>
              </a:rPr>
              <a:t>Every job is an UltraScan analysis. Nothing here establishes that the same configuration-to-behavior drift in other workloads.</a:t>
            </a:r>
          </a:p>
        </p:txBody>
      </p:sp>
    </p:spTree>
    <p:extLst>
      <p:ext uri="{BB962C8B-B14F-4D97-AF65-F5344CB8AC3E}">
        <p14:creationId xmlns:p14="http://schemas.microsoft.com/office/powerpoint/2010/main" val="1849728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8688"/>
            <a:ext cx="10515600" cy="968202"/>
          </a:xfrm>
        </p:spPr>
        <p:txBody>
          <a:bodyPr anchor="ctr">
            <a:normAutofit/>
          </a:bodyPr>
          <a:lstStyle/>
          <a:p>
            <a:pPr algn="l">
              <a:buNone/>
            </a:pPr>
            <a:r>
              <a:rPr lang="en-US" i="1" dirty="0"/>
              <a:t>Three questions answered, one thing to watch</a:t>
            </a:r>
          </a:p>
        </p:txBody>
      </p:sp>
      <p:sp>
        <p:nvSpPr>
          <p:cNvPr id="1402" name="Rule 1"/>
          <p:cNvSpPr txBox="1"/>
          <p:nvPr/>
        </p:nvSpPr>
        <p:spPr>
          <a:xfrm>
            <a:off x="838200" y="1803400"/>
            <a:ext cx="558800" cy="38100"/>
          </a:xfrm>
          <a:prstGeom prst="rect">
            <a:avLst/>
          </a:prstGeom>
          <a:solidFill>
            <a:srgbClr val="8C6B33"/>
          </a:solidFill>
          <a:ln>
            <a:noFill/>
          </a:ln>
        </p:spPr>
        <p:txBody>
          <a:bodyPr wrap="square" lIns="0" tIns="25400" rIns="0" bIns="25400" anchor="t">
            <a:normAutofit fontScale="25000" lnSpcReduction="20000"/>
          </a:bodyPr>
          <a:lstStyle/>
          <a:p>
            <a:endParaRPr/>
          </a:p>
        </p:txBody>
      </p:sp>
      <p:sp>
        <p:nvSpPr>
          <p:cNvPr id="1403" name="Label 1"/>
          <p:cNvSpPr txBox="1"/>
          <p:nvPr/>
        </p:nvSpPr>
        <p:spPr>
          <a:xfrm>
            <a:off x="838200" y="1955800"/>
            <a:ext cx="3302000" cy="228600"/>
          </a:xfrm>
          <a:prstGeom prst="rect">
            <a:avLst/>
          </a:prstGeom>
          <a:noFill/>
          <a:ln>
            <a:noFill/>
          </a:ln>
        </p:spPr>
        <p:txBody>
          <a:bodyPr wrap="square" lIns="0" tIns="25400" rIns="0" bIns="25400" anchor="t">
            <a:normAutofit fontScale="92500" lnSpcReduction="20000"/>
          </a:bodyPr>
          <a:lstStyle/>
          <a:p>
            <a:pPr algn="l">
              <a:buNone/>
            </a:pPr>
            <a:r>
              <a:rPr lang="en-US" sz="1400" b="1" dirty="0">
                <a:solidFill>
                  <a:srgbClr val="8C6B33"/>
                </a:solidFill>
              </a:rPr>
              <a:t>Q1 · RECORD-ORDER SPLITS</a:t>
            </a:r>
          </a:p>
        </p:txBody>
      </p:sp>
      <p:sp>
        <p:nvSpPr>
          <p:cNvPr id="1404" name="Q 1"/>
          <p:cNvSpPr txBox="1"/>
          <p:nvPr/>
        </p:nvSpPr>
        <p:spPr>
          <a:xfrm>
            <a:off x="838200" y="2235200"/>
            <a:ext cx="3302000" cy="558800"/>
          </a:xfrm>
          <a:prstGeom prst="rect">
            <a:avLst/>
          </a:prstGeom>
          <a:noFill/>
          <a:ln>
            <a:noFill/>
          </a:ln>
        </p:spPr>
        <p:txBody>
          <a:bodyPr wrap="square" lIns="0" tIns="25400" rIns="0" bIns="25400" anchor="t">
            <a:normAutofit/>
          </a:bodyPr>
          <a:lstStyle/>
          <a:p>
            <a:pPr algn="l">
              <a:buNone/>
            </a:pPr>
            <a:r>
              <a:rPr lang="en-US" sz="1600" b="1" i="1" dirty="0">
                <a:solidFill>
                  <a:srgbClr val="0E2841"/>
                </a:solidFill>
              </a:rPr>
              <a:t>Does it hold under temporal ordering?</a:t>
            </a:r>
          </a:p>
        </p:txBody>
      </p:sp>
      <p:sp>
        <p:nvSpPr>
          <p:cNvPr id="1405" name="A 1"/>
          <p:cNvSpPr txBox="1"/>
          <p:nvPr/>
        </p:nvSpPr>
        <p:spPr>
          <a:xfrm>
            <a:off x="838200" y="2870200"/>
            <a:ext cx="3302000" cy="1016000"/>
          </a:xfrm>
          <a:prstGeom prst="rect">
            <a:avLst/>
          </a:prstGeom>
          <a:noFill/>
          <a:ln>
            <a:noFill/>
          </a:ln>
        </p:spPr>
        <p:txBody>
          <a:bodyPr wrap="square" lIns="0" tIns="25400" rIns="0" bIns="25400" anchor="t">
            <a:normAutofit/>
          </a:bodyPr>
          <a:lstStyle/>
          <a:p>
            <a:pPr algn="l">
              <a:buNone/>
            </a:pPr>
            <a:r>
              <a:rPr lang="en-US" sz="1400" dirty="0">
                <a:solidFill>
                  <a:srgbClr val="4E5257"/>
                </a:solidFill>
              </a:rPr>
              <a:t>No — temporal MAE is lower for every family and both targets. That is a change in test-set composition, not a better model.</a:t>
            </a:r>
          </a:p>
        </p:txBody>
      </p:sp>
      <p:sp>
        <p:nvSpPr>
          <p:cNvPr id="1406" name="Rule 2"/>
          <p:cNvSpPr txBox="1"/>
          <p:nvPr/>
        </p:nvSpPr>
        <p:spPr>
          <a:xfrm>
            <a:off x="4445000" y="1803400"/>
            <a:ext cx="558800" cy="38100"/>
          </a:xfrm>
          <a:prstGeom prst="rect">
            <a:avLst/>
          </a:prstGeom>
          <a:solidFill>
            <a:srgbClr val="8C6B33"/>
          </a:solidFill>
          <a:ln>
            <a:noFill/>
          </a:ln>
        </p:spPr>
        <p:txBody>
          <a:bodyPr wrap="square" lIns="0" tIns="25400" rIns="0" bIns="25400" anchor="t">
            <a:normAutofit fontScale="25000" lnSpcReduction="20000"/>
          </a:bodyPr>
          <a:lstStyle/>
          <a:p>
            <a:endParaRPr/>
          </a:p>
        </p:txBody>
      </p:sp>
      <p:sp>
        <p:nvSpPr>
          <p:cNvPr id="1407" name="Label 2"/>
          <p:cNvSpPr txBox="1"/>
          <p:nvPr/>
        </p:nvSpPr>
        <p:spPr>
          <a:xfrm>
            <a:off x="4445000" y="1955800"/>
            <a:ext cx="3302000" cy="228600"/>
          </a:xfrm>
          <a:prstGeom prst="rect">
            <a:avLst/>
          </a:prstGeom>
          <a:noFill/>
          <a:ln>
            <a:noFill/>
          </a:ln>
        </p:spPr>
        <p:txBody>
          <a:bodyPr wrap="square" lIns="0" tIns="25400" rIns="0" bIns="25400" anchor="t">
            <a:normAutofit fontScale="92500" lnSpcReduction="20000"/>
          </a:bodyPr>
          <a:lstStyle/>
          <a:p>
            <a:pPr algn="l">
              <a:buNone/>
            </a:pPr>
            <a:r>
              <a:rPr lang="en-US" sz="1400" b="1" dirty="0">
                <a:solidFill>
                  <a:srgbClr val="8C6B33"/>
                </a:solidFill>
              </a:rPr>
              <a:t>Q2 · CPUTIME-ONLY PREDICTION</a:t>
            </a:r>
          </a:p>
        </p:txBody>
      </p:sp>
      <p:sp>
        <p:nvSpPr>
          <p:cNvPr id="1408" name="Q 2"/>
          <p:cNvSpPr txBox="1"/>
          <p:nvPr/>
        </p:nvSpPr>
        <p:spPr>
          <a:xfrm>
            <a:off x="4445000" y="2235200"/>
            <a:ext cx="3302000" cy="558800"/>
          </a:xfrm>
          <a:prstGeom prst="rect">
            <a:avLst/>
          </a:prstGeom>
          <a:noFill/>
          <a:ln>
            <a:noFill/>
          </a:ln>
        </p:spPr>
        <p:txBody>
          <a:bodyPr wrap="square" lIns="0" tIns="25400" rIns="0" bIns="25400" anchor="t">
            <a:normAutofit/>
          </a:bodyPr>
          <a:lstStyle/>
          <a:p>
            <a:pPr algn="l">
              <a:buNone/>
            </a:pPr>
            <a:r>
              <a:rPr lang="en-US" sz="1600" b="1" i="1" dirty="0">
                <a:solidFill>
                  <a:srgbClr val="0E2841"/>
                </a:solidFill>
              </a:rPr>
              <a:t>Does memory behave the same way?</a:t>
            </a:r>
          </a:p>
        </p:txBody>
      </p:sp>
      <p:sp>
        <p:nvSpPr>
          <p:cNvPr id="1409" name="A 2"/>
          <p:cNvSpPr txBox="1"/>
          <p:nvPr/>
        </p:nvSpPr>
        <p:spPr>
          <a:xfrm>
            <a:off x="4445000" y="2870200"/>
            <a:ext cx="3302000" cy="1016000"/>
          </a:xfrm>
          <a:prstGeom prst="rect">
            <a:avLst/>
          </a:prstGeom>
          <a:noFill/>
          <a:ln>
            <a:noFill/>
          </a:ln>
        </p:spPr>
        <p:txBody>
          <a:bodyPr wrap="square" lIns="0" tIns="25400" rIns="0" bIns="25400" anchor="t">
            <a:normAutofit/>
          </a:bodyPr>
          <a:lstStyle/>
          <a:p>
            <a:pPr algn="l">
              <a:buNone/>
            </a:pPr>
            <a:r>
              <a:rPr lang="en-US" sz="1400" dirty="0">
                <a:solidFill>
                  <a:srgbClr val="4E5257"/>
                </a:solidFill>
              </a:rPr>
              <a:t>No — memory follows algorithmic structure and data size, known at submission. Runtime follows environmental noise, which is not.</a:t>
            </a:r>
          </a:p>
        </p:txBody>
      </p:sp>
      <p:sp>
        <p:nvSpPr>
          <p:cNvPr id="1410" name="Rule 3"/>
          <p:cNvSpPr txBox="1"/>
          <p:nvPr/>
        </p:nvSpPr>
        <p:spPr>
          <a:xfrm>
            <a:off x="8051800" y="1803400"/>
            <a:ext cx="558800" cy="38100"/>
          </a:xfrm>
          <a:prstGeom prst="rect">
            <a:avLst/>
          </a:prstGeom>
          <a:solidFill>
            <a:srgbClr val="8C6B33"/>
          </a:solidFill>
          <a:ln>
            <a:noFill/>
          </a:ln>
        </p:spPr>
        <p:txBody>
          <a:bodyPr wrap="square" lIns="0" tIns="25400" rIns="0" bIns="25400" anchor="t">
            <a:normAutofit fontScale="25000" lnSpcReduction="20000"/>
          </a:bodyPr>
          <a:lstStyle/>
          <a:p>
            <a:endParaRPr/>
          </a:p>
        </p:txBody>
      </p:sp>
      <p:sp>
        <p:nvSpPr>
          <p:cNvPr id="1411" name="Label 3"/>
          <p:cNvSpPr txBox="1"/>
          <p:nvPr/>
        </p:nvSpPr>
        <p:spPr>
          <a:xfrm>
            <a:off x="8051800" y="1955800"/>
            <a:ext cx="3302000" cy="228600"/>
          </a:xfrm>
          <a:prstGeom prst="rect">
            <a:avLst/>
          </a:prstGeom>
          <a:noFill/>
          <a:ln>
            <a:noFill/>
          </a:ln>
        </p:spPr>
        <p:txBody>
          <a:bodyPr wrap="square" lIns="0" tIns="25400" rIns="0" bIns="25400" anchor="t">
            <a:normAutofit fontScale="92500" lnSpcReduction="20000"/>
          </a:bodyPr>
          <a:lstStyle/>
          <a:p>
            <a:pPr algn="l">
              <a:buNone/>
            </a:pPr>
            <a:r>
              <a:rPr lang="en-US" sz="1400" b="1" dirty="0">
                <a:solidFill>
                  <a:srgbClr val="8C6B33"/>
                </a:solidFill>
              </a:rPr>
              <a:t>Q3 · Z-SCORE FILTERING</a:t>
            </a:r>
          </a:p>
        </p:txBody>
      </p:sp>
      <p:sp>
        <p:nvSpPr>
          <p:cNvPr id="1412" name="Q 3"/>
          <p:cNvSpPr txBox="1"/>
          <p:nvPr/>
        </p:nvSpPr>
        <p:spPr>
          <a:xfrm>
            <a:off x="8051800" y="2235200"/>
            <a:ext cx="3302000" cy="558800"/>
          </a:xfrm>
          <a:prstGeom prst="rect">
            <a:avLst/>
          </a:prstGeom>
          <a:noFill/>
          <a:ln>
            <a:noFill/>
          </a:ln>
        </p:spPr>
        <p:txBody>
          <a:bodyPr wrap="square" lIns="0" tIns="25400" rIns="0" bIns="25400" anchor="t">
            <a:normAutofit/>
          </a:bodyPr>
          <a:lstStyle/>
          <a:p>
            <a:pPr algn="l">
              <a:buNone/>
            </a:pPr>
            <a:r>
              <a:rPr lang="en-US" sz="1600" b="1" i="1" dirty="0">
                <a:solidFill>
                  <a:srgbClr val="0E2841"/>
                </a:solidFill>
              </a:rPr>
              <a:t>Does it survive temporal drift?</a:t>
            </a:r>
          </a:p>
        </p:txBody>
      </p:sp>
      <p:sp>
        <p:nvSpPr>
          <p:cNvPr id="1413" name="A 3"/>
          <p:cNvSpPr txBox="1"/>
          <p:nvPr/>
        </p:nvSpPr>
        <p:spPr>
          <a:xfrm>
            <a:off x="8051800" y="2870200"/>
            <a:ext cx="3302000" cy="1016000"/>
          </a:xfrm>
          <a:prstGeom prst="rect">
            <a:avLst/>
          </a:prstGeom>
          <a:noFill/>
          <a:ln>
            <a:noFill/>
          </a:ln>
        </p:spPr>
        <p:txBody>
          <a:bodyPr wrap="square" lIns="0" tIns="25400" rIns="0" bIns="25400" anchor="t">
            <a:normAutofit/>
          </a:bodyPr>
          <a:lstStyle/>
          <a:p>
            <a:pPr algn="l">
              <a:buNone/>
            </a:pPr>
            <a:r>
              <a:rPr lang="en-US" sz="1400" dirty="0">
                <a:solidFill>
                  <a:srgbClr val="4E5257"/>
                </a:solidFill>
              </a:rPr>
              <a:t>No — “accepted” stopped meaning “trustworthy.” 2DSA still passed 27.8% of jobs, but only 83.9% were covered and the buffer needed 4× its calibration.</a:t>
            </a:r>
          </a:p>
        </p:txBody>
      </p:sp>
      <p:sp>
        <p:nvSpPr>
          <p:cNvPr id="1414" name="Hero Band"/>
          <p:cNvSpPr txBox="1"/>
          <p:nvPr/>
        </p:nvSpPr>
        <p:spPr>
          <a:xfrm>
            <a:off x="838200" y="4191000"/>
            <a:ext cx="10515600" cy="1320800"/>
          </a:xfrm>
          <a:prstGeom prst="rect">
            <a:avLst/>
          </a:prstGeom>
          <a:solidFill>
            <a:srgbClr val="F7F4EE"/>
          </a:solidFill>
          <a:ln>
            <a:noFill/>
          </a:ln>
        </p:spPr>
        <p:txBody>
          <a:bodyPr wrap="square" lIns="0" tIns="25400" rIns="0" bIns="25400" anchor="ctr">
            <a:normAutofit/>
          </a:bodyPr>
          <a:lstStyle/>
          <a:p>
            <a:endParaRPr/>
          </a:p>
        </p:txBody>
      </p:sp>
      <p:sp>
        <p:nvSpPr>
          <p:cNvPr id="1415" name="Hero Accent"/>
          <p:cNvSpPr txBox="1"/>
          <p:nvPr/>
        </p:nvSpPr>
        <p:spPr>
          <a:xfrm>
            <a:off x="838200" y="4191000"/>
            <a:ext cx="76200" cy="1320800"/>
          </a:xfrm>
          <a:prstGeom prst="rect">
            <a:avLst/>
          </a:prstGeom>
          <a:solidFill>
            <a:srgbClr val="8C6B33"/>
          </a:solidFill>
          <a:ln>
            <a:noFill/>
          </a:ln>
        </p:spPr>
        <p:txBody>
          <a:bodyPr wrap="square" lIns="0" tIns="25400" rIns="0" bIns="25400" anchor="ctr">
            <a:normAutofit/>
          </a:bodyPr>
          <a:lstStyle/>
          <a:p>
            <a:endParaRPr/>
          </a:p>
        </p:txBody>
      </p:sp>
      <p:sp>
        <p:nvSpPr>
          <p:cNvPr id="1416" name="Hero Question"/>
          <p:cNvSpPr txBox="1"/>
          <p:nvPr/>
        </p:nvSpPr>
        <p:spPr>
          <a:xfrm>
            <a:off x="1397000" y="4470400"/>
            <a:ext cx="9398000" cy="965200"/>
          </a:xfrm>
          <a:prstGeom prst="rect">
            <a:avLst/>
          </a:prstGeom>
          <a:noFill/>
          <a:ln>
            <a:noFill/>
          </a:ln>
        </p:spPr>
        <p:txBody>
          <a:bodyPr wrap="square" lIns="0" tIns="25400" rIns="0" bIns="25400" anchor="ctr">
            <a:normAutofit/>
          </a:bodyPr>
          <a:lstStyle/>
          <a:p>
            <a:pPr algn="ctr">
              <a:buNone/>
            </a:pPr>
            <a:r>
              <a:rPr lang="en-US" sz="2200" dirty="0">
                <a:solidFill>
                  <a:srgbClr val="0E2841"/>
                </a:solidFill>
              </a:rPr>
              <a:t>Error said the model improved.</a:t>
            </a:r>
          </a:p>
          <a:p>
            <a:pPr algn="ctr">
              <a:buNone/>
            </a:pPr>
            <a:r>
              <a:rPr lang="en-US" sz="2800" b="1" dirty="0">
                <a:solidFill>
                  <a:srgbClr val="0E2841"/>
                </a:solidFill>
              </a:rPr>
              <a:t>Acceptance said it had stopped working.</a:t>
            </a:r>
          </a:p>
        </p:txBody>
      </p:sp>
    </p:spTree>
    <p:extLst>
      <p:ext uri="{BB962C8B-B14F-4D97-AF65-F5344CB8AC3E}">
        <p14:creationId xmlns:p14="http://schemas.microsoft.com/office/powerpoint/2010/main" val="4239509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E3AD-0272-0CD4-BCF9-18FFEE5EE6D7}"/>
              </a:ext>
            </a:extLst>
          </p:cNvPr>
          <p:cNvSpPr>
            <a:spLocks noGrp="1"/>
          </p:cNvSpPr>
          <p:nvPr>
            <p:ph type="title"/>
          </p:nvPr>
        </p:nvSpPr>
        <p:spPr>
          <a:xfrm>
            <a:off x="838200" y="365125"/>
            <a:ext cx="10515600" cy="1325563"/>
          </a:xfrm>
        </p:spPr>
        <p:txBody>
          <a:bodyPr anchor="ctr">
            <a:normAutofit/>
          </a:bodyPr>
          <a:lstStyle/>
          <a:p>
            <a:r>
              <a:rPr lang="en-US" i="1" dirty="0"/>
              <a:t>Acknowledgments/Repo</a:t>
            </a:r>
            <a:endParaRPr lang="en-US" dirty="0"/>
          </a:p>
        </p:txBody>
      </p:sp>
      <p:sp>
        <p:nvSpPr>
          <p:cNvPr id="3" name="Content Placeholder 2">
            <a:extLst>
              <a:ext uri="{FF2B5EF4-FFF2-40B4-BE49-F238E27FC236}">
                <a16:creationId xmlns:a16="http://schemas.microsoft.com/office/drawing/2014/main" id="{ADEF44BC-05F8-8095-055F-01E7677511A9}"/>
              </a:ext>
            </a:extLst>
          </p:cNvPr>
          <p:cNvSpPr>
            <a:spLocks noGrp="1"/>
          </p:cNvSpPr>
          <p:nvPr>
            <p:ph idx="1"/>
          </p:nvPr>
        </p:nvSpPr>
        <p:spPr>
          <a:xfrm>
            <a:off x="838200" y="1825625"/>
            <a:ext cx="10515600" cy="4351338"/>
          </a:xfrm>
        </p:spPr>
        <p:txBody>
          <a:bodyPr>
            <a:normAutofit/>
          </a:bodyPr>
          <a:lstStyle/>
          <a:p>
            <a:pPr marL="0" indent="0">
              <a:buNone/>
            </a:pPr>
            <a:r>
              <a:rPr lang="en-US" dirty="0"/>
              <a:t>Code: </a:t>
            </a:r>
            <a:r>
              <a:rPr lang="en-US" dirty="0" err="1"/>
              <a:t>github.com</a:t>
            </a:r>
            <a:r>
              <a:rPr lang="en-US" dirty="0"/>
              <a:t>/ehb54/</a:t>
            </a:r>
            <a:r>
              <a:rPr lang="en-US" dirty="0" err="1"/>
              <a:t>ustfpp</a:t>
            </a:r>
            <a:endParaRPr lang="en-US" dirty="0"/>
          </a:p>
          <a:p>
            <a:pPr marL="0" indent="0">
              <a:buNone/>
              <a:defRPr sz="1200"/>
            </a:pPr>
            <a:endParaRPr lang="en-US" dirty="0"/>
          </a:p>
          <a:p>
            <a:r>
              <a:rPr lang="en-US" dirty="0"/>
              <a:t>NIH (R01GM120600), NSF (DGE-2325452)</a:t>
            </a:r>
          </a:p>
          <a:p>
            <a:r>
              <a:rPr lang="en-US" dirty="0"/>
              <a:t>Jetstream2 via ACCESS (MCB070038; NSF #2138259, #2138286, #2138307, #2137603, #2138296)</a:t>
            </a:r>
          </a:p>
          <a:p>
            <a:r>
              <a:rPr lang="en-US" dirty="0"/>
              <a:t>Canadian Center for Hydrodynamics</a:t>
            </a:r>
          </a:p>
        </p:txBody>
      </p:sp>
    </p:spTree>
    <p:extLst>
      <p:ext uri="{BB962C8B-B14F-4D97-AF65-F5344CB8AC3E}">
        <p14:creationId xmlns:p14="http://schemas.microsoft.com/office/powerpoint/2010/main" val="3158227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Questions?</a:t>
            </a:r>
            <a:endParaRPr dirty="0"/>
          </a:p>
        </p:txBody>
      </p:sp>
      <p:graphicFrame>
        <p:nvGraphicFramePr>
          <p:cNvPr id="4" name="Table 3">
            <a:extLst>
              <a:ext uri="{FF2B5EF4-FFF2-40B4-BE49-F238E27FC236}">
                <a16:creationId xmlns:a16="http://schemas.microsoft.com/office/drawing/2014/main" id="{FBFEC89B-8243-BE6E-3308-C656B04BC4E3}"/>
              </a:ext>
            </a:extLst>
          </p:cNvPr>
          <p:cNvGraphicFramePr>
            <a:graphicFrameLocks noGrp="1"/>
          </p:cNvGraphicFramePr>
          <p:nvPr>
            <p:extLst>
              <p:ext uri="{D42A27DB-BD31-4B8C-83A1-F6EECF244321}">
                <p14:modId xmlns:p14="http://schemas.microsoft.com/office/powerpoint/2010/main" val="3103739316"/>
              </p:ext>
            </p:extLst>
          </p:nvPr>
        </p:nvGraphicFramePr>
        <p:xfrm>
          <a:off x="691486" y="3008376"/>
          <a:ext cx="10809027" cy="1480312"/>
        </p:xfrm>
        <a:graphic>
          <a:graphicData uri="http://schemas.openxmlformats.org/drawingml/2006/table">
            <a:tbl>
              <a:tblPr firstRow="1" bandRow="1">
                <a:tableStyleId>{2D5ABB26-0587-4C30-8999-92F81FD0307C}</a:tableStyleId>
              </a:tblPr>
              <a:tblGrid>
                <a:gridCol w="3603009">
                  <a:extLst>
                    <a:ext uri="{9D8B030D-6E8A-4147-A177-3AD203B41FA5}">
                      <a16:colId xmlns:a16="http://schemas.microsoft.com/office/drawing/2014/main" val="875063690"/>
                    </a:ext>
                  </a:extLst>
                </a:gridCol>
                <a:gridCol w="3603009">
                  <a:extLst>
                    <a:ext uri="{9D8B030D-6E8A-4147-A177-3AD203B41FA5}">
                      <a16:colId xmlns:a16="http://schemas.microsoft.com/office/drawing/2014/main" val="2144170420"/>
                    </a:ext>
                  </a:extLst>
                </a:gridCol>
                <a:gridCol w="3603009">
                  <a:extLst>
                    <a:ext uri="{9D8B030D-6E8A-4147-A177-3AD203B41FA5}">
                      <a16:colId xmlns:a16="http://schemas.microsoft.com/office/drawing/2014/main" val="4163518499"/>
                    </a:ext>
                  </a:extLst>
                </a:gridCol>
              </a:tblGrid>
              <a:tr h="1439239">
                <a:tc>
                  <a:txBody>
                    <a:bodyPr/>
                    <a:lstStyle/>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AARON L. HOUSEHOLDER</a:t>
                      </a:r>
                    </a:p>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University of Central Florida </a:t>
                      </a:r>
                      <a:r>
                        <a:rPr lang="en-US" sz="1800" kern="1200" dirty="0">
                          <a:solidFill>
                            <a:srgbClr val="000000"/>
                          </a:solidFill>
                          <a:effectLst/>
                          <a:latin typeface="Aptos" panose="020B0004020202020204" pitchFamily="34" charset="0"/>
                          <a:ea typeface="+mn-ea"/>
                          <a:cs typeface="+mn-cs"/>
                        </a:rPr>
                        <a:t>aaroncs@ucf.edu</a:t>
                      </a:r>
                    </a:p>
                    <a:p>
                      <a:endParaRPr lang="en-US" sz="1800" kern="1200" dirty="0">
                        <a:solidFill>
                          <a:srgbClr val="000000"/>
                        </a:solidFill>
                        <a:effectLst/>
                        <a:latin typeface="Aptos" panose="020B0004020202020204" pitchFamily="34" charset="0"/>
                        <a:ea typeface="+mn-ea"/>
                        <a:cs typeface="+mn-cs"/>
                      </a:endParaRPr>
                    </a:p>
                  </a:txBody>
                  <a:tcPr/>
                </a:tc>
                <a:tc>
                  <a:txBody>
                    <a:bodyPr/>
                    <a:lstStyle/>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CLIFF C. ZOU</a:t>
                      </a:r>
                    </a:p>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University of Central Florida </a:t>
                      </a:r>
                      <a:r>
                        <a:rPr lang="en-US" sz="1800" dirty="0" err="1">
                          <a:solidFill>
                            <a:srgbClr val="000000"/>
                          </a:solidFill>
                          <a:effectLst/>
                          <a:latin typeface="Aptos" panose="020B0004020202020204" pitchFamily="34" charset="0"/>
                        </a:rPr>
                        <a:t>changchun.zou@ucf.edu</a:t>
                      </a:r>
                      <a:endParaRPr lang="en-US" sz="1800" dirty="0">
                        <a:solidFill>
                          <a:srgbClr val="000000"/>
                        </a:solidFill>
                        <a:effectLst/>
                        <a:latin typeface="Aptos" panose="020B0004020202020204" pitchFamily="34" charset="0"/>
                      </a:endParaRPr>
                    </a:p>
                    <a:p>
                      <a:pPr algn="ctr"/>
                      <a:endParaRPr lang="en-US" dirty="0"/>
                    </a:p>
                  </a:txBody>
                  <a:tcPr/>
                </a:tc>
                <a:tc>
                  <a:txBody>
                    <a:bodyPr/>
                    <a:lstStyle/>
                    <a:p>
                      <a:pPr marL="0" indent="0" algn="ctr" rtl="0" eaLnBrk="1" latinLnBrk="0" hangingPunct="1">
                        <a:lnSpc>
                          <a:spcPct val="120000"/>
                        </a:lnSpc>
                        <a:spcBef>
                          <a:spcPts val="1000"/>
                        </a:spcBef>
                        <a:buNone/>
                      </a:pPr>
                      <a:r>
                        <a:rPr lang="en-US" sz="1800" dirty="0">
                          <a:solidFill>
                            <a:srgbClr val="000000"/>
                          </a:solidFill>
                          <a:effectLst/>
                          <a:latin typeface="Aptos" panose="020B0004020202020204" pitchFamily="34" charset="0"/>
                        </a:rPr>
                        <a:t>EMRE H. BROOKES</a:t>
                      </a:r>
                    </a:p>
                    <a:p>
                      <a:pPr marL="0" indent="0" algn="ctr" defTabSz="914400" rtl="0" eaLnBrk="1" latinLnBrk="0" hangingPunct="1">
                        <a:lnSpc>
                          <a:spcPct val="120000"/>
                        </a:lnSpc>
                        <a:spcBef>
                          <a:spcPts val="1000"/>
                        </a:spcBef>
                        <a:buNone/>
                      </a:pPr>
                      <a:r>
                        <a:rPr lang="en-US" sz="1800" kern="1200" dirty="0">
                          <a:solidFill>
                            <a:srgbClr val="000000"/>
                          </a:solidFill>
                          <a:effectLst/>
                          <a:latin typeface="Aptos" panose="020B0004020202020204" pitchFamily="34" charset="0"/>
                          <a:ea typeface="+mn-ea"/>
                          <a:cs typeface="+mn-cs"/>
                        </a:rPr>
                        <a:t>University of Montana emre.brookes@umontana.edu</a:t>
                      </a:r>
                    </a:p>
                    <a:p>
                      <a:pPr algn="ctr"/>
                      <a:endParaRPr lang="en-US" dirty="0"/>
                    </a:p>
                  </a:txBody>
                  <a:tcPr/>
                </a:tc>
                <a:extLst>
                  <a:ext uri="{0D108BD9-81ED-4DB2-BD59-A6C34878D82A}">
                    <a16:rowId xmlns:a16="http://schemas.microsoft.com/office/drawing/2014/main" val="370880832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E2841"/>
      </a:dk2>
      <a:lt2>
        <a:srgbClr val="E8E8E8"/>
      </a:lt2>
      <a:accent1>
        <a:srgbClr val="700C2F"/>
      </a:accent1>
      <a:accent2>
        <a:srgbClr val="B9965B"/>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D1C8F1-B0F2-764A-A818-12A122ABFA1C}">
  <we:reference id="wa200010725" version="1.0.0.1" store="en-US" storeType="OMEX"/>
  <we:alternateReferences>
    <we:reference id="WA200010725" version="1.0.0.1" store="WA200010725" storeType="OMEX"/>
  </we:alternateReferences>
  <we:properties>
    <we:property name="claude.fileId" value="&quot;63c7d9a8-2f08-4503-aff4-23afb237e05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6182</TotalTime>
  <Words>4399</Words>
  <Application>Microsoft Macintosh PowerPoint</Application>
  <PresentationFormat>Widescreen</PresentationFormat>
  <Paragraphs>250</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Evaluating Deep Learning–Based Performance Prediction for UltraScan Workflows Under Temporal and Observability Constraints</vt:lpstr>
      <vt:lpstr>Every HPC user faces this moment</vt:lpstr>
      <vt:lpstr>UltraScan</vt:lpstr>
      <vt:lpstr>Eleven years of jobs, using only what’s known at submission</vt:lpstr>
      <vt:lpstr>Prior work left three questions open</vt:lpstr>
      <vt:lpstr>Temporal ordering</vt:lpstr>
      <vt:lpstr>Memory and runtime behave very differently</vt:lpstr>
      <vt:lpstr>Is runtime equally hard to predict for every job?</vt:lpstr>
      <vt:lpstr>Surprise! 2DSA CPUTime error drops</vt:lpstr>
      <vt:lpstr>One cluster explains almost all of it</vt:lpstr>
      <vt:lpstr>The neural network stopped being the story</vt:lpstr>
      <vt:lpstr>The trust gate: turning Z-score into an accept-or-withhold rule</vt:lpstr>
      <vt:lpstr>Same trust gate, three very different outcomes</vt:lpstr>
      <vt:lpstr>Same gate, same jobs for memory</vt:lpstr>
      <vt:lpstr>DL Prediction as advisory context, not controller</vt:lpstr>
      <vt:lpstr>What this study holds fixed</vt:lpstr>
      <vt:lpstr>Three questions answered, one thing to watch</vt:lpstr>
      <vt:lpstr>Acknowledgments/Repo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Householder</dc:creator>
  <cp:lastModifiedBy>Aaron Householder</cp:lastModifiedBy>
  <cp:revision>25</cp:revision>
  <dcterms:created xsi:type="dcterms:W3CDTF">2025-04-27T22:33:49Z</dcterms:created>
  <dcterms:modified xsi:type="dcterms:W3CDTF">2026-07-26T23:18:53Z</dcterms:modified>
</cp:coreProperties>
</file>